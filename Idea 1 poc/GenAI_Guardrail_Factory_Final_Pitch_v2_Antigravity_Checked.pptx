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20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5122D-9754-4F19-B80B-525AF0D08A8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63FAC-BA14-4B31-A6B4-8871C040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9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87A0-FE7E-A627-F6C8-FB5195F01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5AE57-2E1A-DF74-EE93-2F0C84E09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232AB-9C07-11C2-7B20-4DDEED63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2E0E-77DE-F96E-71D7-A2B6FA05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17E5B-CB54-15BA-C3AA-E96D709E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6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6E11-B006-3D7C-193D-47E25325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C3836-5533-3E96-3FA2-7B8165D4A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7A4F1-2AB0-0A45-AEE7-48563D76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F5085-9231-CAE7-5105-3E135C9F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E8E96-A0E9-0866-1F5C-00F0849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7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08D4-0A3C-E740-265C-83E0FAAE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02B2B-ED14-A6EF-2105-BA7181F4B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F4FEC-B427-078C-C622-8BB90FD9D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5D620-E8CB-B7DD-5A58-3BBF67EB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09283-0089-5856-C770-1D99E929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3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837A-CF06-0328-2110-2316CF5F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4F0DB-B413-AA5F-831D-880A8DBC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5C614-5889-7D72-5454-6A30DDC1F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41C31-2CC5-F6F2-91F6-BB48661B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C6B5A-6948-4079-FF03-4A90877C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7AE67-90F4-F93F-9DCE-E6A34327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8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1DCF-99BD-11B3-0E7C-E39D5E52D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A660C-D3EC-23BB-A900-19B783D9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77CB2-1A13-EE6B-20E8-507A8F612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53A69-1AC0-5C3A-7896-C0A62E655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638D3-F1D4-9B2F-EE43-654CC35EB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F5D4A-7DA9-E322-46F9-14948DFB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8AF76-9689-BD67-3E60-5C6E890C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724D2-135D-8AC1-11AB-31E9302C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9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6839-7E08-554C-D696-352F86EB1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6554B-88B3-FDDB-EB1F-C6A6189D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912FF-64A7-23BC-D07E-B3AFC5D4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B2AEA-C7EF-3CF2-3DF0-A2BFE56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2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41BE4-C3A0-F9F0-3F66-8C76773B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D565C-D3B2-19A9-0996-2CCC38BE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C24F2-0F2F-B223-D642-8BB0D1F9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4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5E57-7BA2-E8F4-6F13-A86BA78D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BACE-504D-D1FD-DB66-A27C5AFC2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08EE8-5A0E-3328-563A-D73243249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9AAB6-51B8-119D-673A-19D39E1D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13FC8-D8DC-E1A1-1FEA-9C67B050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ADBBF-9B28-057B-7DD3-BB46FDA3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2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B9AE-963C-4160-73BF-ADA272D1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CEB12-4A9D-0D30-A388-79A1A9E32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D8691-F98E-EC09-E460-99AC4D509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E593E-4D23-D2F5-71BF-1D507E1D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8EC60-F668-BE06-3EE2-E40489EA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71671-7DF6-2A9B-716C-5BD85DBD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1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E26A-202D-EE4A-66F6-1ACC157D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5E39F-868B-E577-5BD3-F4ADA827D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88EB4-2306-C100-CC4D-C3D14E7A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6DA71-6A53-671E-FAFD-6F28CF58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FB20-47EC-55EF-3175-1D721843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5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9958C-DE53-DF9A-772B-7E23DC7BC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318F7-C74A-05B1-5770-AAB7E45E9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7B38A-5D9F-1882-1333-C720FA8A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9E179-6B98-7314-85D2-A8795CCD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A5540-7577-7AB7-B409-3C5EC3F5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0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3545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5AA79-59FB-D77A-C5B2-18B4E311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C0213-843B-B21A-7B8C-C4365E226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E6B4B-F725-82CD-857B-03EE56F4E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961C6-9E35-4CA1-9FAC-A0028EDF9A4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0353D-28D1-649D-8E6F-54EB56066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57DDC-E692-8E12-B284-783692E26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0C5A5-C299-4C1C-A69C-AF0C2BD7E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4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548640" cy="17145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1714501"/>
            <a:ext cx="548640" cy="171450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3429001"/>
            <a:ext cx="548640" cy="171450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0" y="5143501"/>
            <a:ext cx="548640" cy="17145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219200" y="853440"/>
            <a:ext cx="1036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TCS^AI  GOOGLE HACKATHON 2026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1219200" y="140208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800" b="1"/>
              <a:t>GenAI Guardrail Factory</a:t>
            </a:r>
            <a:endParaRPr lang="en-US" sz="5333" dirty="0"/>
          </a:p>
        </p:txBody>
      </p:sp>
      <p:sp>
        <p:nvSpPr>
          <p:cNvPr id="8" name="Text 6"/>
          <p:cNvSpPr/>
          <p:nvPr/>
        </p:nvSpPr>
        <p:spPr>
          <a:xfrm>
            <a:off x="1219200" y="27432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/>
              <a:t>A CI/CD release gate that tests, scores, and auto-hardens GenAI apps before production.</a:t>
            </a:r>
            <a:endParaRPr lang="en-US" sz="2133" dirty="0"/>
          </a:p>
        </p:txBody>
      </p:sp>
      <p:sp>
        <p:nvSpPr>
          <p:cNvPr id="9" name="Shape 7"/>
          <p:cNvSpPr/>
          <p:nvPr/>
        </p:nvSpPr>
        <p:spPr>
          <a:xfrm>
            <a:off x="1219200" y="3718560"/>
            <a:ext cx="4389120" cy="548640"/>
          </a:xfrm>
          <a:prstGeom prst="roundRect">
            <a:avLst>
              <a:gd name="adj" fmla="val 17778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402080" y="3901440"/>
            <a:ext cx="182880" cy="1828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645920" y="3718560"/>
            <a:ext cx="390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700" b="1"/>
              <a:t>Track: Build with Vertex AI / Google ADK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1219200" y="451104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/>
              <a:t>Team: GenAI Guardrail Factory</a:t>
            </a:r>
            <a:endParaRPr lang="en-US" sz="1733" dirty="0"/>
          </a:p>
          <a:p>
            <a:r>
              <a:rPr sz="1600"/>
              <a:t>Members: Sana Iqbal (EID: 1213383)</a:t>
            </a:r>
          </a:p>
          <a:p>
            <a:r>
              <a:rPr sz="1600"/>
              <a:t>Presented to: Google  |  April 2026</a:t>
            </a:r>
          </a:p>
        </p:txBody>
      </p:sp>
      <p:sp>
        <p:nvSpPr>
          <p:cNvPr id="13" name="Text 11"/>
          <p:cNvSpPr/>
          <p:nvPr/>
        </p:nvSpPr>
        <p:spPr>
          <a:xfrm>
            <a:off x="1219200" y="621792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 ·  Cloud, AI and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4145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400" b="1"/>
              <a:t>What we'll cover — from problem to proof of execution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17576" y="2072640"/>
            <a:ext cx="3657600" cy="188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417576" y="2072640"/>
            <a:ext cx="365760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61416" y="231648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1416" y="286512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Track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661416" y="3291840"/>
            <a:ext cx="316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Who we are and why Track 2 fits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379976" y="2072640"/>
            <a:ext cx="3657600" cy="188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4379976" y="2072640"/>
            <a:ext cx="3657600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623816" y="231648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23816" y="286512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4623816" y="3291840"/>
            <a:ext cx="316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GenAI safety gap: untested releases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342376" y="2072640"/>
            <a:ext cx="3657600" cy="188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8342376" y="2072640"/>
            <a:ext cx="3657600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586216" y="231648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586216" y="286512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8586216" y="3291840"/>
            <a:ext cx="316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Guardrail Factory release gate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417576" y="4267200"/>
            <a:ext cx="3657600" cy="188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417576" y="4267200"/>
            <a:ext cx="3657600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61416" y="451104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61416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Solution in Evaluateion</a:t>
            </a:r>
          </a:p>
        </p:txBody>
      </p:sp>
      <p:sp>
        <p:nvSpPr>
          <p:cNvPr id="31" name="Text 29"/>
          <p:cNvSpPr/>
          <p:nvPr/>
        </p:nvSpPr>
        <p:spPr>
          <a:xfrm>
            <a:off x="661416" y="5486400"/>
            <a:ext cx="316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BLOCKED → DIAGNOSE → APPROVED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4379976" y="4267200"/>
            <a:ext cx="3657600" cy="188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4379976" y="4267200"/>
            <a:ext cx="365760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4623816" y="451104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4623816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Deployment</a:t>
            </a:r>
            <a:endParaRPr lang="en-US" sz="1867" dirty="0"/>
          </a:p>
        </p:txBody>
      </p:sp>
      <p:sp>
        <p:nvSpPr>
          <p:cNvPr id="36" name="Text 34"/>
          <p:cNvSpPr/>
          <p:nvPr/>
        </p:nvSpPr>
        <p:spPr>
          <a:xfrm>
            <a:off x="4623816" y="5486400"/>
            <a:ext cx="316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Google ADK + Cloud Run deployment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8342376" y="4267200"/>
            <a:ext cx="3657600" cy="188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8342376" y="4267200"/>
            <a:ext cx="3657600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8586216" y="451104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586216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Scale &amp; Impact</a:t>
            </a:r>
            <a:endParaRPr lang="en-US" sz="1867" dirty="0"/>
          </a:p>
        </p:txBody>
      </p:sp>
      <p:sp>
        <p:nvSpPr>
          <p:cNvPr id="41" name="Text 39"/>
          <p:cNvSpPr/>
          <p:nvPr/>
        </p:nvSpPr>
        <p:spPr>
          <a:xfrm>
            <a:off x="8586216" y="5486400"/>
            <a:ext cx="316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Guardrails, scale, impact, roadmap</a:t>
            </a:r>
            <a:endParaRPr lang="en-US" sz="1333" dirty="0"/>
          </a:p>
        </p:txBody>
      </p:sp>
      <p:sp>
        <p:nvSpPr>
          <p:cNvPr id="42" name="Shape 40"/>
          <p:cNvSpPr/>
          <p:nvPr/>
        </p:nvSpPr>
        <p:spPr>
          <a:xfrm>
            <a:off x="417576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TEAM &amp; TRACK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 and the track we chose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1036320" y="2133600"/>
            <a:ext cx="853440" cy="853440"/>
          </a:xfrm>
          <a:prstGeom prst="ellipse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36320" y="213360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787878"/>
                </a:solidFill>
              </a:rPr>
              <a:t>SI</a:t>
            </a:r>
            <a:endParaRPr lang="en-US" sz="1067" dirty="0"/>
          </a:p>
        </p:txBody>
      </p:sp>
      <p:sp>
        <p:nvSpPr>
          <p:cNvPr id="14" name="Text 12"/>
          <p:cNvSpPr/>
          <p:nvPr/>
        </p:nvSpPr>
        <p:spPr>
          <a:xfrm>
            <a:off x="609600" y="310896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2000" b="1"/>
              <a:t>Sana Iqbal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413760"/>
            <a:ext cx="170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/>
              <a:t>Employee ID: 1213383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2987040" y="2133600"/>
            <a:ext cx="853440" cy="853440"/>
          </a:xfrm>
          <a:prstGeom prst="ellipse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2987040" y="213360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787878"/>
                </a:solidFill>
              </a:rPr>
              <a:t>TCS</a:t>
            </a:r>
            <a:endParaRPr lang="en-US" sz="1067" dirty="0"/>
          </a:p>
        </p:txBody>
      </p:sp>
      <p:sp>
        <p:nvSpPr>
          <p:cNvPr id="18" name="Text 16"/>
          <p:cNvSpPr/>
          <p:nvPr/>
        </p:nvSpPr>
        <p:spPr>
          <a:xfrm>
            <a:off x="2560320" y="310896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700" b="1"/>
              <a:t>TCS^AI Hackathon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3413760"/>
            <a:ext cx="170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/>
              <a:t>Participant / Builder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937760" y="2133600"/>
            <a:ext cx="853440" cy="853440"/>
          </a:xfrm>
          <a:prstGeom prst="ellipse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937760" y="213360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900" b="1">
                <a:solidFill>
                  <a:srgbClr val="787878"/>
                </a:solidFill>
              </a:rPr>
              <a:t>ADK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4511040" y="310896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500" b="1"/>
              <a:t>GenAI Guardrail Factory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1040" y="3413760"/>
            <a:ext cx="170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/>
              <a:t>Use Case: AI Safety Release Gate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6461760" y="2072640"/>
            <a:ext cx="0" cy="402336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827520" y="213360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TRACK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6827520" y="249936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000" b="1"/>
              <a:t>Build with Vertex AI</a:t>
            </a:r>
            <a:endParaRPr lang="en-US" sz="2933" dirty="0"/>
          </a:p>
        </p:txBody>
      </p:sp>
      <p:sp>
        <p:nvSpPr>
          <p:cNvPr id="27" name="Text 25"/>
          <p:cNvSpPr/>
          <p:nvPr/>
        </p:nvSpPr>
        <p:spPr>
          <a:xfrm>
            <a:off x="6827520" y="304800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Google ADK + Gemini 2.5 Flash + Vertex AI Evaluation pattern + Cloud Run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6827520" y="384048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IT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6827520" y="4206240"/>
            <a:ext cx="4876800" cy="1889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sz="1600"/>
              <a:t>• Track 2 matches an agentic evaluation + tool-calling solution</a:t>
            </a:r>
            <a:endParaRPr lang="en-US" sz="1600" dirty="0"/>
          </a:p>
          <a:p>
            <a:r>
              <a:rPr sz="1600"/>
              <a:t>• Gemini generates adversarial tests and remediation logic</a:t>
            </a:r>
          </a:p>
          <a:p>
            <a:r>
              <a:rPr sz="1600"/>
              <a:t>• Cloud Run deployment makes the safety gate reusable across TCS GenAI apps</a:t>
            </a:r>
          </a:p>
        </p:txBody>
      </p:sp>
      <p:sp>
        <p:nvSpPr>
          <p:cNvPr id="30" name="Shape 28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PROBLEM  (Problem Fit · 20%)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bottleneck we set out to solve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133600"/>
            <a:ext cx="53035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2133600"/>
            <a:ext cx="5303520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/>
              <a:t>AI Risk Leaders · CISOs · GenAI Delivery Teams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3413760"/>
            <a:ext cx="4876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GenAI apps are shipping faster than their safety testing. Manual reviews miss hallucinations, PII leakage, jailbreaks, and unauthorized actions — with no deterministic deploy/block gate before production.</a:t>
            </a:r>
          </a:p>
        </p:txBody>
      </p:sp>
      <p:sp>
        <p:nvSpPr>
          <p:cNvPr id="17" name="Shape 15"/>
          <p:cNvSpPr/>
          <p:nvPr/>
        </p:nvSpPr>
        <p:spPr>
          <a:xfrm>
            <a:off x="6278880" y="2133600"/>
            <a:ext cx="5303520" cy="1255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6278880" y="2133600"/>
            <a:ext cx="530352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522720" y="2279904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800" b="1">
                <a:solidFill>
                  <a:srgbClr val="3B82F6"/>
                </a:solidFill>
              </a:rPr>
              <a:t>91%</a:t>
            </a:r>
            <a:endParaRPr lang="en-US" sz="3733" dirty="0"/>
          </a:p>
        </p:txBody>
      </p:sp>
      <p:sp>
        <p:nvSpPr>
          <p:cNvPr id="20" name="Text 18"/>
          <p:cNvSpPr/>
          <p:nvPr/>
        </p:nvSpPr>
        <p:spPr>
          <a:xfrm>
            <a:off x="8778240" y="2279904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enterprises deploying GenAI without formal safety gates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278880" y="3511296"/>
            <a:ext cx="5303520" cy="1255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278880" y="3511296"/>
            <a:ext cx="5303520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522720" y="3657600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400" b="1">
                <a:solidFill>
                  <a:srgbClr val="EF4444"/>
                </a:solidFill>
              </a:rPr>
              <a:t>₹4.5Cr</a:t>
            </a:r>
            <a:endParaRPr lang="en-US" sz="3733" dirty="0"/>
          </a:p>
        </p:txBody>
      </p:sp>
      <p:sp>
        <p:nvSpPr>
          <p:cNvPr id="24" name="Text 22"/>
          <p:cNvSpPr/>
          <p:nvPr/>
        </p:nvSpPr>
        <p:spPr>
          <a:xfrm>
            <a:off x="8778240" y="3657600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average GenAI-caused data breach cost avoided per incident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278880" y="4888992"/>
            <a:ext cx="5303520" cy="1255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6278880" y="4888992"/>
            <a:ext cx="5303520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522720" y="5035296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400" b="1">
                <a:solidFill>
                  <a:srgbClr val="22C55E"/>
                </a:solidFill>
              </a:rPr>
              <a:t>6–9 mo</a:t>
            </a:r>
            <a:endParaRPr lang="en-US" sz="3733" dirty="0"/>
          </a:p>
        </p:txBody>
      </p:sp>
      <p:sp>
        <p:nvSpPr>
          <p:cNvPr id="28" name="Text 26"/>
          <p:cNvSpPr/>
          <p:nvPr/>
        </p:nvSpPr>
        <p:spPr>
          <a:xfrm>
            <a:off x="8778240" y="5035296"/>
            <a:ext cx="2682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/>
              <a:t>manual effort to build a safety evaluation framework today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OUR SOLUTION  ·  NOVELTY + PROBLEM FIT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AI prototype and what makes it different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10972800" cy="1036320"/>
          </a:xfrm>
          <a:prstGeom prst="roundRect">
            <a:avLst>
              <a:gd name="adj" fmla="val 9412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14400" y="213360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/>
              <a:t>Elevator pitch: We built a GenAI safety release gate that helps AI/product/security teams deploy RAG assistants safely — powered by Google ADK, Gemini 2.5 Flash, custom evaluation tools, and Cloud Run.</a:t>
            </a:r>
            <a:endParaRPr lang="en-US" sz="1867" dirty="0"/>
          </a:p>
        </p:txBody>
      </p:sp>
      <p:sp>
        <p:nvSpPr>
          <p:cNvPr id="14" name="Shape 12"/>
          <p:cNvSpPr/>
          <p:nvPr/>
        </p:nvSpPr>
        <p:spPr>
          <a:xfrm>
            <a:off x="609600" y="3413760"/>
            <a:ext cx="3596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09600" y="3413760"/>
            <a:ext cx="359664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914400" y="3718560"/>
            <a:ext cx="670560" cy="67056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14400" y="37185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67" dirty="0"/>
          </a:p>
        </p:txBody>
      </p:sp>
      <p:sp>
        <p:nvSpPr>
          <p:cNvPr id="18" name="Text 16"/>
          <p:cNvSpPr/>
          <p:nvPr/>
        </p:nvSpPr>
        <p:spPr>
          <a:xfrm>
            <a:off x="914400" y="451104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/>
              <a:t>Agentic, not a wrapper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914400" y="4998720"/>
            <a:ext cx="2987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Google ADK LlmAgent routes to deterministic Python tools for groundedness, toxicity, PII scanning, and remediation.</a:t>
            </a:r>
          </a:p>
        </p:txBody>
      </p:sp>
      <p:sp>
        <p:nvSpPr>
          <p:cNvPr id="20" name="Shape 18"/>
          <p:cNvSpPr/>
          <p:nvPr/>
        </p:nvSpPr>
        <p:spPr>
          <a:xfrm>
            <a:off x="4328160" y="3413760"/>
            <a:ext cx="3596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328160" y="3413760"/>
            <a:ext cx="3596640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4632960" y="3718560"/>
            <a:ext cx="670560" cy="67056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632960" y="37185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67" dirty="0"/>
          </a:p>
        </p:txBody>
      </p:sp>
      <p:sp>
        <p:nvSpPr>
          <p:cNvPr id="24" name="Text 22"/>
          <p:cNvSpPr/>
          <p:nvPr/>
        </p:nvSpPr>
        <p:spPr>
          <a:xfrm>
            <a:off x="4632960" y="451104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/>
              <a:t>Grounded in enterprise data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4632960" y="4998720"/>
            <a:ext cx="2987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Synthetic HR policy corpus + RAG retrieval via ChromaDB; Gemini judge verifies evidence before release.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046720" y="3413760"/>
            <a:ext cx="3596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8046720" y="3413760"/>
            <a:ext cx="3596640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8351520" y="3718560"/>
            <a:ext cx="670560" cy="67056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8351520" y="37185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67" dirty="0"/>
          </a:p>
        </p:txBody>
      </p:sp>
      <p:sp>
        <p:nvSpPr>
          <p:cNvPr id="30" name="Text 28"/>
          <p:cNvSpPr/>
          <p:nvPr/>
        </p:nvSpPr>
        <p:spPr>
          <a:xfrm>
            <a:off x="8351520" y="451104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/>
              <a:t>Enterprise-ready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8351520" y="4998720"/>
            <a:ext cx="2987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Configurable thresholds, category floors, zero-critical-failure policy, run history, and Cloud Run deployment.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SOLUTION IN ACTION  ·  EVIDENCE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400" b="1"/>
              <a:t>BLOCKED → DIAGNOSE → HARDEN → APPROVED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7071360" cy="408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09600" y="2072640"/>
            <a:ext cx="7071360" cy="408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609600" y="6156960"/>
            <a:ext cx="70713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/>
              <a:t>Caption: release gate approves the HR Policy Assistant after auto-remediation and re-validation.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85760" y="2072640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1"/>
              <a:t>USER JOURNEY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7985760" y="2438400"/>
            <a:ext cx="487680" cy="4876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r>
              <a:t>Pipeline triggered for target GenAI app</a:t>
            </a:r>
          </a:p>
        </p:txBody>
      </p:sp>
      <p:sp>
        <p:nvSpPr>
          <p:cNvPr id="17" name="Text 15"/>
          <p:cNvSpPr/>
          <p:nvPr/>
        </p:nvSpPr>
        <p:spPr>
          <a:xfrm>
            <a:off x="7985760" y="243840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438400"/>
            <a:ext cx="2987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Trigger</a:t>
            </a:r>
          </a:p>
        </p:txBody>
      </p:sp>
      <p:sp>
        <p:nvSpPr>
          <p:cNvPr id="19" name="Text 17"/>
          <p:cNvSpPr/>
          <p:nvPr/>
        </p:nvSpPr>
        <p:spPr>
          <a:xfrm>
            <a:off x="8595360" y="2743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Pipeline triggered for target GenAI app</a:t>
            </a:r>
          </a:p>
        </p:txBody>
      </p:sp>
      <p:sp>
        <p:nvSpPr>
          <p:cNvPr id="20" name="Shape 18"/>
          <p:cNvSpPr/>
          <p:nvPr/>
        </p:nvSpPr>
        <p:spPr>
          <a:xfrm>
            <a:off x="7985760" y="3364992"/>
            <a:ext cx="487680" cy="4876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985760" y="3364992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3364992"/>
            <a:ext cx="2987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Generate</a:t>
            </a:r>
          </a:p>
        </p:txBody>
      </p:sp>
      <p:sp>
        <p:nvSpPr>
          <p:cNvPr id="23" name="Text 21"/>
          <p:cNvSpPr/>
          <p:nvPr/>
        </p:nvSpPr>
        <p:spPr>
          <a:xfrm>
            <a:off x="8595360" y="366979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Gemini generates adversarial test suite</a:t>
            </a:r>
          </a:p>
        </p:txBody>
      </p:sp>
      <p:sp>
        <p:nvSpPr>
          <p:cNvPr id="24" name="Shape 22"/>
          <p:cNvSpPr/>
          <p:nvPr/>
        </p:nvSpPr>
        <p:spPr>
          <a:xfrm>
            <a:off x="7985760" y="4291584"/>
            <a:ext cx="487680" cy="48768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r>
              <a:rPr sz="2000" b="1"/>
              <a:t>Deliver</a:t>
            </a:r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985760" y="4291584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4291584"/>
            <a:ext cx="2987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Evaluate</a:t>
            </a:r>
          </a:p>
        </p:txBody>
      </p:sp>
      <p:sp>
        <p:nvSpPr>
          <p:cNvPr id="27" name="Text 25"/>
          <p:cNvSpPr/>
          <p:nvPr/>
        </p:nvSpPr>
        <p:spPr>
          <a:xfrm>
            <a:off x="8595360" y="4596384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Tools score groundedness, toxicity, and PII leakage</a:t>
            </a:r>
          </a:p>
        </p:txBody>
      </p:sp>
      <p:sp>
        <p:nvSpPr>
          <p:cNvPr id="28" name="Shape 26"/>
          <p:cNvSpPr/>
          <p:nvPr/>
        </p:nvSpPr>
        <p:spPr>
          <a:xfrm>
            <a:off x="7985760" y="5218176"/>
            <a:ext cx="487680" cy="4876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7985760" y="5218176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5360" y="5218176"/>
            <a:ext cx="2987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/>
              <a:t>Deliver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0" y="552297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Gate blocks, hardens prompt, re-runs, then approves</a:t>
            </a:r>
          </a:p>
        </p:txBody>
      </p:sp>
      <p:sp>
        <p:nvSpPr>
          <p:cNvPr id="32" name="Shape 30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200" dirty="0"/>
          </a:p>
        </p:txBody>
      </p:sp>
      <p:pic>
        <p:nvPicPr>
          <p:cNvPr id="35" name="Picture 34" descr="approved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53" y="2072640"/>
            <a:ext cx="6229054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ARCHITECTURE  ·  IMPLEMENTATION + VALUE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500" b="1"/>
              <a:t>End-to-end Google Cloud architecture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7802880" cy="408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53440" y="2316480"/>
            <a:ext cx="7315200" cy="3596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56320" y="207264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8656320" y="2438400"/>
            <a:ext cx="121920" cy="7315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900160" y="2438400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Front-end / Channel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8900160" y="2755392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Single-file dashboard + FastAPI endpoint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8656320" y="3364992"/>
            <a:ext cx="121920" cy="7315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900160" y="3364992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Agent Layer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00160" y="3681984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Google ADK LlmAgent + Gemini 2.5 Flash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656320" y="4291584"/>
            <a:ext cx="121920" cy="7315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900160" y="4291584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Tools &amp; Webhooks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8900160" y="4608576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Python tools: PII, toxicity, groundedness, remediation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656320" y="5218176"/>
            <a:ext cx="121920" cy="7315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8900160" y="5218176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Data / Grounding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900160" y="5535168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ChromaDB vector store + synthetic policy docs + run logs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200" dirty="0"/>
          </a:p>
        </p:txBody>
      </p:sp>
      <p:pic>
        <p:nvPicPr>
          <p:cNvPr id="30" name="Picture 29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720" y="2316480"/>
            <a:ext cx="359664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UNDER THE HOOD  ·  NOVELTY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500" b="1"/>
              <a:t>Advanced capabilities beyond prompt wrappers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5449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2072640"/>
            <a:ext cx="5449824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914400" y="2377440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14400" y="2340864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06880" y="2340864"/>
            <a:ext cx="41087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/>
              <a:t>Tool Use / Function Calling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1706880" y="2804160"/>
            <a:ext cx="410870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Deterministic Python tools calculate safety scores and enforce threshold policies.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132576" y="2072640"/>
            <a:ext cx="5449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132576" y="2072640"/>
            <a:ext cx="5449824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437376" y="2377440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437376" y="2340864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9856" y="2340864"/>
            <a:ext cx="41087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/>
              <a:t>Agentic Routing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7229856" y="2804160"/>
            <a:ext cx="410870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GuardrailEvaluatorAgent orchestrates test generation, tool calls, gate verdict, and remediation.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09600" y="4206240"/>
            <a:ext cx="5449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09600" y="4206240"/>
            <a:ext cx="5449824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914400" y="4511040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14400" y="4474464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06880" y="4474464"/>
            <a:ext cx="41087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/>
              <a:t>Multi-step Recovery Loop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1706880" y="4937760"/>
            <a:ext cx="410870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Blocked run triggers root-cause diagnosis, hardened prompt generation, and re-evaluation.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6132576" y="4206240"/>
            <a:ext cx="5449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6132576" y="4206240"/>
            <a:ext cx="5449824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6437376" y="4511040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437376" y="4474464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229856" y="4474464"/>
            <a:ext cx="410870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b="1"/>
              <a:t>Cloud Run Fulfillment</a:t>
            </a:r>
            <a:endParaRPr lang="en-US" sz="1867" dirty="0"/>
          </a:p>
        </p:txBody>
      </p:sp>
      <p:sp>
        <p:nvSpPr>
          <p:cNvPr id="35" name="Text 33"/>
          <p:cNvSpPr/>
          <p:nvPr/>
        </p:nvSpPr>
        <p:spPr>
          <a:xfrm>
            <a:off x="7229856" y="4937760"/>
            <a:ext cx="410870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FastAPI + Uvicorn service exposes the guardrail pipeline with status streaming.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PROOF OF EXECUTION  ·  IMPLEMENTATION + EVIDENCE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400" b="1"/>
              <a:t>Screenshots that prove it runs end-to-end on GCP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1463040" cy="390144"/>
          </a:xfrm>
          <a:prstGeom prst="roundRect">
            <a:avLst>
              <a:gd name="adj" fmla="val 1562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09600" y="207264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09600" y="2584704"/>
            <a:ext cx="3657600" cy="2901696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09600" y="2584704"/>
            <a:ext cx="3657600" cy="2901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09600" y="560832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/>
              <a:t>ADK terminal execution / tool-call scoring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389120" y="2072640"/>
            <a:ext cx="1463040" cy="390144"/>
          </a:xfrm>
          <a:prstGeom prst="roundRect">
            <a:avLst>
              <a:gd name="adj" fmla="val 15625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389120" y="207264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389120" y="2584704"/>
            <a:ext cx="3657600" cy="2901696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4389120" y="2584704"/>
            <a:ext cx="3657600" cy="2901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4389120" y="560832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/>
              <a:t>Cloud Run service deployed in us-central1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168640" y="2072640"/>
            <a:ext cx="1463040" cy="390144"/>
          </a:xfrm>
          <a:prstGeom prst="roundRect">
            <a:avLst>
              <a:gd name="adj" fmla="val 15625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8168640" y="2072640"/>
            <a:ext cx="1463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168640" y="2584704"/>
            <a:ext cx="3657600" cy="2901696"/>
          </a:xfrm>
          <a:prstGeom prst="rect">
            <a:avLst/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8168640" y="2584704"/>
            <a:ext cx="3657600" cy="2901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168640" y="560832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/>
              <a:t>Approved release-gate verdict after remediation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609600" y="5913120"/>
            <a:ext cx="10972800" cy="390144"/>
          </a:xfrm>
          <a:prstGeom prst="roundRect">
            <a:avLst>
              <a:gd name="adj" fmla="val 15625"/>
            </a:avLst>
          </a:prstGeom>
          <a:solidFill>
            <a:srgbClr val="F8F9FA"/>
          </a:solidFill>
          <a:ln w="635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792480" y="5913120"/>
            <a:ext cx="1060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Track 2 evidence: ADK run + Cloud Run deployment + dashboard validation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200" dirty="0"/>
          </a:p>
        </p:txBody>
      </p:sp>
      <p:pic>
        <p:nvPicPr>
          <p:cNvPr id="32" name="Picture 31" descr="build_terminal_ad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03039"/>
            <a:ext cx="3657600" cy="1665026"/>
          </a:xfrm>
          <a:prstGeom prst="rect">
            <a:avLst/>
          </a:prstGeom>
        </p:spPr>
      </p:pic>
      <p:pic>
        <p:nvPicPr>
          <p:cNvPr id="33" name="Picture 32" descr="cloud_run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041038"/>
            <a:ext cx="3657600" cy="1989027"/>
          </a:xfrm>
          <a:prstGeom prst="rect">
            <a:avLst/>
          </a:prstGeom>
        </p:spPr>
      </p:pic>
      <p:pic>
        <p:nvPicPr>
          <p:cNvPr id="34" name="Picture 33" descr="validate_approv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2847520"/>
            <a:ext cx="3657600" cy="2376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SECURITY &amp; GUARDRAILS  ·  SECURITY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- protecting enterprise data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1097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2072640"/>
            <a:ext cx="1097280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853440" y="2231136"/>
            <a:ext cx="609600" cy="6096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53440" y="2194560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1645920" y="2170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&amp; Data Privacy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1645920" y="2535936"/>
            <a:ext cx="9753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Multi-pattern scanner blocks emails, phones, SSNs, names; PoC uses synthetic HR docs only.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09600" y="3108960"/>
            <a:ext cx="1097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09600" y="3108960"/>
            <a:ext cx="10972800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853440" y="3267456"/>
            <a:ext cx="609600" cy="60960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53440" y="3230880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1645920" y="3206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&amp; Citations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1645920" y="3572256"/>
            <a:ext cx="9753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RAG-grounded evaluation checks every answer against retrieved source context; threshold ≥85%.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09600" y="4145280"/>
            <a:ext cx="1097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09600" y="4145280"/>
            <a:ext cx="10972800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853440" y="4303776"/>
            <a:ext cx="609600" cy="60960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853440" y="4267200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133" dirty="0"/>
          </a:p>
        </p:txBody>
      </p:sp>
      <p:sp>
        <p:nvSpPr>
          <p:cNvPr id="28" name="Text 26"/>
          <p:cNvSpPr/>
          <p:nvPr/>
        </p:nvSpPr>
        <p:spPr>
          <a:xfrm>
            <a:off x="1645920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1645920" y="4608576"/>
            <a:ext cx="9753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Critical failures = 0; blocked releases require remediation and operator review before approval.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609600" y="5181600"/>
            <a:ext cx="1097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609600" y="5181600"/>
            <a:ext cx="10972800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853440" y="5340096"/>
            <a:ext cx="609600" cy="6096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853440" y="5303520"/>
            <a:ext cx="609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133" dirty="0"/>
          </a:p>
        </p:txBody>
      </p:sp>
      <p:sp>
        <p:nvSpPr>
          <p:cNvPr id="34" name="Text 32"/>
          <p:cNvSpPr/>
          <p:nvPr/>
        </p:nvSpPr>
        <p:spPr>
          <a:xfrm>
            <a:off x="1645920" y="5279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Boundaries</a:t>
            </a:r>
            <a:endParaRPr lang="en-US" sz="1733" dirty="0"/>
          </a:p>
        </p:txBody>
      </p:sp>
      <p:sp>
        <p:nvSpPr>
          <p:cNvPr id="35" name="Text 33"/>
          <p:cNvSpPr/>
          <p:nvPr/>
        </p:nvSpPr>
        <p:spPr>
          <a:xfrm>
            <a:off x="1645920" y="5644896"/>
            <a:ext cx="9753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Jailbreak / role override / authority-boundary tests enforce scoped, information-only behavior.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SCALE &amp; ENTERPRISE READINESS  ·  LONG-TERM VALUE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65775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production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646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2072640"/>
            <a:ext cx="646176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14400" y="225552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914400" y="2657856"/>
            <a:ext cx="6035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Agent, tools, prompts, dashboard, and run-store separated — easy to extend with new gates.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09600" y="3474720"/>
            <a:ext cx="646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3474720"/>
            <a:ext cx="6461760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scale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914400" y="4059936"/>
            <a:ext cx="6035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Cloud Run auto-scaling; the pipeline can run on every model, prompt, or RAG update.</a:t>
            </a:r>
          </a:p>
        </p:txBody>
      </p:sp>
      <p:sp>
        <p:nvSpPr>
          <p:cNvPr id="20" name="Shape 18"/>
          <p:cNvSpPr/>
          <p:nvPr/>
        </p:nvSpPr>
        <p:spPr>
          <a:xfrm>
            <a:off x="609600" y="4876800"/>
            <a:ext cx="646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09600" y="4876800"/>
            <a:ext cx="6461760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14400" y="50596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Ops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914400" y="5462016"/>
            <a:ext cx="6035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Run history captures thresholds, verdicts, failures, remediation steps, and operator evidence.</a:t>
            </a:r>
          </a:p>
        </p:txBody>
      </p:sp>
      <p:sp>
        <p:nvSpPr>
          <p:cNvPr id="24" name="Shape 22"/>
          <p:cNvSpPr/>
          <p:nvPr/>
        </p:nvSpPr>
        <p:spPr>
          <a:xfrm>
            <a:off x="7315200" y="2072640"/>
            <a:ext cx="42672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7315200" y="2072640"/>
            <a:ext cx="4267200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559040" y="2292096"/>
            <a:ext cx="3779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MAP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7559040" y="262128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Where else this solution can be applied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7559040" y="3108960"/>
            <a:ext cx="3779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sz="1500"/>
              <a:t>• BFSI: loan/chatbot policy assistants</a:t>
            </a:r>
            <a:endParaRPr lang="en-US" sz="1600" dirty="0"/>
          </a:p>
          <a:p>
            <a:r>
              <a:rPr sz="1500"/>
              <a:t>• Healthcare: patient-facing knowledge bots</a:t>
            </a:r>
          </a:p>
          <a:p>
            <a:r>
              <a:rPr sz="1500"/>
              <a:t>• HR: internal copilots and policy Q&amp;A</a:t>
            </a:r>
          </a:p>
          <a:p>
            <a:r>
              <a:rPr sz="1500"/>
              <a:t>• Legal &amp; compliance: regulated RAG workflows</a:t>
            </a:r>
          </a:p>
        </p:txBody>
      </p:sp>
      <p:sp>
        <p:nvSpPr>
          <p:cNvPr id="29" name="Shape 27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BUSINESS IMPACT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for the enterprise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2645664" cy="207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2072640"/>
            <a:ext cx="2645664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09600" y="2377440"/>
            <a:ext cx="26456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400" b="1">
                <a:solidFill>
                  <a:srgbClr val="3B82F6"/>
                </a:solidFill>
              </a:rPr>
              <a:t>100%</a:t>
            </a:r>
            <a:endParaRPr lang="en-US" sz="4267" dirty="0"/>
          </a:p>
        </p:txBody>
      </p:sp>
      <p:sp>
        <p:nvSpPr>
          <p:cNvPr id="15" name="Text 13"/>
          <p:cNvSpPr/>
          <p:nvPr/>
        </p:nvSpPr>
        <p:spPr>
          <a:xfrm>
            <a:off x="792480" y="3230880"/>
            <a:ext cx="22799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1600"/>
              <a:t>failure recovery after auto-remediation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3389376" y="2072640"/>
            <a:ext cx="2645664" cy="207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3389376" y="2072640"/>
            <a:ext cx="2645664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3389376" y="2377440"/>
            <a:ext cx="26456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000" b="1">
                <a:solidFill>
                  <a:srgbClr val="EF4444"/>
                </a:solidFill>
              </a:rPr>
              <a:t>₹4.5Cr+</a:t>
            </a:r>
            <a:endParaRPr lang="en-US" sz="4267" dirty="0"/>
          </a:p>
        </p:txBody>
      </p:sp>
      <p:sp>
        <p:nvSpPr>
          <p:cNvPr id="19" name="Text 17"/>
          <p:cNvSpPr/>
          <p:nvPr/>
        </p:nvSpPr>
        <p:spPr>
          <a:xfrm>
            <a:off x="3572256" y="3230880"/>
            <a:ext cx="22799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1600"/>
              <a:t>average GenAI breach cost avoided per incident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169152" y="2072640"/>
            <a:ext cx="2645664" cy="207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169152" y="2072640"/>
            <a:ext cx="2645664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169152" y="2377440"/>
            <a:ext cx="26456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000" b="1">
                <a:solidFill>
                  <a:srgbClr val="F59E0B"/>
                </a:solidFill>
              </a:rPr>
              <a:t>+10.2%</a:t>
            </a:r>
            <a:endParaRPr lang="en-US" sz="4267" dirty="0"/>
          </a:p>
        </p:txBody>
      </p:sp>
      <p:sp>
        <p:nvSpPr>
          <p:cNvPr id="23" name="Text 21"/>
          <p:cNvSpPr/>
          <p:nvPr/>
        </p:nvSpPr>
        <p:spPr>
          <a:xfrm>
            <a:off x="6352032" y="3230880"/>
            <a:ext cx="22799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1600"/>
              <a:t>groundedness improvement after hardening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8948928" y="2072640"/>
            <a:ext cx="2645664" cy="207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8948928" y="2072640"/>
            <a:ext cx="2645664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8948928" y="2377440"/>
            <a:ext cx="26456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400" b="1">
                <a:solidFill>
                  <a:srgbClr val="22C55E"/>
                </a:solidFill>
              </a:rPr>
              <a:t>0</a:t>
            </a:r>
            <a:endParaRPr lang="en-US" sz="4267" dirty="0"/>
          </a:p>
        </p:txBody>
      </p:sp>
      <p:sp>
        <p:nvSpPr>
          <p:cNvPr id="27" name="Text 25"/>
          <p:cNvSpPr/>
          <p:nvPr/>
        </p:nvSpPr>
        <p:spPr>
          <a:xfrm>
            <a:off x="9131808" y="3230880"/>
            <a:ext cx="22799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1600"/>
              <a:t>PII leaks after remediation in final run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609600" y="4328160"/>
            <a:ext cx="10972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609600" y="4328160"/>
            <a:ext cx="1097280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914400" y="4535424"/>
            <a:ext cx="10363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IMPACT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914400" y="4876800"/>
            <a:ext cx="10363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sz="1800"/>
              <a:t>Employee experience: faster safety reviews, less manual red-team toil</a:t>
            </a:r>
            <a:endParaRPr lang="en-US" sz="1600" dirty="0"/>
          </a:p>
          <a:p>
            <a:r>
              <a:rPr sz="1800"/>
              <a:t>Customer experience: safer, grounded, compliant AI responses</a:t>
            </a:r>
          </a:p>
          <a:p>
            <a:r>
              <a:rPr sz="1800"/>
              <a:t>Risk posture: auditable release evidence with deterministic deploy/block decisions</a:t>
            </a:r>
          </a:p>
        </p:txBody>
      </p:sp>
      <p:sp>
        <p:nvSpPr>
          <p:cNvPr id="32" name="Shape 30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09600" y="390144"/>
            <a:ext cx="195072" cy="1950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77824" y="390144"/>
            <a:ext cx="195072" cy="19507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146048" y="390144"/>
            <a:ext cx="195072" cy="19507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414272" y="390144"/>
            <a:ext cx="195072" cy="1950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865376" y="365760"/>
            <a:ext cx="9753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1"/>
              <a:t>11  ·  WHAT'S NEXT  ·  ROADMAP + ASK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792480"/>
            <a:ext cx="657758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200" b="1"/>
              <a:t>How we move from PoC to reusable AI Safety-as-a-Service</a:t>
            </a:r>
            <a:endParaRPr lang="en-US" sz="3467" dirty="0"/>
          </a:p>
        </p:txBody>
      </p:sp>
      <p:sp>
        <p:nvSpPr>
          <p:cNvPr id="8" name="Shape 6"/>
          <p:cNvSpPr/>
          <p:nvPr/>
        </p:nvSpPr>
        <p:spPr>
          <a:xfrm>
            <a:off x="609600" y="1584960"/>
            <a:ext cx="609600" cy="60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0" y="1584960"/>
            <a:ext cx="609600" cy="609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828800" y="1584960"/>
            <a:ext cx="609600" cy="609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584960"/>
            <a:ext cx="609600" cy="609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646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2072640"/>
            <a:ext cx="6461760" cy="9753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14400" y="225552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0–2 weeks: PoC hardening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914400" y="2657856"/>
            <a:ext cx="6035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Freeze thresholds, add prompt-injection gate, package repeatable run configuration.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09600" y="3474720"/>
            <a:ext cx="646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3474720"/>
            <a:ext cx="6461760" cy="975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4–6 weeks: CI/CD integration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914400" y="4059936"/>
            <a:ext cx="6035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Trigger guardrail runs from Cloud Build/GitHub actions; store audit evidence in BigQuery.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09600" y="4876800"/>
            <a:ext cx="646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09600" y="4876800"/>
            <a:ext cx="6461760" cy="975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14400" y="50596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900" b="1"/>
              <a:t>8–12 weeks: platform scale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914400" y="5462016"/>
            <a:ext cx="6035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/>
              <a:t>Multi-model evaluation, scheduled regression checks, centralized dashboard, reusable gate packs.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7315200" y="2072640"/>
            <a:ext cx="42672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7315200" y="2072640"/>
            <a:ext cx="4267200" cy="975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559040" y="2292096"/>
            <a:ext cx="3779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b="1"/>
              <a:t>OUR ASK FROM GOOGLE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7559040" y="262128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/>
              <a:t>Where Google support accelerates scale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7559040" y="3108960"/>
            <a:ext cx="3779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sz="1500"/>
              <a:t>• Review ADK + Vertex evaluation architecture</a:t>
            </a:r>
            <a:endParaRPr lang="en-US" sz="1600" dirty="0"/>
          </a:p>
          <a:p>
            <a:r>
              <a:rPr sz="1500"/>
              <a:t>• Guidance on Responsible AI evaluation patterns</a:t>
            </a:r>
          </a:p>
          <a:p>
            <a:r>
              <a:rPr sz="1500"/>
              <a:t>• Co-sell / Marketplace path for enterprise governance</a:t>
            </a:r>
          </a:p>
          <a:p>
            <a:r>
              <a:rPr sz="1500"/>
              <a:t>• Feedback on extending gates to Gemini Enterprise apps</a:t>
            </a:r>
          </a:p>
        </p:txBody>
      </p:sp>
      <p:sp>
        <p:nvSpPr>
          <p:cNvPr id="29" name="Shape 27"/>
          <p:cNvSpPr/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09600" y="646176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tcs^AI  Google Hackathon 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5600" y="64617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1200"/>
              <a:t>13 / 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68224" cy="26822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268224" cy="268224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463040" y="731520"/>
            <a:ext cx="268224" cy="268224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731520"/>
            <a:ext cx="268224" cy="268224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972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3352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i="1" dirty="0">
                <a:solidFill>
                  <a:srgbClr val="D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731520" y="4511040"/>
            <a:ext cx="10972800" cy="0"/>
          </a:xfrm>
          <a:prstGeom prst="line">
            <a:avLst/>
          </a:prstGeom>
          <a:noFill/>
          <a:ln w="9525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31520" y="4693920"/>
            <a:ext cx="109728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sz="1800"/>
              <a:t>Team: GenAI Guardrail Factory</a:t>
            </a:r>
            <a:endParaRPr lang="en-US" sz="1733" dirty="0"/>
          </a:p>
          <a:p>
            <a:r>
              <a:rPr sz="1800"/>
              <a:t>Contact: Sana Iqbal (EID: 1213383)</a:t>
            </a:r>
          </a:p>
          <a:p>
            <a:r>
              <a:rPr sz="1800"/>
              <a:t>Track: Build with Vertex AI / Google ADK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646176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1200"/>
              <a:t>tcs^AI  Google Hackathon 2026  ·  14 /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1201</Words>
  <Application>Microsoft Office PowerPoint</Application>
  <PresentationFormat>Widescreen</PresentationFormat>
  <Paragraphs>212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Rajkumar Samuel Jebasingh</dc:creator>
  <cp:lastModifiedBy>Glen  D-Souza</cp:lastModifiedBy>
  <cp:revision>10</cp:revision>
  <dcterms:created xsi:type="dcterms:W3CDTF">2026-04-22T13:02:16Z</dcterms:created>
  <dcterms:modified xsi:type="dcterms:W3CDTF">2026-04-23T20:06:31Z</dcterms:modified>
</cp:coreProperties>
</file>