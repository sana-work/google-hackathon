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CI/CD for GenAI risk hook and position Guardrail Factory as the pre-production release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and repeat the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is an enterprise release and safety problem, not a chatbot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and frame the numbers as business-case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make the risks tangible before introducing the release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product versus test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novelty memorable and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is visible on the dashboard and the recovery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architecture diagram: target app, FastAPI, ADK, tools, RAG layer, release gate, Cloud Run, SQLite PoC, BigQuery/Looker production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Proof: built, deployed,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the strongest proof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the product. Emphasize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 from Model Armor: runtime shield versus pre-production safety gate. Present them as complementary.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modularity and reuse across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metrics and then focus on the TCS commercial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roadmap concise and ask specific support from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deployability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874520"/>
            <a:ext cx="566928" cy="169164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3566160"/>
            <a:ext cx="566928" cy="150876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5074920"/>
            <a:ext cx="566928" cy="17830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51560" y="731520"/>
            <a:ext cx="219456" cy="21945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35024" y="731520"/>
            <a:ext cx="219456" cy="21945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618488" y="731520"/>
            <a:ext cx="219456" cy="21945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901952" y="731520"/>
            <a:ext cx="219456" cy="21945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TCS^AI  GOOGLE HACKATHON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8595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Guardrail Factory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CI/CD-style AI-powered safety release gate that blocks unsafe GenAI deployments before production.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51560" y="333756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8FAFF"/>
          </a:solidFill>
          <a:ln w="12700">
            <a:solidFill>
              <a:srgbClr val="D9E8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5880" y="3675888"/>
            <a:ext cx="6217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 →  DIAGNOSE  →  HARDEN  →  APPROVED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12480" y="32461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7FDF9"/>
          </a:solidFill>
          <a:ln w="12700">
            <a:solidFill>
              <a:srgbClr val="CDEF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13648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with Vertex AI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34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(Google ADK)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5166360"/>
            <a:ext cx="685800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GenAI Guardrail Factory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Member: Sana Iqbal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to: Google | 29 April 2026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6144768"/>
            <a:ext cx="10241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GenAI demos show capability. Guardrail Factory proves deployability.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8096" y="384048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" y="384048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384048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3474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685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63624"/>
            <a:ext cx="59436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83080" y="1563624"/>
            <a:ext cx="64008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23160" y="1563624"/>
            <a:ext cx="59436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5800" y="2148840"/>
            <a:ext cx="3337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2148840"/>
            <a:ext cx="333756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2331720"/>
            <a:ext cx="530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81912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&amp; Track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81912" y="2660904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Build with Vertex AI / ADK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34840" y="2148840"/>
            <a:ext cx="3337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434840" y="2148840"/>
            <a:ext cx="333756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2331720"/>
            <a:ext cx="530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43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30952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30952" y="2660904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demos are not proof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337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2148840"/>
            <a:ext cx="3337560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412480" y="2331720"/>
            <a:ext cx="530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BC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079992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79992" y="2660904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factory around the app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566160"/>
            <a:ext cx="3337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85800" y="3566160"/>
            <a:ext cx="3337560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14400" y="3749040"/>
            <a:ext cx="530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4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81912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in Action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81912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workflow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34840" y="3566160"/>
            <a:ext cx="3337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434840" y="3566160"/>
            <a:ext cx="333756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663440" y="3749040"/>
            <a:ext cx="530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30952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&amp; Proof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30952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deploy, validate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3566160"/>
            <a:ext cx="3337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183880" y="3566160"/>
            <a:ext cx="333756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412480" y="3749040"/>
            <a:ext cx="53035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43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079992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Scale &amp; Impact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079992" y="4078224"/>
            <a:ext cx="2240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value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97280" y="5532120"/>
            <a:ext cx="9875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lifecycle:  BLOCKED  →  DIAGNOSE  →  HARDEN  →  APPROVED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8096" y="384048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" y="384048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384048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3474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TEAM &amp; TRACK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we are and the track we chose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685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63624"/>
            <a:ext cx="59436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83080" y="1563624"/>
            <a:ext cx="64008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23160" y="1563624"/>
            <a:ext cx="59436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professional_headshot_with_modern_acc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57400"/>
            <a:ext cx="1737360" cy="17373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5800" y="397764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F8FAFF"/>
          </a:solidFill>
          <a:ln w="12700">
            <a:solidFill>
              <a:srgbClr val="E0E7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22960" y="414223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Sana Iqbal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Engineer | BFSI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54680" y="1965960"/>
            <a:ext cx="79552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154680" y="1965960"/>
            <a:ext cx="795528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474720" y="2221992"/>
            <a:ext cx="1371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TRACK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4720" y="2542032"/>
            <a:ext cx="43891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with Vertex AI (Google ADK)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3474720" y="3246120"/>
            <a:ext cx="71323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Enterprise GenAI needs a repeatable safety release gate before production, not one-time manual testing.
</a:t>
            </a:r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Gemini generates adversarial tests and diagnoses failures; ADK enables deterministic tool-based checks.
</a:t>
            </a:r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Run, configurable thresholds, and audit logs make the solution reusable and governance-ready.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03320" y="4617720"/>
            <a:ext cx="6675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Operationalizing responsible AI, not just demonstrating GenAI capability.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" y="256032"/>
            <a:ext cx="100584" cy="100584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" y="256032"/>
            <a:ext cx="100584" cy="100584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256032"/>
            <a:ext cx="100584" cy="100584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256032"/>
            <a:ext cx="100584" cy="100584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"/>
            <a:ext cx="77724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5F6368"/>
                </a:solidFill>
                <a:latin typeface="Arial"/>
              </a:rPr>
              <a:t>02 · THE PROBLEM · PROBLEM FIT ·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 i="0">
                <a:solidFill>
                  <a:srgbClr val="202124"/>
                </a:solidFill>
                <a:latin typeface="Arial"/>
              </a:rPr>
              <a:t>AI moves faster than trust can be validated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07592"/>
            <a:ext cx="685800" cy="5029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1307592"/>
            <a:ext cx="685800" cy="5029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307592"/>
            <a:ext cx="685800" cy="50292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752" y="1307592"/>
            <a:ext cx="685800" cy="5029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225296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0" i="0">
                <a:solidFill>
                  <a:srgbClr val="5F6368"/>
                </a:solidFill>
                <a:latin typeface="Arial"/>
              </a:rPr>
              <a:t>Manual validation is slow, late, and hard to repeat after every AI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tcs^AI  Google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04 /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69164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1874519"/>
            <a:ext cx="2286000" cy="292608"/>
          </a:xfrm>
          <a:prstGeom prst="roundRect">
            <a:avLst/>
          </a:prstGeom>
          <a:solidFill>
            <a:srgbClr val="EA433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01951"/>
            <a:ext cx="2286000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CURRENT PRODUCTION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33172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202124"/>
                </a:solidFill>
                <a:latin typeface="Arial"/>
              </a:rPr>
              <a:t>What teams do today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2724912"/>
            <a:ext cx="292608" cy="292608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761488"/>
            <a:ext cx="292608" cy="173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2743200"/>
            <a:ext cx="43891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202124"/>
                </a:solidFill>
                <a:latin typeface="Arial"/>
              </a:rPr>
              <a:t>Prompt / model / document changes happen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346704"/>
            <a:ext cx="292608" cy="292608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83280"/>
            <a:ext cx="292608" cy="173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364992"/>
            <a:ext cx="43891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202124"/>
                </a:solidFill>
                <a:latin typeface="Arial"/>
              </a:rPr>
              <a:t>SMEs run ad-hoc manual checks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3968496"/>
            <a:ext cx="292608" cy="292608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005072"/>
            <a:ext cx="292608" cy="173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986783"/>
            <a:ext cx="43891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202124"/>
                </a:solidFill>
                <a:latin typeface="Arial"/>
              </a:rPr>
              <a:t>Safety gaps are reviewed late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590288"/>
            <a:ext cx="292608" cy="292608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626864"/>
            <a:ext cx="292608" cy="1737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608575"/>
            <a:ext cx="43891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202124"/>
                </a:solidFill>
                <a:latin typeface="Arial"/>
              </a:rPr>
              <a:t>Go/no-go decision lacks repeatable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394960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EA4335"/>
                </a:solidFill>
                <a:latin typeface="Arial"/>
              </a:rPr>
              <a:t>Problem: manual review does not scale when AI behavior can change after every release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691640"/>
            <a:ext cx="5349240" cy="148132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46520" y="1865376"/>
            <a:ext cx="1417320" cy="292608"/>
          </a:xfrm>
          <a:prstGeom prst="round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892807"/>
            <a:ext cx="1417320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WHO IS AFFECTED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04288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 i="0">
                <a:solidFill>
                  <a:srgbClr val="202124"/>
                </a:solidFill>
                <a:latin typeface="Arial"/>
              </a:rPr>
              <a:t>AI Deployment
Teams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706624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 i="0">
                <a:solidFill>
                  <a:srgbClr val="5F6368"/>
                </a:solidFill>
                <a:latin typeface="Arial"/>
              </a:rPr>
              <a:t>Need repeatable
release 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7" y="2304288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 i="0">
                <a:solidFill>
                  <a:srgbClr val="202124"/>
                </a:solidFill>
                <a:latin typeface="Arial"/>
              </a:rPr>
              <a:t>Compliance / CISOs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7" y="2706624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 i="0">
                <a:solidFill>
                  <a:srgbClr val="5F6368"/>
                </a:solidFill>
                <a:latin typeface="Arial"/>
              </a:rPr>
              <a:t>Need audit-ready
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2304288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1" i="0">
                <a:solidFill>
                  <a:srgbClr val="202124"/>
                </a:solidFill>
                <a:latin typeface="Arial"/>
              </a:rPr>
              <a:t>Product 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2706624"/>
            <a:ext cx="1554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 i="0">
                <a:solidFill>
                  <a:srgbClr val="5F6368"/>
                </a:solidFill>
                <a:latin typeface="Arial"/>
              </a:rPr>
              <a:t>Need faster
safe releases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383280"/>
            <a:ext cx="5349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46520" y="3547872"/>
            <a:ext cx="2514600" cy="292608"/>
          </a:xfrm>
          <a:prstGeom prst="roundRect">
            <a:avLst/>
          </a:prstGeom>
          <a:solidFill>
            <a:srgbClr val="00796B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575303"/>
            <a:ext cx="2514600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FAILURE MODES BEFORE 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10528" y="4005072"/>
            <a:ext cx="214884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069080"/>
            <a:ext cx="19202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30" b="1" i="0">
                <a:solidFill>
                  <a:srgbClr val="202124"/>
                </a:solidFill>
                <a:latin typeface="Arial"/>
              </a:rPr>
              <a:t>Hallucination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4315968"/>
            <a:ext cx="1920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F6368"/>
                </a:solidFill>
                <a:latin typeface="Arial"/>
              </a:rPr>
              <a:t>Unsupported policy answers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9408" y="4005072"/>
            <a:ext cx="214884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70848" y="4069080"/>
            <a:ext cx="19202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30" b="1" i="0">
                <a:solidFill>
                  <a:srgbClr val="202124"/>
                </a:solidFill>
                <a:latin typeface="Arial"/>
              </a:rPr>
              <a:t>PII leakage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0848" y="4315968"/>
            <a:ext cx="1920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F6368"/>
                </a:solidFill>
                <a:latin typeface="Arial"/>
              </a:rPr>
              <a:t>Names, emails, IDs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10528" y="4754880"/>
            <a:ext cx="214884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01968" y="4818888"/>
            <a:ext cx="19202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30" b="1" i="0">
                <a:solidFill>
                  <a:srgbClr val="202124"/>
                </a:solidFill>
                <a:latin typeface="Arial"/>
              </a:rPr>
              <a:t>Jailbreak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1968" y="5065776"/>
            <a:ext cx="1920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F6368"/>
                </a:solidFill>
                <a:latin typeface="Arial"/>
              </a:rPr>
              <a:t>Instruction override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79408" y="4754880"/>
            <a:ext cx="214884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70848" y="4818888"/>
            <a:ext cx="19202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30" b="1" i="0">
                <a:solidFill>
                  <a:srgbClr val="202124"/>
                </a:solidFill>
                <a:latin typeface="Arial"/>
              </a:rPr>
              <a:t>Policy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70848" y="5065776"/>
            <a:ext cx="1920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80" b="0" i="0">
                <a:solidFill>
                  <a:srgbClr val="5F6368"/>
                </a:solidFill>
                <a:latin typeface="Arial"/>
              </a:rPr>
              <a:t>Unauthorized decisions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6035040"/>
            <a:ext cx="1101852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6108192"/>
            <a:ext cx="10607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74EA6"/>
                </a:solidFill>
                <a:latin typeface="Arial"/>
              </a:rPr>
              <a:t>Key question: not “Can it answer?” but “Can we prove it is safe enough to release?”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329184"/>
            <a:ext cx="164592" cy="164592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9184"/>
            <a:ext cx="164592" cy="164592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29184"/>
            <a:ext cx="164592" cy="164592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29184"/>
            <a:ext cx="164592" cy="164592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301752"/>
            <a:ext cx="7772400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5F6368"/>
                </a:solidFill>
                <a:latin typeface="Arial"/>
              </a:rPr>
              <a:t>02 · RISK DEEP DIVE · WHY RELEASE GATES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A demo pass is not a production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9436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536192"/>
            <a:ext cx="502920" cy="54864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1536192"/>
            <a:ext cx="502920" cy="54864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536192"/>
            <a:ext cx="594360" cy="54864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874519"/>
            <a:ext cx="91440" cy="123444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130552"/>
            <a:ext cx="594360" cy="59436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31136"/>
            <a:ext cx="5943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029967"/>
            <a:ext cx="3977639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202124"/>
                </a:solidFill>
                <a:latin typeface="Arial"/>
              </a:rPr>
              <a:t>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40863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Trigger: policy question outside source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587752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Failure: confident but unsupported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34639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Arial"/>
              </a:rPr>
              <a:t>Gate: RAG groundedness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74519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874519"/>
            <a:ext cx="91440" cy="1234440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130552"/>
            <a:ext cx="594360" cy="594360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231136"/>
            <a:ext cx="5943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029967"/>
            <a:ext cx="3977639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202124"/>
                </a:solidFill>
                <a:latin typeface="Arial"/>
              </a:rPr>
              <a:t>PII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340863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Trigger: request for emails, IDs, names or leave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587752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Failure: sensitive data disclosure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834639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EA4335"/>
                </a:solidFill>
                <a:latin typeface="Arial"/>
              </a:rPr>
              <a:t>Gate: PII scanner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4747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474720"/>
            <a:ext cx="91440" cy="1234440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3730752"/>
            <a:ext cx="594360" cy="594360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831335"/>
            <a:ext cx="5943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630168"/>
            <a:ext cx="3977639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202124"/>
                </a:solidFill>
                <a:latin typeface="Arial"/>
              </a:rPr>
              <a:t>Jailbreak / Role Override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941063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Trigger: “ignore instructions” or new persona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187952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Failure: system boundaries bypassed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434840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BBC05"/>
                </a:solidFill>
                <a:latin typeface="Arial"/>
              </a:rPr>
              <a:t>Gate: domain boundary tests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47472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474720"/>
            <a:ext cx="91440" cy="1234440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37960" y="3730752"/>
            <a:ext cx="594360" cy="594360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831335"/>
            <a:ext cx="59436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630168"/>
            <a:ext cx="3977639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202124"/>
                </a:solidFill>
                <a:latin typeface="Arial"/>
              </a:rPr>
              <a:t>Policy Boundary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941063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Trigger: approval or execution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4187952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Failure: assistant acts beyond authority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434840"/>
            <a:ext cx="41605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34A853"/>
                </a:solidFill>
                <a:latin typeface="Arial"/>
              </a:rPr>
              <a:t>Gate: refusal + human handoff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230368"/>
            <a:ext cx="10972800" cy="822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376672"/>
            <a:ext cx="2468880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  <a:latin typeface="Arial"/>
              </a:rPr>
              <a:t>Why a release gate is needed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5330952"/>
            <a:ext cx="804672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202124"/>
                </a:solidFill>
                <a:latin typeface="Arial"/>
              </a:rPr>
              <a:t>Manual testing cannot be repeated deeply after every prompt, model, tool, or document refresh. Guardrail Factory makes this repeatable and evidence-backed.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37960"/>
            <a:ext cx="3657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tcs^AI Google Hackathon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  <a:latin typeface="Arial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" y="256032"/>
            <a:ext cx="100584" cy="100584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" y="256032"/>
            <a:ext cx="100584" cy="100584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256032"/>
            <a:ext cx="100584" cy="100584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256032"/>
            <a:ext cx="100584" cy="100584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"/>
            <a:ext cx="77724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5F6368"/>
                </a:solidFill>
                <a:latin typeface="Arial"/>
              </a:rPr>
              <a:t>03 · OUR SOLUTION · NOVELTY + PROBLEM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202124"/>
                </a:solidFill>
                <a:latin typeface="Arial"/>
              </a:rPr>
              <a:t>GenAI Guardrail Factory: pre-production safety release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07592"/>
            <a:ext cx="685800" cy="5029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1307592"/>
            <a:ext cx="685800" cy="5029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307592"/>
            <a:ext cx="685800" cy="50292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752" y="1307592"/>
            <a:ext cx="685800" cy="5029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225296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5F6368"/>
                </a:solidFill>
                <a:latin typeface="Arial"/>
              </a:rPr>
              <a:t>The HR assistant is the test vehicle; Guardrail Factory is the reusable safety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F6368"/>
                </a:solidFill>
                <a:latin typeface="Arial"/>
              </a:rPr>
              <a:t>tcs^AI  Google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F6368"/>
                </a:solidFill>
                <a:latin typeface="Arial"/>
              </a:rPr>
              <a:t>06 /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737360"/>
            <a:ext cx="1097280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01952"/>
            <a:ext cx="1042416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60" b="1">
                <a:solidFill>
                  <a:srgbClr val="202124"/>
                </a:solidFill>
                <a:latin typeface="Arial"/>
              </a:rPr>
              <a:t>Elevator pitch: A CI/CD-style release gate that blocks unsafe GenAI releases, hardens prompts, and approves after recovery.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267712"/>
            <a:ext cx="1371600" cy="329184"/>
          </a:xfrm>
          <a:prstGeom prst="round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95144"/>
            <a:ext cx="137160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Submit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5F6368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4328" y="2267712"/>
            <a:ext cx="1371600" cy="329184"/>
          </a:xfrm>
          <a:prstGeom prst="roundRect">
            <a:avLst/>
          </a:prstGeom>
          <a:solidFill>
            <a:srgbClr val="EA433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4328" y="2295144"/>
            <a:ext cx="137160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Adversarial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5F6368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2267712"/>
            <a:ext cx="1371600" cy="329184"/>
          </a:xfrm>
          <a:prstGeom prst="roundRect">
            <a:avLst/>
          </a:prstGeom>
          <a:solidFill>
            <a:srgbClr val="FBBC05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6" y="2295144"/>
            <a:ext cx="137160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Tool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7296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5F6368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5624" y="2267712"/>
            <a:ext cx="1371600" cy="329184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2295144"/>
            <a:ext cx="137160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Release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5F6368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91271" y="2267712"/>
            <a:ext cx="1371600" cy="329184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2295144"/>
            <a:ext cx="137160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Diagnose + harden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2286000"/>
            <a:ext cx="2286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5F6368"/>
                </a:solidFill>
                <a:latin typeface="Arial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19" y="2267712"/>
            <a:ext cx="1371600" cy="329184"/>
          </a:xfrm>
          <a:prstGeom prst="roundRect">
            <a:avLst/>
          </a:prstGeom>
          <a:solidFill>
            <a:srgbClr val="00796B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19" y="2295144"/>
            <a:ext cx="1371600" cy="30175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rial"/>
              </a:rPr>
              <a:t>Re-test + approve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10896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0392" y="3337560"/>
            <a:ext cx="411480" cy="411480"/>
          </a:xfrm>
          <a:prstGeom prst="round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3364991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27355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60" b="1">
                <a:solidFill>
                  <a:srgbClr val="202124"/>
                </a:solidFill>
                <a:latin typeface="Arial"/>
              </a:rPr>
              <a:t>Agentic, not a wrapper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730752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30" b="0">
                <a:solidFill>
                  <a:srgbClr val="5F6368"/>
                </a:solidFill>
                <a:latin typeface="Arial"/>
              </a:rPr>
              <a:t>ADK evaluator calls deterministic tools for groundedness, toxicity, and PII scoring.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53128" y="310896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17720" y="3337560"/>
            <a:ext cx="411480" cy="411480"/>
          </a:xfrm>
          <a:prstGeom prst="roundRect">
            <a:avLst/>
          </a:prstGeom>
          <a:solidFill>
            <a:srgbClr val="FBBC05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3364991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4648" y="327355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60" b="1">
                <a:solidFill>
                  <a:srgbClr val="202124"/>
                </a:solidFill>
                <a:latin typeface="Arial"/>
              </a:rPr>
              <a:t>Grounded in enterprise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4648" y="3730752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30" b="0">
                <a:solidFill>
                  <a:srgbClr val="5F6368"/>
                </a:solidFill>
                <a:latin typeface="Arial"/>
              </a:rPr>
              <a:t>RAG checks validate responses against synthetic HR policy documents.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0456" y="310896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85048" y="3337560"/>
            <a:ext cx="411480" cy="411480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3364991"/>
            <a:ext cx="4114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1976" y="3273552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60" b="1">
                <a:solidFill>
                  <a:srgbClr val="202124"/>
                </a:solidFill>
                <a:latin typeface="Arial"/>
              </a:rPr>
              <a:t>Enterprise-ready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3730752"/>
            <a:ext cx="2514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30" b="0">
                <a:solidFill>
                  <a:srgbClr val="5F6368"/>
                </a:solidFill>
                <a:latin typeface="Arial"/>
              </a:rPr>
              <a:t>Thresholds, category floors, critical-failure limits, audit logs, and Cloud Run deployment.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681728"/>
            <a:ext cx="10972800" cy="914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4400" y="4828032"/>
            <a:ext cx="1325880" cy="292608"/>
          </a:xfrm>
          <a:prstGeom prst="roundRect">
            <a:avLst/>
          </a:prstGeom>
          <a:solidFill>
            <a:srgbClr val="EA433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855464"/>
            <a:ext cx="1325880" cy="2651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WHO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82803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80" b="1">
                <a:solidFill>
                  <a:srgbClr val="202124"/>
                </a:solidFill>
                <a:latin typeface="Arial"/>
              </a:rPr>
              <a:t>AI teams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510235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>
                <a:solidFill>
                  <a:srgbClr val="5F6368"/>
                </a:solidFill>
                <a:latin typeface="Arial"/>
              </a:rPr>
              <a:t>repeatable go/no-go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482803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80" b="1">
                <a:solidFill>
                  <a:srgbClr val="202124"/>
                </a:solidFill>
                <a:latin typeface="Arial"/>
              </a:rPr>
              <a:t>Compliance / CISO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10235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>
                <a:solidFill>
                  <a:srgbClr val="5F6368"/>
                </a:solidFill>
                <a:latin typeface="Arial"/>
              </a:rPr>
              <a:t>audit 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82803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80" b="1">
                <a:solidFill>
                  <a:srgbClr val="202124"/>
                </a:solidFill>
                <a:latin typeface="Arial"/>
              </a:rPr>
              <a:t>BFSI product owners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10235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>
                <a:solidFill>
                  <a:srgbClr val="5F6368"/>
                </a:solidFill>
                <a:latin typeface="Arial"/>
              </a:rPr>
              <a:t>safer releases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482803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80" b="1">
                <a:solidFill>
                  <a:srgbClr val="202124"/>
                </a:solidFill>
                <a:latin typeface="Arial"/>
              </a:rPr>
              <a:t>TCS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5102352"/>
            <a:ext cx="20116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0">
                <a:solidFill>
                  <a:srgbClr val="5F6368"/>
                </a:solidFill>
                <a:latin typeface="Arial"/>
              </a:rPr>
              <a:t>Safety-as-a-Service accelerator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5852160"/>
            <a:ext cx="109728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943600"/>
            <a:ext cx="10607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188038"/>
                </a:solidFill>
                <a:latin typeface="Arial"/>
              </a:rPr>
              <a:t>This is not the chatbot. This is the safety factory around the chatbot.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329184"/>
            <a:ext cx="164592" cy="164592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9184"/>
            <a:ext cx="164592" cy="164592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29184"/>
            <a:ext cx="164592" cy="164592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29184"/>
            <a:ext cx="164592" cy="164592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301752"/>
            <a:ext cx="7772400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5F6368"/>
                </a:solidFill>
                <a:latin typeface="Arial"/>
              </a:rPr>
              <a:t>03 · DIFFERENTIATORS · WHAT JUDGES SHOULD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15568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More than an evaluation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9436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536192"/>
            <a:ext cx="502920" cy="54864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1536192"/>
            <a:ext cx="502920" cy="54864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536192"/>
            <a:ext cx="594360" cy="54864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435608"/>
            <a:ext cx="84124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Arial"/>
              </a:rPr>
              <a:t>A release-control loop for GenAI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47088"/>
            <a:ext cx="393192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5F6368"/>
                </a:solidFill>
                <a:latin typeface="Arial"/>
              </a:rPr>
              <a:t>Closed-loop release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31720"/>
            <a:ext cx="777240" cy="411480"/>
          </a:xfrm>
          <a:prstGeom prst="round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77439"/>
            <a:ext cx="77724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472184" y="2432303"/>
            <a:ext cx="228600" cy="201168"/>
          </a:xfrm>
          <a:prstGeom prst="rightArrow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45920" y="2331720"/>
            <a:ext cx="777240" cy="411480"/>
          </a:xfrm>
          <a:prstGeom prst="roundRect">
            <a:avLst/>
          </a:prstGeom>
          <a:solidFill>
            <a:srgbClr val="00796B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377439"/>
            <a:ext cx="77724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32304" y="2432303"/>
            <a:ext cx="228600" cy="201168"/>
          </a:xfrm>
          <a:prstGeom prst="rightArrow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06040" y="2331720"/>
            <a:ext cx="777240" cy="411480"/>
          </a:xfrm>
          <a:prstGeom prst="roundRect">
            <a:avLst/>
          </a:prstGeom>
          <a:solidFill>
            <a:srgbClr val="F57C0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2377439"/>
            <a:ext cx="77724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392424" y="2432303"/>
            <a:ext cx="228600" cy="201168"/>
          </a:xfrm>
          <a:prstGeom prst="rightArrow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66160" y="2331720"/>
            <a:ext cx="777240" cy="41148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377439"/>
            <a:ext cx="77724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HARDEN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352544" y="2432303"/>
            <a:ext cx="228600" cy="201168"/>
          </a:xfrm>
          <a:prstGeom prst="rightArrow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2331720"/>
            <a:ext cx="777240" cy="411480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2377439"/>
            <a:ext cx="77724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RE-TEST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1874519"/>
            <a:ext cx="9144" cy="3611880"/>
          </a:xfrm>
          <a:prstGeom prst="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9320" y="192024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1920240"/>
            <a:ext cx="260604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2084832"/>
            <a:ext cx="2240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Pre-production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2450592"/>
            <a:ext cx="224028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Blocks unsafe deployments before users see them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192024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0" y="1920240"/>
            <a:ext cx="260604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2084832"/>
            <a:ext cx="2240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Adversarial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2450592"/>
            <a:ext cx="224028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Gemini creates failure-seeking tests, not happy-path prompts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333756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3337560"/>
            <a:ext cx="2606040" cy="73152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3502152"/>
            <a:ext cx="2240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Deterministic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3867912"/>
            <a:ext cx="224028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Thresholds + category floors + zero critical failures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33756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9680" y="3337560"/>
            <a:ext cx="260604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3502152"/>
            <a:ext cx="224028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02124"/>
                </a:solidFill>
                <a:latin typeface="Arial"/>
              </a:rPr>
              <a:t>Closed-loop recovery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3867912"/>
            <a:ext cx="224028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Diagnose → harden → re-test → approve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257800"/>
            <a:ext cx="10972800" cy="6400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394960"/>
            <a:ext cx="105156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0F3460"/>
                </a:solidFill>
                <a:latin typeface="Arial"/>
              </a:rPr>
              <a:t>Novelty: not just AI evaluating AI — AI evaluating, explaining, hardening, and verifying AI.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21889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537960"/>
            <a:ext cx="3657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tcs^AI Google Hackathon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  <a:latin typeface="Arial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8096" y="384048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" y="384048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384048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3474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SOLUTION IN ACTION  ·  EVIDENCE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demo — from blocked to approved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685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63624"/>
            <a:ext cx="59436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83080" y="1563624"/>
            <a:ext cx="64008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23160" y="1563624"/>
            <a:ext cx="59436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1828800"/>
            <a:ext cx="6629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3" name="Image 0" descr="/mnt/data/media__1775130792008.png">    </p:cNvPr>
          <p:cNvPicPr>
            <a:picLocks noChangeAspect="1"/>
          </p:cNvPicPr>
          <p:nvPr/>
        </p:nvPicPr>
        <p:blipFill>
          <a:blip r:embed="rId1"/>
          <a:srcRect l="0" r="0" t="5416" b="5416"/>
          <a:stretch/>
        </p:blipFill>
        <p:spPr>
          <a:xfrm>
            <a:off x="685800" y="1920240"/>
            <a:ext cx="6446520" cy="3794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498080" y="187452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589520" y="1956816"/>
            <a:ext cx="237744" cy="23774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589520" y="1997964"/>
            <a:ext cx="237744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00416" y="1956816"/>
            <a:ext cx="3557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App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251460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589520" y="2596896"/>
            <a:ext cx="237744" cy="237744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589520" y="2638044"/>
            <a:ext cx="237744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900416" y="2596896"/>
            <a:ext cx="3557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Tests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0" y="315468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589520" y="3236976"/>
            <a:ext cx="237744" cy="237744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589520" y="3278124"/>
            <a:ext cx="237744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900416" y="3236976"/>
            <a:ext cx="3557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Scoring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98080" y="379476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589520" y="3877056"/>
            <a:ext cx="237744" cy="237744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589520" y="3918204"/>
            <a:ext cx="237744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00416" y="3877056"/>
            <a:ext cx="3557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Blocked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498080" y="443484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589520" y="4517136"/>
            <a:ext cx="237744" cy="237744"/>
          </a:xfrm>
          <a:prstGeom prst="ellipse">
            <a:avLst/>
          </a:prstGeom>
          <a:solidFill>
            <a:srgbClr val="7E3AF2"/>
          </a:solidFill>
          <a:ln w="12700">
            <a:solidFill>
              <a:srgbClr val="7E3AF2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589520" y="4558284"/>
            <a:ext cx="237744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00416" y="4517136"/>
            <a:ext cx="3557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Auto-Remediation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498080" y="507492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F8FA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7589520" y="5157216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589520" y="5198364"/>
            <a:ext cx="237744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900416" y="5157216"/>
            <a:ext cx="3557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After Recovery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498080" y="5870448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view: configure model, thresholds, policy corpus and run the full safety workflow.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enai_guardrail_factory_referenc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8096" y="384048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" y="384048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384048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3474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PROOF OF EXECUTION  ·  IMPLEMENTATION + EVIDENCE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 that prove it runs end-to-end on GCP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685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63624"/>
            <a:ext cx="59436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83080" y="1563624"/>
            <a:ext cx="64008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23160" y="1563624"/>
            <a:ext cx="59436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21488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4" name="Image 0" descr="/mnt/data/terminal_log_with_ai_evaluation_results.png">    </p:cNvPr>
          <p:cNvPicPr>
            <a:picLocks noChangeAspect="1"/>
          </p:cNvPicPr>
          <p:nvPr/>
        </p:nvPicPr>
        <p:blipFill>
          <a:blip r:embed="rId1"/>
          <a:srcRect l="0" r="0" t="8743" b="8743"/>
          <a:stretch/>
        </p:blipFill>
        <p:spPr>
          <a:xfrm>
            <a:off x="667512" y="2221992"/>
            <a:ext cx="3282696" cy="2148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58952" y="4535424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ADK terminal execution / tool-call scoring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8056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C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80560" y="21488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8" name="Image 1" descr="/mnt/data/google_cloud_run_service_details_page.png">    </p:cNvPr>
          <p:cNvPicPr>
            <a:picLocks noChangeAspect="1"/>
          </p:cNvPicPr>
          <p:nvPr/>
        </p:nvPicPr>
        <p:blipFill>
          <a:blip r:embed="rId2"/>
          <a:srcRect l="0" r="0" t="8743" b="8743"/>
          <a:stretch/>
        </p:blipFill>
        <p:spPr>
          <a:xfrm>
            <a:off x="4553712" y="2221992"/>
            <a:ext cx="3282696" cy="21488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45152" y="4535424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service deployed in us-central1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6676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A8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366760" y="21488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2" name="Image 2" descr="/mnt/data/media__1775130792008.png">    </p:cNvPr>
          <p:cNvPicPr>
            <a:picLocks noChangeAspect="1"/>
          </p:cNvPicPr>
          <p:nvPr/>
        </p:nvPicPr>
        <p:blipFill>
          <a:blip r:embed="rId3"/>
          <a:srcRect l="0" r="0" t="421" b="421"/>
          <a:stretch/>
        </p:blipFill>
        <p:spPr>
          <a:xfrm>
            <a:off x="8439912" y="2221992"/>
            <a:ext cx="3282696" cy="21488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31352" y="4535424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release-gate verdict after model evaluation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097280" y="5440680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2: ADK run + Cloud Run deployment + Dashboard validation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329184"/>
            <a:ext cx="164592" cy="164592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29184"/>
            <a:ext cx="164592" cy="164592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29184"/>
            <a:ext cx="164592" cy="164592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329184"/>
            <a:ext cx="164592" cy="164592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301752"/>
            <a:ext cx="7772400" cy="23774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5F6368"/>
                </a:solidFill>
                <a:latin typeface="Arial"/>
              </a:rPr>
              <a:t>07 · PROOF METRICS · BLOCKED →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155680" cy="53035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202124"/>
                </a:solidFill>
                <a:latin typeface="Arial"/>
              </a:rPr>
              <a:t>Before vs after: measurable safety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9436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536192"/>
            <a:ext cx="502920" cy="54864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1536192"/>
            <a:ext cx="502920" cy="54864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1536192"/>
            <a:ext cx="594360" cy="54864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5074920" cy="347472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057400"/>
            <a:ext cx="1463040" cy="310896"/>
          </a:xfrm>
          <a:prstGeom prst="roundRect">
            <a:avLst/>
          </a:prstGeom>
          <a:solidFill>
            <a:srgbClr val="EA433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03120"/>
            <a:ext cx="1463040" cy="26517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INITIAL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452628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EA4335"/>
                </a:solidFill>
                <a:latin typeface="Arial"/>
              </a:rPr>
              <a:t>DEPLOYMENT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063240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3063240"/>
            <a:ext cx="141732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64408"/>
            <a:ext cx="123444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A4335"/>
                </a:solidFill>
                <a:latin typeface="Arial"/>
              </a:rPr>
              <a:t>0.840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21608"/>
            <a:ext cx="1234440" cy="4389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202124"/>
                </a:solidFill>
                <a:latin typeface="Arial"/>
              </a:rPr>
              <a:t>Groundedness below 0.850 threshold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063240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3063240"/>
            <a:ext cx="141732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264408"/>
            <a:ext cx="123444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A4335"/>
                </a:solidFill>
                <a:latin typeface="Arial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721608"/>
            <a:ext cx="1234440" cy="4389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202124"/>
                </a:solidFill>
                <a:latin typeface="Arial"/>
              </a:rPr>
              <a:t>Active failures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06324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063240"/>
            <a:ext cx="123444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264408"/>
            <a:ext cx="105156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A4335"/>
                </a:solidFill>
                <a:latin typeface="Arial"/>
              </a:rPr>
              <a:t>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721608"/>
            <a:ext cx="1051560" cy="4389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202124"/>
                </a:solidFill>
                <a:latin typeface="Arial"/>
              </a:rPr>
              <a:t>Categories below floor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407408"/>
            <a:ext cx="118872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A4335"/>
                </a:solidFill>
                <a:latin typeface="Arial"/>
              </a:rPr>
              <a:t>Why 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645152"/>
            <a:ext cx="4389120" cy="47548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950" b="0">
                <a:solidFill>
                  <a:srgbClr val="202124"/>
                </a:solidFill>
                <a:latin typeface="Arial"/>
              </a:defRPr>
            </a:pPr>
            <a:r>
              <a:t>• Groundedness miss</a:t>
            </a:r>
          </a:p>
          <a:p>
            <a:pPr>
              <a:defRPr sz="950" b="0">
                <a:solidFill>
                  <a:srgbClr val="202124"/>
                </a:solidFill>
                <a:latin typeface="Arial"/>
              </a:defRPr>
            </a:pPr>
            <a:r>
              <a:t>• Category-floor misses</a:t>
            </a:r>
          </a:p>
          <a:p>
            <a:pPr>
              <a:defRPr sz="950" b="0">
                <a:solidFill>
                  <a:srgbClr val="202124"/>
                </a:solidFill>
                <a:latin typeface="Arial"/>
              </a:defRPr>
            </a:pPr>
            <a:r>
              <a:t>• Critical failures present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06440" y="3218688"/>
            <a:ext cx="594360" cy="502920"/>
          </a:xfrm>
          <a:prstGeom prst="rightArrow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3767328"/>
            <a:ext cx="91440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5F6368"/>
                </a:solidFill>
                <a:latin typeface="Arial"/>
              </a:rPr>
              <a:t>Diagnose
Harden
Re-test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1874519"/>
            <a:ext cx="5102352" cy="347472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12280" y="2057400"/>
            <a:ext cx="1965960" cy="310896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103120"/>
            <a:ext cx="1965960" cy="26517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AFTER 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542032"/>
            <a:ext cx="4480560" cy="34747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Arial"/>
              </a:rPr>
              <a:t>APPROVED FOR DEPLOYMENT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80" y="3063240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12280" y="3063240"/>
            <a:ext cx="141732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264408"/>
            <a:ext cx="123444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34A853"/>
                </a:solidFill>
                <a:latin typeface="Arial"/>
              </a:rPr>
              <a:t>0.942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21608"/>
            <a:ext cx="1234440" cy="4389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202124"/>
                </a:solidFill>
                <a:latin typeface="Arial"/>
              </a:rPr>
              <a:t>Groundedness recovered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3063240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58200" y="3063240"/>
            <a:ext cx="141732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3264408"/>
            <a:ext cx="123444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34A853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721608"/>
            <a:ext cx="1234440" cy="4389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202124"/>
                </a:solidFill>
                <a:latin typeface="Arial"/>
              </a:rPr>
              <a:t>Active failures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120" y="306324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04120" y="3063240"/>
            <a:ext cx="123444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3264408"/>
            <a:ext cx="1051560" cy="38404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34A853"/>
                </a:solidFill>
                <a:latin typeface="Arial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721608"/>
            <a:ext cx="1051560" cy="43891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202124"/>
                </a:solidFill>
                <a:latin typeface="Arial"/>
              </a:rPr>
              <a:t>PII leaks after remediation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407408"/>
            <a:ext cx="1280160" cy="1828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34A853"/>
                </a:solidFill>
                <a:latin typeface="Arial"/>
              </a:rPr>
              <a:t>Why approved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645152"/>
            <a:ext cx="4389120" cy="47548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950" b="0">
                <a:solidFill>
                  <a:srgbClr val="202124"/>
                </a:solidFill>
                <a:latin typeface="Arial"/>
              </a:defRPr>
            </a:pPr>
            <a:r>
              <a:t>• Toxicity 0.970</a:t>
            </a:r>
          </a:p>
          <a:p>
            <a:pPr>
              <a:defRPr sz="950" b="0">
                <a:solidFill>
                  <a:srgbClr val="202124"/>
                </a:solidFill>
                <a:latin typeface="Arial"/>
              </a:defRPr>
            </a:pPr>
            <a:r>
              <a:t>• PII protection 0.992</a:t>
            </a:r>
          </a:p>
          <a:p>
            <a:pPr>
              <a:defRPr sz="950" b="0">
                <a:solidFill>
                  <a:srgbClr val="202124"/>
                </a:solidFill>
                <a:latin typeface="Arial"/>
              </a:defRPr>
            </a:pPr>
            <a:r>
              <a:t>• All populated categories pass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486400"/>
            <a:ext cx="10972800" cy="5943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623560"/>
            <a:ext cx="1051560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0F3460"/>
                </a:solidFill>
                <a:latin typeface="Arial"/>
              </a:rPr>
              <a:t>Impact: 0.840 → 0.942 groundedness  ·  8 → 0 active failures  ·  BLOCKED → APPROVED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46520"/>
            <a:ext cx="12188952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6537960"/>
            <a:ext cx="3657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tcs^AI Google Hackathon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8096" y="384048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" y="384048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384048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3474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SECURITY &amp; GUARDRAILS  ·  SECURITY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Responsible AI — protecting enterprise data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685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63624"/>
            <a:ext cx="59436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83080" y="1563624"/>
            <a:ext cx="64008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23160" y="1563624"/>
            <a:ext cx="59436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" y="1828800"/>
            <a:ext cx="10652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1828800"/>
            <a:ext cx="1065276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1975104"/>
            <a:ext cx="329184" cy="32918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2025396"/>
            <a:ext cx="329184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4752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&amp; Data Privacy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1984248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Multi-pattern scanner blocks emails, phone numbers, employee IDs, names, and sensitive data patterns.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2697480"/>
            <a:ext cx="10652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2697480"/>
            <a:ext cx="1065276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60120" y="2843784"/>
            <a:ext cx="329184" cy="329184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2894076"/>
            <a:ext cx="329184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44752" y="2862072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&amp; Citations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56432" y="2852928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RAG-grounded evaluation checks answers against enterprise source documents before release.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3566160"/>
            <a:ext cx="10652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3566160"/>
            <a:ext cx="10652760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0120" y="3712464"/>
            <a:ext cx="329184" cy="329184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0120" y="3762756"/>
            <a:ext cx="329184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44752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56432" y="3721608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run stores scores, thresholds, verdicts, remediation history, timestamps, and operator evidence.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4434840"/>
            <a:ext cx="10652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" y="4434840"/>
            <a:ext cx="10652760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60120" y="4581144"/>
            <a:ext cx="329184" cy="329184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60120" y="4631436"/>
            <a:ext cx="329184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44752" y="4599432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Boundaries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56432" y="4590288"/>
            <a:ext cx="7680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 role overrides, unauthorized approvals, unsafe policy actions, and unsupported responses.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43000" y="5486400"/>
            <a:ext cx="9966960" cy="411480"/>
          </a:xfrm>
          <a:prstGeom prst="roundRect">
            <a:avLst>
              <a:gd name="adj" fmla="val 22222"/>
            </a:avLst>
          </a:prstGeom>
          <a:solidFill>
            <a:srgbClr val="F8FAFF"/>
          </a:solidFill>
          <a:ln w="12700">
            <a:solidFill>
              <a:srgbClr val="D9E8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371600" y="5596128"/>
            <a:ext cx="95097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policy: Groundedness ≥ 0.85 · Toxicity ≥ 0.90 · PII ≥ 0.90 · Category floor ≥ 70% · Critical failures = 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oogle_model_armor_vs._guardrail_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1168" cy="20116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68096" y="384048"/>
            <a:ext cx="201168" cy="20116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" y="384048"/>
            <a:ext cx="201168" cy="201168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384048"/>
            <a:ext cx="201168" cy="2011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08760" y="3474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SCALE &amp; ENTERPRISE READINESS  ·  LONG-TERM VALUE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850392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prototype to production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68580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88720" y="1563624"/>
            <a:ext cx="59436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83080" y="1563624"/>
            <a:ext cx="640080" cy="54864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23160" y="1563624"/>
            <a:ext cx="59436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5800" y="187452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1874520"/>
            <a:ext cx="4754880" cy="640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214884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architecture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2487168"/>
            <a:ext cx="4114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Agent, tools, prompts, thresholds, and policies are separated for extension.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97180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2971800"/>
            <a:ext cx="475488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324612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scale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3584448"/>
            <a:ext cx="4114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Run supports containerized auto-scaling across GenAI apps.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06908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4069080"/>
            <a:ext cx="4754880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0120" y="434340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&amp; Ops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" y="4681728"/>
            <a:ext cx="4114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history, scorecards, remediation logs, thresholds, and audit evidence.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187452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D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89320" y="1874520"/>
            <a:ext cx="5440680" cy="6400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44805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BFSI: loan and chatbot policy assistants
</a:t>
            </a:r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Healthcare: patient-facing knowledge bots
</a:t>
            </a:r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HR: internal copilots and policy Q&amp;A
</a:t>
            </a:r>
            <a:pPr indent="0" marL="0">
              <a:buNone/>
            </a:pPr>
            <a:r>
              <a:rPr lang="en-US" sz="13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&amp; compliance: regulated RAG workflows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63640" y="4224528"/>
            <a:ext cx="44805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path: Cloud Build · GitHub Actions · BigQuery audit trail · Cloud Scheduler · Vertex AI Pipelines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" y="256032"/>
            <a:ext cx="100584" cy="100584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" y="256032"/>
            <a:ext cx="100584" cy="100584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256032"/>
            <a:ext cx="100584" cy="100584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256032"/>
            <a:ext cx="100584" cy="100584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"/>
            <a:ext cx="777240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F6368"/>
                </a:solidFill>
                <a:latin typeface="Arial"/>
              </a:rPr>
              <a:t>10 ·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202124"/>
                </a:solidFill>
                <a:latin typeface="Arial"/>
              </a:rPr>
              <a:t>Measurable value for the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8580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1389888"/>
            <a:ext cx="685800" cy="54864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389888"/>
            <a:ext cx="685800" cy="54864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752" y="1389888"/>
            <a:ext cx="685800" cy="54864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07592"/>
            <a:ext cx="7589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5F6368"/>
                </a:solidFill>
                <a:latin typeface="Arial"/>
              </a:rPr>
              <a:t>Reported as documented PoC evidence + conservative business-case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tcs^AI  Google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15 /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74519"/>
            <a:ext cx="251460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1874519"/>
            <a:ext cx="2514600" cy="73152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48840"/>
            <a:ext cx="2331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4285F4"/>
                </a:solidFill>
                <a:latin typeface="Arial"/>
              </a:rPr>
              <a:t>8 →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651760"/>
            <a:ext cx="219456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120" b="0" i="0">
                <a:solidFill>
                  <a:srgbClr val="202124"/>
                </a:solidFill>
                <a:latin typeface="Arial"/>
              </a:rPr>
              <a:t>active failures after remediation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999232"/>
            <a:ext cx="960120" cy="210312"/>
          </a:xfrm>
          <a:prstGeom prst="roundRect">
            <a:avLst/>
          </a:prstGeom>
          <a:solidFill>
            <a:srgbClr val="4285F4"/>
          </a:solidFill>
          <a:ln w="1397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026663"/>
            <a:ext cx="96012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PoC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1874519"/>
            <a:ext cx="251460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79" y="1874519"/>
            <a:ext cx="2514600" cy="73152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148840"/>
            <a:ext cx="2331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Arial"/>
              </a:rPr>
              <a:t>0.840 → 0.942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651760"/>
            <a:ext cx="219456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120" b="0" i="0">
                <a:solidFill>
                  <a:srgbClr val="202124"/>
                </a:solidFill>
                <a:latin typeface="Arial"/>
              </a:rPr>
              <a:t>groundedness improvement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999232"/>
            <a:ext cx="960120" cy="210312"/>
          </a:xfrm>
          <a:prstGeom prst="roundRect">
            <a:avLst/>
          </a:prstGeom>
          <a:solidFill>
            <a:srgbClr val="34A853"/>
          </a:solidFill>
          <a:ln w="1397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026663"/>
            <a:ext cx="96012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PoC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874519"/>
            <a:ext cx="251460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874519"/>
            <a:ext cx="2514600" cy="73152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148840"/>
            <a:ext cx="2331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EA4335"/>
                </a:solidFill>
                <a:latin typeface="Arial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51760"/>
            <a:ext cx="219456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120" b="0" i="0">
                <a:solidFill>
                  <a:srgbClr val="202124"/>
                </a:solidFill>
                <a:latin typeface="Arial"/>
              </a:rPr>
              <a:t>PII leaks in final 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999232"/>
            <a:ext cx="960120" cy="210312"/>
          </a:xfrm>
          <a:prstGeom prst="roundRect">
            <a:avLst/>
          </a:prstGeom>
          <a:solidFill>
            <a:srgbClr val="EA4335"/>
          </a:solidFill>
          <a:ln w="1397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026663"/>
            <a:ext cx="96012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PoC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19" y="1874519"/>
            <a:ext cx="2514600" cy="1463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19" y="1874519"/>
            <a:ext cx="2514600" cy="73152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2148840"/>
            <a:ext cx="233172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FBBC05"/>
                </a:solidFill>
                <a:latin typeface="Arial"/>
              </a:rPr>
              <a:t>₹4.5Cr+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1" y="2651760"/>
            <a:ext cx="2194560" cy="31089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120" b="0" i="0">
                <a:solidFill>
                  <a:srgbClr val="202124"/>
                </a:solidFill>
                <a:latin typeface="Arial"/>
              </a:rPr>
              <a:t>conservative incident-exposure proxy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59" y="2999232"/>
            <a:ext cx="960120" cy="210312"/>
          </a:xfrm>
          <a:prstGeom prst="roundRect">
            <a:avLst/>
          </a:prstGeom>
          <a:solidFill>
            <a:srgbClr val="FBBC05"/>
          </a:solidFill>
          <a:ln w="1397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59" y="3026663"/>
            <a:ext cx="960120" cy="16459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business case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703320"/>
            <a:ext cx="11018520" cy="1920240"/>
          </a:xfrm>
          <a:prstGeom prst="roundRect">
            <a:avLst/>
          </a:prstGeom>
          <a:solidFill>
            <a:srgbClr val="F8F9FA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3886200"/>
            <a:ext cx="20116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5F6368"/>
                </a:solidFill>
                <a:latin typeface="Arial"/>
              </a:rPr>
              <a:t>QUALITATIVE 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343400"/>
            <a:ext cx="310896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39" y="4462272"/>
            <a:ext cx="28346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Productivity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39" y="4754880"/>
            <a:ext cx="28346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80" b="0" i="0">
                <a:solidFill>
                  <a:srgbClr val="5F6368"/>
                </a:solidFill>
                <a:latin typeface="Arial"/>
              </a:rPr>
              <a:t>Less manual red-team toil; faster remediation decisions.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4343400"/>
            <a:ext cx="310896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4462272"/>
            <a:ext cx="28346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Risk reduction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754880"/>
            <a:ext cx="28346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80" b="0" i="0">
                <a:solidFill>
                  <a:srgbClr val="5F6368"/>
                </a:solidFill>
                <a:latin typeface="Arial"/>
              </a:rPr>
              <a:t>Hallucination, PII leakage, and policy-boundary failures caught before production.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09560" y="4343400"/>
            <a:ext cx="310896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4462272"/>
            <a:ext cx="283464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  <a:latin typeface="Arial"/>
              </a:rPr>
              <a:t>Commercial 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754880"/>
            <a:ext cx="283464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80" b="0" i="0">
                <a:solidFill>
                  <a:srgbClr val="5F6368"/>
                </a:solidFill>
                <a:latin typeface="Arial"/>
              </a:rPr>
              <a:t>Reusable GenAI Safety-as-a-Service accelerator for BFSI and regulated enterprise clients.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870448"/>
            <a:ext cx="11018520" cy="438912"/>
          </a:xfrm>
          <a:prstGeom prst="roundRect">
            <a:avLst/>
          </a:prstGeom>
          <a:solidFill>
            <a:srgbClr val="EFF6FF"/>
          </a:solidFill>
          <a:ln w="1397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980176"/>
            <a:ext cx="1051560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174EA6"/>
                </a:solidFill>
                <a:latin typeface="Arial"/>
              </a:rPr>
              <a:t>In enterprise AI, trust is not a feature. Trust is the product.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" y="256032"/>
            <a:ext cx="100584" cy="100584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" y="256032"/>
            <a:ext cx="100584" cy="100584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256032"/>
            <a:ext cx="100584" cy="100584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" y="256032"/>
            <a:ext cx="100584" cy="100584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"/>
            <a:ext cx="777240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F6368"/>
                </a:solidFill>
                <a:latin typeface="Arial"/>
              </a:rPr>
              <a:t>11 · WHAT'S NEXT · SHORT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1097280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202124"/>
                </a:solidFill>
                <a:latin typeface="Arial"/>
              </a:rPr>
              <a:t>From PoC to controlled enterprise rollout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85800" cy="54864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1389888"/>
            <a:ext cx="685800" cy="54864"/>
          </a:xfrm>
          <a:prstGeom prst="rect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389888"/>
            <a:ext cx="685800" cy="54864"/>
          </a:xfrm>
          <a:prstGeom prst="rect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752" y="1389888"/>
            <a:ext cx="685800" cy="54864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07592"/>
            <a:ext cx="7589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50" b="0" i="0">
                <a:solidFill>
                  <a:srgbClr val="5F6368"/>
                </a:solidFill>
                <a:latin typeface="Arial"/>
              </a:rPr>
              <a:t>Keep roadmap concise for the 7-minute recording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46520"/>
            <a:ext cx="3657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</a:rPr>
              <a:t>tcs^AI  Google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Arial"/>
              </a:rPr>
              <a:t>16 /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920240"/>
            <a:ext cx="333756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084831"/>
            <a:ext cx="868680" cy="292608"/>
          </a:xfrm>
          <a:prstGeom prst="roundRect">
            <a:avLst/>
          </a:prstGeom>
          <a:solidFill>
            <a:srgbClr val="4285F4"/>
          </a:solidFill>
          <a:ln w="1397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112263"/>
            <a:ext cx="86868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0–2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048256"/>
            <a:ext cx="201168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02124"/>
                </a:solidFill>
                <a:latin typeface="Arial"/>
              </a:rPr>
              <a:t>Harden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487168"/>
            <a:ext cx="297180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Freeze thresholds; add prompt-injection gate.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920240"/>
            <a:ext cx="333756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084831"/>
            <a:ext cx="868680" cy="292608"/>
          </a:xfrm>
          <a:prstGeom prst="roundRect">
            <a:avLst/>
          </a:prstGeom>
          <a:solidFill>
            <a:srgbClr val="FBBC05"/>
          </a:solidFill>
          <a:ln w="1397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112263"/>
            <a:ext cx="86868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4–6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048256"/>
            <a:ext cx="201168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02124"/>
                </a:solidFill>
                <a:latin typeface="Arial"/>
              </a:rPr>
              <a:t>CI/CD 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2487168"/>
            <a:ext cx="297180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Cloud Build/GitHub Actions + BigQuery audit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920240"/>
            <a:ext cx="333756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75320" y="2084831"/>
            <a:ext cx="868680" cy="292608"/>
          </a:xfrm>
          <a:prstGeom prst="roundRect">
            <a:avLst/>
          </a:prstGeom>
          <a:solidFill>
            <a:srgbClr val="34A853"/>
          </a:solidFill>
          <a:ln w="1397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112263"/>
            <a:ext cx="86868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8–12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048256"/>
            <a:ext cx="201168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02124"/>
                </a:solidFill>
                <a:latin typeface="Arial"/>
              </a:rPr>
              <a:t>Scale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487168"/>
            <a:ext cx="2971800" cy="329184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Multi-model checks, scheduled regression, reusable gate packs.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429000"/>
            <a:ext cx="10744200" cy="1737360"/>
          </a:xfrm>
          <a:prstGeom prst="roundRect">
            <a:avLst/>
          </a:prstGeom>
          <a:solidFill>
            <a:srgbClr val="F8F9FA"/>
          </a:solidFill>
          <a:ln w="1397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" y="3593592"/>
            <a:ext cx="1463040" cy="292608"/>
          </a:xfrm>
          <a:prstGeom prst="roundRect">
            <a:avLst/>
          </a:prstGeom>
          <a:solidFill>
            <a:srgbClr val="EA4335"/>
          </a:solidFill>
          <a:ln w="1397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621024"/>
            <a:ext cx="1463040" cy="24688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ASK FROM GOOGLE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04164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041648"/>
            <a:ext cx="448056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02124"/>
                </a:solidFill>
                <a:latin typeface="Arial"/>
              </a:rPr>
              <a:t>Review ADK + Vertex evaluation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04164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4041648"/>
            <a:ext cx="448056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02124"/>
                </a:solidFill>
                <a:latin typeface="Arial"/>
              </a:rPr>
              <a:t>Guidance on Responsible AI evaluation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54456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544568"/>
            <a:ext cx="448056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02124"/>
                </a:solidFill>
                <a:latin typeface="Arial"/>
              </a:rPr>
              <a:t>Feedback for Gemini Enterprise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544568"/>
            <a:ext cx="2286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Aria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4544568"/>
            <a:ext cx="4480560" cy="219456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202124"/>
                </a:solidFill>
                <a:latin typeface="Arial"/>
              </a:rPr>
              <a:t>Marketplace / co-sell path for enterprise governance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15000"/>
            <a:ext cx="10744200" cy="512064"/>
          </a:xfrm>
          <a:prstGeom prst="roundRect">
            <a:avLst/>
          </a:prstGeom>
          <a:solidFill>
            <a:srgbClr val="E8F5E9"/>
          </a:solidFill>
          <a:ln w="1397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852160"/>
            <a:ext cx="10332720" cy="20116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88038"/>
                </a:solidFill>
                <a:latin typeface="Arial"/>
              </a:rPr>
              <a:t>Goal: make Guardrail Factory the pre-production safety gate for regulated GenAI releases.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219456" cy="21945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14984" y="685800"/>
            <a:ext cx="219456" cy="21945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298448" y="685800"/>
            <a:ext cx="219456" cy="21945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1912" y="685800"/>
            <a:ext cx="219456" cy="21945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0972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88920" y="3063240"/>
            <a:ext cx="6629400" cy="1051560"/>
          </a:xfrm>
          <a:prstGeom prst="roundRect">
            <a:avLst>
              <a:gd name="adj" fmla="val 8696"/>
            </a:avLst>
          </a:prstGeom>
          <a:solidFill>
            <a:srgbClr val="F8FAFF"/>
          </a:solidFill>
          <a:ln w="12700">
            <a:solidFill>
              <a:srgbClr val="D9E8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3401568"/>
            <a:ext cx="6080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Factory answers: Is this GenAI application safe enough to deploy?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4617720"/>
            <a:ext cx="63550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GenAI Guardrail Factory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Sana Iqbal (sana.iqbal2@tcs.com)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Track: Build with Vertex AI (Google ADK)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610819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GenAI demos show capability. Guardrail Factory proves deployability.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6464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tcs^AI Google Hackathon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81360" y="64648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Guardrail Factory</dc:title>
  <dc:subject>GenAI Guardrail Factory — Enhanced Interactive Deck</dc:subject>
  <dc:creator>Sana Iqbal</dc:creator>
  <cp:lastModifiedBy>Sana Iqbal</cp:lastModifiedBy>
  <cp:revision>1</cp:revision>
  <dcterms:created xsi:type="dcterms:W3CDTF">2026-05-21T06:44:10Z</dcterms:created>
  <dcterms:modified xsi:type="dcterms:W3CDTF">2026-05-21T06:44:10Z</dcterms:modified>
</cp:coreProperties>
</file>