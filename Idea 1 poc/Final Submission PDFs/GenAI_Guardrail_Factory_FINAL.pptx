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embeddedFontLst>
    <p:embeddedFont>
      <p:font typeface="Play"/>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NLaBcb9BAgdCF5eSJ4Cg7XFtz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20" Type="http://schemas.openxmlformats.org/officeDocument/2006/relationships/font" Target="fonts/Play-regular.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Play-bold.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e448a71adf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g3e448a71adf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g3e448a71adf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2" name="Google Shape;5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9870c59a7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9870c59a7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8" name="Google Shape;59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p:nvPr>
            <p:ph idx="2" type="pic"/>
          </p:nvPr>
        </p:nvSpPr>
        <p:spPr>
          <a:xfrm>
            <a:off x="5183188" y="987425"/>
            <a:ext cx="6172200" cy="4873625"/>
          </a:xfrm>
          <a:prstGeom prst="rect">
            <a:avLst/>
          </a:prstGeom>
          <a:noFill/>
          <a:ln>
            <a:noFill/>
          </a:ln>
        </p:spPr>
      </p:sp>
      <p:sp>
        <p:nvSpPr>
          <p:cNvPr id="69" name="Google Shape;69;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5.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0" y="1"/>
            <a:ext cx="548640" cy="171450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91" name="Google Shape;91;p1"/>
          <p:cNvSpPr/>
          <p:nvPr/>
        </p:nvSpPr>
        <p:spPr>
          <a:xfrm>
            <a:off x="0" y="1714501"/>
            <a:ext cx="548640" cy="171450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92" name="Google Shape;92;p1"/>
          <p:cNvSpPr/>
          <p:nvPr/>
        </p:nvSpPr>
        <p:spPr>
          <a:xfrm>
            <a:off x="0" y="3429001"/>
            <a:ext cx="548640" cy="171450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93" name="Google Shape;93;p1"/>
          <p:cNvSpPr/>
          <p:nvPr/>
        </p:nvSpPr>
        <p:spPr>
          <a:xfrm>
            <a:off x="0" y="5143501"/>
            <a:ext cx="548640" cy="171450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94" name="Google Shape;94;p1"/>
          <p:cNvSpPr/>
          <p:nvPr/>
        </p:nvSpPr>
        <p:spPr>
          <a:xfrm>
            <a:off x="1219200" y="853440"/>
            <a:ext cx="1036320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1" i="0" lang="en-US" sz="1467" u="none" cap="none" strike="noStrike">
                <a:solidFill>
                  <a:srgbClr val="5F6368"/>
                </a:solidFill>
                <a:latin typeface="Arial"/>
                <a:ea typeface="Arial"/>
                <a:cs typeface="Arial"/>
                <a:sym typeface="Arial"/>
              </a:rPr>
              <a:t>TCS^AI  GOOGLE HACKATHON 2026</a:t>
            </a:r>
            <a:endParaRPr b="0" i="0" sz="1467" u="none" cap="none" strike="noStrike">
              <a:solidFill>
                <a:schemeClr val="dk1"/>
              </a:solidFill>
              <a:latin typeface="Arial"/>
              <a:ea typeface="Arial"/>
              <a:cs typeface="Arial"/>
              <a:sym typeface="Arial"/>
            </a:endParaRPr>
          </a:p>
        </p:txBody>
      </p:sp>
      <p:sp>
        <p:nvSpPr>
          <p:cNvPr id="95" name="Google Shape;95;p1"/>
          <p:cNvSpPr/>
          <p:nvPr/>
        </p:nvSpPr>
        <p:spPr>
          <a:xfrm>
            <a:off x="1219200" y="1402080"/>
            <a:ext cx="10363200" cy="1341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300"/>
              <a:buFont typeface="Arial"/>
              <a:buNone/>
            </a:pPr>
            <a:r>
              <a:rPr b="1" i="0" lang="en-US" sz="5300" u="none" cap="none" strike="noStrike">
                <a:solidFill>
                  <a:srgbClr val="202124"/>
                </a:solidFill>
                <a:latin typeface="Arial"/>
                <a:ea typeface="Arial"/>
                <a:cs typeface="Arial"/>
                <a:sym typeface="Arial"/>
              </a:rPr>
              <a:t>GenAI Guardrail Factory</a:t>
            </a:r>
            <a:endParaRPr b="1" i="0" sz="5300" u="none" cap="none" strike="noStrike">
              <a:solidFill>
                <a:srgbClr val="202124"/>
              </a:solidFill>
              <a:latin typeface="Arial"/>
              <a:ea typeface="Arial"/>
              <a:cs typeface="Arial"/>
              <a:sym typeface="Arial"/>
            </a:endParaRPr>
          </a:p>
        </p:txBody>
      </p:sp>
      <p:sp>
        <p:nvSpPr>
          <p:cNvPr id="96" name="Google Shape;96;p1"/>
          <p:cNvSpPr/>
          <p:nvPr/>
        </p:nvSpPr>
        <p:spPr>
          <a:xfrm>
            <a:off x="1219200" y="2743200"/>
            <a:ext cx="103632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3C4043"/>
                </a:solidFill>
                <a:latin typeface="Calibri"/>
                <a:ea typeface="Calibri"/>
                <a:cs typeface="Calibri"/>
                <a:sym typeface="Calibri"/>
              </a:rPr>
              <a:t>A CI/CD style AI-powered release gate that blocks unsafe GenAI deployments before production by adversarial testing, scoring, auto-remediating, and re-validating AI outputs.</a:t>
            </a:r>
            <a:endParaRPr b="0" i="0" sz="2133" u="none" cap="none" strike="noStrike">
              <a:solidFill>
                <a:schemeClr val="dk1"/>
              </a:solidFill>
              <a:latin typeface="Arial"/>
              <a:ea typeface="Arial"/>
              <a:cs typeface="Arial"/>
              <a:sym typeface="Arial"/>
            </a:endParaRPr>
          </a:p>
        </p:txBody>
      </p:sp>
      <p:sp>
        <p:nvSpPr>
          <p:cNvPr id="97" name="Google Shape;97;p1"/>
          <p:cNvSpPr/>
          <p:nvPr/>
        </p:nvSpPr>
        <p:spPr>
          <a:xfrm>
            <a:off x="1219200" y="3718560"/>
            <a:ext cx="4389120" cy="548640"/>
          </a:xfrm>
          <a:prstGeom prst="roundRect">
            <a:avLst>
              <a:gd fmla="val 17778" name="adj"/>
            </a:avLst>
          </a:prstGeom>
          <a:solidFill>
            <a:srgbClr val="F8F9FA"/>
          </a:solidFill>
          <a:ln cap="flat" cmpd="sng" w="9525">
            <a:solidFill>
              <a:srgbClr val="DAD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98" name="Google Shape;98;p1"/>
          <p:cNvSpPr/>
          <p:nvPr/>
        </p:nvSpPr>
        <p:spPr>
          <a:xfrm>
            <a:off x="1402080" y="3901440"/>
            <a:ext cx="182880" cy="182880"/>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99" name="Google Shape;99;p1"/>
          <p:cNvSpPr/>
          <p:nvPr/>
        </p:nvSpPr>
        <p:spPr>
          <a:xfrm>
            <a:off x="1645920" y="3718560"/>
            <a:ext cx="39014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3C4043"/>
                </a:solidFill>
                <a:latin typeface="Arial"/>
                <a:ea typeface="Arial"/>
                <a:cs typeface="Arial"/>
                <a:sym typeface="Arial"/>
              </a:rPr>
              <a:t>Track: Build with Vertex AI (Google ADK)</a:t>
            </a:r>
            <a:endParaRPr b="1" i="0" sz="1450" u="none" cap="none" strike="noStrike">
              <a:solidFill>
                <a:srgbClr val="3C4043"/>
              </a:solidFill>
              <a:latin typeface="Arial"/>
              <a:ea typeface="Arial"/>
              <a:cs typeface="Arial"/>
              <a:sym typeface="Arial"/>
            </a:endParaRPr>
          </a:p>
        </p:txBody>
      </p:sp>
      <p:sp>
        <p:nvSpPr>
          <p:cNvPr id="100" name="Google Shape;100;p1"/>
          <p:cNvSpPr/>
          <p:nvPr/>
        </p:nvSpPr>
        <p:spPr>
          <a:xfrm>
            <a:off x="1219200" y="4511040"/>
            <a:ext cx="10363200" cy="1341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202124"/>
                </a:solidFill>
                <a:latin typeface="Calibri"/>
                <a:ea typeface="Calibri"/>
                <a:cs typeface="Calibri"/>
                <a:sym typeface="Calibri"/>
              </a:rPr>
              <a:t>Team: </a:t>
            </a:r>
            <a:r>
              <a:rPr b="0" i="0" lang="en-US" sz="1700" u="none" cap="none" strike="noStrike">
                <a:solidFill>
                  <a:srgbClr val="3C4043"/>
                </a:solidFill>
                <a:latin typeface="Calibri"/>
                <a:ea typeface="Calibri"/>
                <a:cs typeface="Calibri"/>
                <a:sym typeface="Calibri"/>
              </a:rPr>
              <a:t>GenAI Guardrail Factory</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202124"/>
                </a:solidFill>
                <a:latin typeface="Calibri"/>
                <a:ea typeface="Calibri"/>
                <a:cs typeface="Calibri"/>
                <a:sym typeface="Calibri"/>
              </a:rPr>
              <a:t>Members: </a:t>
            </a:r>
            <a:r>
              <a:rPr b="0" i="0" lang="en-US" sz="1700" u="none" cap="none" strike="noStrike">
                <a:solidFill>
                  <a:srgbClr val="3C4043"/>
                </a:solidFill>
                <a:latin typeface="Calibri"/>
                <a:ea typeface="Calibri"/>
                <a:cs typeface="Calibri"/>
                <a:sym typeface="Calibri"/>
              </a:rPr>
              <a:t>Sana Iqbal</a:t>
            </a: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202124"/>
                </a:solidFill>
                <a:latin typeface="Calibri"/>
                <a:ea typeface="Calibri"/>
                <a:cs typeface="Calibri"/>
                <a:sym typeface="Calibri"/>
              </a:rPr>
              <a:t>Presented to: </a:t>
            </a:r>
            <a:r>
              <a:rPr b="0" i="0" lang="en-US" sz="1700" u="none" cap="none" strike="noStrike">
                <a:solidFill>
                  <a:srgbClr val="3C4043"/>
                </a:solidFill>
                <a:latin typeface="Calibri"/>
                <a:ea typeface="Calibri"/>
                <a:cs typeface="Calibri"/>
                <a:sym typeface="Calibri"/>
              </a:rPr>
              <a:t>Google  |  </a:t>
            </a:r>
            <a:r>
              <a:rPr lang="en-US" sz="1700">
                <a:solidFill>
                  <a:srgbClr val="3C4043"/>
                </a:solidFill>
                <a:latin typeface="Calibri"/>
                <a:ea typeface="Calibri"/>
                <a:cs typeface="Calibri"/>
                <a:sym typeface="Calibri"/>
              </a:rPr>
              <a:t>May</a:t>
            </a:r>
            <a:r>
              <a:rPr b="0" i="0" lang="en-US" sz="1700" u="none" cap="none" strike="noStrike">
                <a:solidFill>
                  <a:srgbClr val="3C4043"/>
                </a:solidFill>
                <a:latin typeface="Calibri"/>
                <a:ea typeface="Calibri"/>
                <a:cs typeface="Calibri"/>
                <a:sym typeface="Calibri"/>
              </a:rPr>
              <a:t> 2026</a:t>
            </a:r>
            <a:endParaRPr b="0" i="0" sz="1700" u="none" cap="none" strike="noStrike">
              <a:solidFill>
                <a:schemeClr val="dk1"/>
              </a:solidFill>
              <a:latin typeface="Calibri"/>
              <a:ea typeface="Calibri"/>
              <a:cs typeface="Calibri"/>
              <a:sym typeface="Calibri"/>
            </a:endParaRPr>
          </a:p>
        </p:txBody>
      </p:sp>
      <p:sp>
        <p:nvSpPr>
          <p:cNvPr id="101" name="Google Shape;101;p1"/>
          <p:cNvSpPr/>
          <p:nvPr/>
        </p:nvSpPr>
        <p:spPr>
          <a:xfrm>
            <a:off x="1219200" y="6217920"/>
            <a:ext cx="97536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Tata Consultancy Services  ·  Cloud, AI and Data</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08" name="Google Shape;108;p2"/>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09" name="Google Shape;109;p2"/>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0" name="Google Shape;110;p2"/>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1" name="Google Shape;111;p2"/>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AGENDA</a:t>
            </a:r>
            <a:endParaRPr b="0" i="0" sz="1333" u="none" cap="none" strike="noStrike">
              <a:solidFill>
                <a:schemeClr val="dk1"/>
              </a:solidFill>
              <a:latin typeface="Arial"/>
              <a:ea typeface="Arial"/>
              <a:cs typeface="Arial"/>
              <a:sym typeface="Arial"/>
            </a:endParaRPr>
          </a:p>
        </p:txBody>
      </p:sp>
      <p:sp>
        <p:nvSpPr>
          <p:cNvPr id="112" name="Google Shape;112;p2"/>
          <p:cNvSpPr/>
          <p:nvPr/>
        </p:nvSpPr>
        <p:spPr>
          <a:xfrm>
            <a:off x="609600" y="792480"/>
            <a:ext cx="414528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i="0" lang="en-US" sz="3467" u="none" cap="none" strike="noStrike">
                <a:solidFill>
                  <a:srgbClr val="202124"/>
                </a:solidFill>
                <a:latin typeface="Arial"/>
                <a:ea typeface="Arial"/>
                <a:cs typeface="Arial"/>
                <a:sym typeface="Arial"/>
              </a:rPr>
              <a:t>What we'll cover</a:t>
            </a:r>
            <a:endParaRPr b="0" i="0" sz="3467" u="none" cap="none" strike="noStrike">
              <a:solidFill>
                <a:schemeClr val="dk1"/>
              </a:solidFill>
              <a:latin typeface="Arial"/>
              <a:ea typeface="Arial"/>
              <a:cs typeface="Arial"/>
              <a:sym typeface="Arial"/>
            </a:endParaRPr>
          </a:p>
        </p:txBody>
      </p:sp>
      <p:sp>
        <p:nvSpPr>
          <p:cNvPr id="113" name="Google Shape;113;p2"/>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4" name="Google Shape;114;p2"/>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5" name="Google Shape;115;p2"/>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6" name="Google Shape;116;p2"/>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7" name="Google Shape;117;p2"/>
          <p:cNvSpPr/>
          <p:nvPr/>
        </p:nvSpPr>
        <p:spPr>
          <a:xfrm>
            <a:off x="417576" y="2072640"/>
            <a:ext cx="3657600" cy="188976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8" name="Google Shape;118;p2"/>
          <p:cNvSpPr/>
          <p:nvPr/>
        </p:nvSpPr>
        <p:spPr>
          <a:xfrm>
            <a:off x="417576" y="2072640"/>
            <a:ext cx="3657600" cy="97536"/>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9" name="Google Shape;119;p2"/>
          <p:cNvSpPr/>
          <p:nvPr/>
        </p:nvSpPr>
        <p:spPr>
          <a:xfrm>
            <a:off x="661416" y="2316480"/>
            <a:ext cx="97536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4285F4"/>
                </a:solidFill>
                <a:latin typeface="Arial"/>
                <a:ea typeface="Arial"/>
                <a:cs typeface="Arial"/>
                <a:sym typeface="Arial"/>
              </a:rPr>
              <a:t>01</a:t>
            </a:r>
            <a:endParaRPr b="0" i="0" sz="3200" u="none" cap="none" strike="noStrike">
              <a:solidFill>
                <a:schemeClr val="dk1"/>
              </a:solidFill>
              <a:latin typeface="Arial"/>
              <a:ea typeface="Arial"/>
              <a:cs typeface="Arial"/>
              <a:sym typeface="Arial"/>
            </a:endParaRPr>
          </a:p>
        </p:txBody>
      </p:sp>
      <p:sp>
        <p:nvSpPr>
          <p:cNvPr id="120" name="Google Shape;120;p2"/>
          <p:cNvSpPr/>
          <p:nvPr/>
        </p:nvSpPr>
        <p:spPr>
          <a:xfrm>
            <a:off x="661416" y="2865120"/>
            <a:ext cx="316992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Team &amp; Track</a:t>
            </a:r>
            <a:endParaRPr b="0" i="0" sz="1867" u="none" cap="none" strike="noStrike">
              <a:solidFill>
                <a:schemeClr val="dk1"/>
              </a:solidFill>
              <a:latin typeface="Arial"/>
              <a:ea typeface="Arial"/>
              <a:cs typeface="Arial"/>
              <a:sym typeface="Arial"/>
            </a:endParaRPr>
          </a:p>
        </p:txBody>
      </p:sp>
      <p:sp>
        <p:nvSpPr>
          <p:cNvPr id="121" name="Google Shape;121;p2"/>
          <p:cNvSpPr/>
          <p:nvPr/>
        </p:nvSpPr>
        <p:spPr>
          <a:xfrm>
            <a:off x="661416" y="3291840"/>
            <a:ext cx="316992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Who we are and the Google AI track we chose</a:t>
            </a:r>
            <a:endParaRPr b="0" i="0" sz="1333" u="none" cap="none" strike="noStrike">
              <a:solidFill>
                <a:schemeClr val="dk1"/>
              </a:solidFill>
              <a:latin typeface="Arial"/>
              <a:ea typeface="Arial"/>
              <a:cs typeface="Arial"/>
              <a:sym typeface="Arial"/>
            </a:endParaRPr>
          </a:p>
        </p:txBody>
      </p:sp>
      <p:sp>
        <p:nvSpPr>
          <p:cNvPr id="122" name="Google Shape;122;p2"/>
          <p:cNvSpPr/>
          <p:nvPr/>
        </p:nvSpPr>
        <p:spPr>
          <a:xfrm>
            <a:off x="4379976" y="2072640"/>
            <a:ext cx="3657600" cy="188976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3" name="Google Shape;123;p2"/>
          <p:cNvSpPr/>
          <p:nvPr/>
        </p:nvSpPr>
        <p:spPr>
          <a:xfrm>
            <a:off x="4379976" y="2072640"/>
            <a:ext cx="3657600" cy="97536"/>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4" name="Google Shape;124;p2"/>
          <p:cNvSpPr/>
          <p:nvPr/>
        </p:nvSpPr>
        <p:spPr>
          <a:xfrm>
            <a:off x="4623816" y="2316480"/>
            <a:ext cx="97536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EA4335"/>
                </a:solidFill>
                <a:latin typeface="Arial"/>
                <a:ea typeface="Arial"/>
                <a:cs typeface="Arial"/>
                <a:sym typeface="Arial"/>
              </a:rPr>
              <a:t>02</a:t>
            </a:r>
            <a:endParaRPr b="0" i="0" sz="3200" u="none" cap="none" strike="noStrike">
              <a:solidFill>
                <a:schemeClr val="dk1"/>
              </a:solidFill>
              <a:latin typeface="Arial"/>
              <a:ea typeface="Arial"/>
              <a:cs typeface="Arial"/>
              <a:sym typeface="Arial"/>
            </a:endParaRPr>
          </a:p>
        </p:txBody>
      </p:sp>
      <p:sp>
        <p:nvSpPr>
          <p:cNvPr id="125" name="Google Shape;125;p2"/>
          <p:cNvSpPr/>
          <p:nvPr/>
        </p:nvSpPr>
        <p:spPr>
          <a:xfrm>
            <a:off x="4623816" y="2865120"/>
            <a:ext cx="316992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The Problem</a:t>
            </a:r>
            <a:endParaRPr b="0" i="0" sz="1867" u="none" cap="none" strike="noStrike">
              <a:solidFill>
                <a:schemeClr val="dk1"/>
              </a:solidFill>
              <a:latin typeface="Arial"/>
              <a:ea typeface="Arial"/>
              <a:cs typeface="Arial"/>
              <a:sym typeface="Arial"/>
            </a:endParaRPr>
          </a:p>
        </p:txBody>
      </p:sp>
      <p:sp>
        <p:nvSpPr>
          <p:cNvPr id="126" name="Google Shape;126;p2"/>
          <p:cNvSpPr/>
          <p:nvPr/>
        </p:nvSpPr>
        <p:spPr>
          <a:xfrm>
            <a:off x="4623816" y="3291840"/>
            <a:ext cx="316992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The business bottleneck we set out to solve</a:t>
            </a:r>
            <a:endParaRPr b="0" i="0" sz="1333" u="none" cap="none" strike="noStrike">
              <a:solidFill>
                <a:schemeClr val="dk1"/>
              </a:solidFill>
              <a:latin typeface="Arial"/>
              <a:ea typeface="Arial"/>
              <a:cs typeface="Arial"/>
              <a:sym typeface="Arial"/>
            </a:endParaRPr>
          </a:p>
        </p:txBody>
      </p:sp>
      <p:sp>
        <p:nvSpPr>
          <p:cNvPr id="127" name="Google Shape;127;p2"/>
          <p:cNvSpPr/>
          <p:nvPr/>
        </p:nvSpPr>
        <p:spPr>
          <a:xfrm>
            <a:off x="8342376" y="2072640"/>
            <a:ext cx="3657600" cy="188976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8" name="Google Shape;128;p2"/>
          <p:cNvSpPr/>
          <p:nvPr/>
        </p:nvSpPr>
        <p:spPr>
          <a:xfrm>
            <a:off x="8342376" y="2072640"/>
            <a:ext cx="3657600" cy="97536"/>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9" name="Google Shape;129;p2"/>
          <p:cNvSpPr/>
          <p:nvPr/>
        </p:nvSpPr>
        <p:spPr>
          <a:xfrm>
            <a:off x="8586216" y="2316480"/>
            <a:ext cx="97536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BBC04"/>
                </a:solidFill>
                <a:latin typeface="Arial"/>
                <a:ea typeface="Arial"/>
                <a:cs typeface="Arial"/>
                <a:sym typeface="Arial"/>
              </a:rPr>
              <a:t>03</a:t>
            </a:r>
            <a:endParaRPr b="0" i="0" sz="3200" u="none" cap="none" strike="noStrike">
              <a:solidFill>
                <a:schemeClr val="dk1"/>
              </a:solidFill>
              <a:latin typeface="Arial"/>
              <a:ea typeface="Arial"/>
              <a:cs typeface="Arial"/>
              <a:sym typeface="Arial"/>
            </a:endParaRPr>
          </a:p>
        </p:txBody>
      </p:sp>
      <p:sp>
        <p:nvSpPr>
          <p:cNvPr id="130" name="Google Shape;130;p2"/>
          <p:cNvSpPr/>
          <p:nvPr/>
        </p:nvSpPr>
        <p:spPr>
          <a:xfrm>
            <a:off x="8586216" y="2865120"/>
            <a:ext cx="316992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Our Solution</a:t>
            </a:r>
            <a:endParaRPr b="0" i="0" sz="1867" u="none" cap="none" strike="noStrike">
              <a:solidFill>
                <a:schemeClr val="dk1"/>
              </a:solidFill>
              <a:latin typeface="Arial"/>
              <a:ea typeface="Arial"/>
              <a:cs typeface="Arial"/>
              <a:sym typeface="Arial"/>
            </a:endParaRPr>
          </a:p>
        </p:txBody>
      </p:sp>
      <p:sp>
        <p:nvSpPr>
          <p:cNvPr id="131" name="Google Shape;131;p2"/>
          <p:cNvSpPr/>
          <p:nvPr/>
        </p:nvSpPr>
        <p:spPr>
          <a:xfrm>
            <a:off x="8586216" y="3291840"/>
            <a:ext cx="316992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The GenAI prototype and what makes it different</a:t>
            </a:r>
            <a:endParaRPr b="0" i="0" sz="1333" u="none" cap="none" strike="noStrike">
              <a:solidFill>
                <a:schemeClr val="dk1"/>
              </a:solidFill>
              <a:latin typeface="Arial"/>
              <a:ea typeface="Arial"/>
              <a:cs typeface="Arial"/>
              <a:sym typeface="Arial"/>
            </a:endParaRPr>
          </a:p>
        </p:txBody>
      </p:sp>
      <p:sp>
        <p:nvSpPr>
          <p:cNvPr id="132" name="Google Shape;132;p2"/>
          <p:cNvSpPr/>
          <p:nvPr/>
        </p:nvSpPr>
        <p:spPr>
          <a:xfrm>
            <a:off x="417576" y="4267200"/>
            <a:ext cx="3657600" cy="188976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33" name="Google Shape;133;p2"/>
          <p:cNvSpPr/>
          <p:nvPr/>
        </p:nvSpPr>
        <p:spPr>
          <a:xfrm>
            <a:off x="417576" y="4267200"/>
            <a:ext cx="3657600" cy="97536"/>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34" name="Google Shape;134;p2"/>
          <p:cNvSpPr/>
          <p:nvPr/>
        </p:nvSpPr>
        <p:spPr>
          <a:xfrm>
            <a:off x="661416" y="4511040"/>
            <a:ext cx="97536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34A853"/>
                </a:solidFill>
                <a:latin typeface="Arial"/>
                <a:ea typeface="Arial"/>
                <a:cs typeface="Arial"/>
                <a:sym typeface="Arial"/>
              </a:rPr>
              <a:t>04</a:t>
            </a:r>
            <a:endParaRPr b="0" i="0" sz="3200" u="none" cap="none" strike="noStrike">
              <a:solidFill>
                <a:schemeClr val="dk1"/>
              </a:solidFill>
              <a:latin typeface="Arial"/>
              <a:ea typeface="Arial"/>
              <a:cs typeface="Arial"/>
              <a:sym typeface="Arial"/>
            </a:endParaRPr>
          </a:p>
        </p:txBody>
      </p:sp>
      <p:sp>
        <p:nvSpPr>
          <p:cNvPr id="135" name="Google Shape;135;p2"/>
          <p:cNvSpPr/>
          <p:nvPr/>
        </p:nvSpPr>
        <p:spPr>
          <a:xfrm>
            <a:off x="661416" y="5059680"/>
            <a:ext cx="316992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Solution in Action</a:t>
            </a:r>
            <a:endParaRPr b="0" i="0" sz="1867" u="none" cap="none" strike="noStrike">
              <a:solidFill>
                <a:schemeClr val="dk1"/>
              </a:solidFill>
              <a:latin typeface="Arial"/>
              <a:ea typeface="Arial"/>
              <a:cs typeface="Arial"/>
              <a:sym typeface="Arial"/>
            </a:endParaRPr>
          </a:p>
        </p:txBody>
      </p:sp>
      <p:sp>
        <p:nvSpPr>
          <p:cNvPr id="136" name="Google Shape;136;p2"/>
          <p:cNvSpPr/>
          <p:nvPr/>
        </p:nvSpPr>
        <p:spPr>
          <a:xfrm>
            <a:off x="661416" y="5486400"/>
            <a:ext cx="316992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Live demo / preview walkthrough</a:t>
            </a:r>
            <a:endParaRPr b="0" i="0" sz="1333" u="none" cap="none" strike="noStrike">
              <a:solidFill>
                <a:schemeClr val="dk1"/>
              </a:solidFill>
              <a:latin typeface="Arial"/>
              <a:ea typeface="Arial"/>
              <a:cs typeface="Arial"/>
              <a:sym typeface="Arial"/>
            </a:endParaRPr>
          </a:p>
        </p:txBody>
      </p:sp>
      <p:sp>
        <p:nvSpPr>
          <p:cNvPr id="137" name="Google Shape;137;p2"/>
          <p:cNvSpPr/>
          <p:nvPr/>
        </p:nvSpPr>
        <p:spPr>
          <a:xfrm>
            <a:off x="4379976" y="4267200"/>
            <a:ext cx="3657600" cy="188976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38" name="Google Shape;138;p2"/>
          <p:cNvSpPr/>
          <p:nvPr/>
        </p:nvSpPr>
        <p:spPr>
          <a:xfrm>
            <a:off x="4379976" y="4267200"/>
            <a:ext cx="3657600" cy="97536"/>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39" name="Google Shape;139;p2"/>
          <p:cNvSpPr/>
          <p:nvPr/>
        </p:nvSpPr>
        <p:spPr>
          <a:xfrm>
            <a:off x="4623816" y="4511040"/>
            <a:ext cx="97536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4285F4"/>
                </a:solidFill>
                <a:latin typeface="Arial"/>
                <a:ea typeface="Arial"/>
                <a:cs typeface="Arial"/>
                <a:sym typeface="Arial"/>
              </a:rPr>
              <a:t>05</a:t>
            </a:r>
            <a:endParaRPr b="0" i="0" sz="3200" u="none" cap="none" strike="noStrike">
              <a:solidFill>
                <a:schemeClr val="dk1"/>
              </a:solidFill>
              <a:latin typeface="Arial"/>
              <a:ea typeface="Arial"/>
              <a:cs typeface="Arial"/>
              <a:sym typeface="Arial"/>
            </a:endParaRPr>
          </a:p>
        </p:txBody>
      </p:sp>
      <p:sp>
        <p:nvSpPr>
          <p:cNvPr id="140" name="Google Shape;140;p2"/>
          <p:cNvSpPr/>
          <p:nvPr/>
        </p:nvSpPr>
        <p:spPr>
          <a:xfrm>
            <a:off x="4623816" y="5059680"/>
            <a:ext cx="316992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Architecture &amp; Deployment</a:t>
            </a:r>
            <a:endParaRPr b="0" i="0" sz="1867" u="none" cap="none" strike="noStrike">
              <a:solidFill>
                <a:schemeClr val="dk1"/>
              </a:solidFill>
              <a:latin typeface="Arial"/>
              <a:ea typeface="Arial"/>
              <a:cs typeface="Arial"/>
              <a:sym typeface="Arial"/>
            </a:endParaRPr>
          </a:p>
        </p:txBody>
      </p:sp>
      <p:sp>
        <p:nvSpPr>
          <p:cNvPr id="141" name="Google Shape;141;p2"/>
          <p:cNvSpPr/>
          <p:nvPr/>
        </p:nvSpPr>
        <p:spPr>
          <a:xfrm>
            <a:off x="4623816" y="5486400"/>
            <a:ext cx="316992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GCP architecture, agentic design, proof of execution</a:t>
            </a:r>
            <a:endParaRPr b="0" i="0" sz="1333" u="none" cap="none" strike="noStrike">
              <a:solidFill>
                <a:schemeClr val="dk1"/>
              </a:solidFill>
              <a:latin typeface="Arial"/>
              <a:ea typeface="Arial"/>
              <a:cs typeface="Arial"/>
              <a:sym typeface="Arial"/>
            </a:endParaRPr>
          </a:p>
        </p:txBody>
      </p:sp>
      <p:sp>
        <p:nvSpPr>
          <p:cNvPr id="142" name="Google Shape;142;p2"/>
          <p:cNvSpPr/>
          <p:nvPr/>
        </p:nvSpPr>
        <p:spPr>
          <a:xfrm>
            <a:off x="8342376" y="4267200"/>
            <a:ext cx="3657600" cy="188976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3" name="Google Shape;143;p2"/>
          <p:cNvSpPr/>
          <p:nvPr/>
        </p:nvSpPr>
        <p:spPr>
          <a:xfrm>
            <a:off x="8342376" y="4267200"/>
            <a:ext cx="3657600" cy="97536"/>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4" name="Google Shape;144;p2"/>
          <p:cNvSpPr/>
          <p:nvPr/>
        </p:nvSpPr>
        <p:spPr>
          <a:xfrm>
            <a:off x="8586216" y="4511040"/>
            <a:ext cx="97536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EA4335"/>
                </a:solidFill>
                <a:latin typeface="Arial"/>
                <a:ea typeface="Arial"/>
                <a:cs typeface="Arial"/>
                <a:sym typeface="Arial"/>
              </a:rPr>
              <a:t>06</a:t>
            </a:r>
            <a:endParaRPr b="0" i="0" sz="3200" u="none" cap="none" strike="noStrike">
              <a:solidFill>
                <a:schemeClr val="dk1"/>
              </a:solidFill>
              <a:latin typeface="Arial"/>
              <a:ea typeface="Arial"/>
              <a:cs typeface="Arial"/>
              <a:sym typeface="Arial"/>
            </a:endParaRPr>
          </a:p>
        </p:txBody>
      </p:sp>
      <p:sp>
        <p:nvSpPr>
          <p:cNvPr id="145" name="Google Shape;145;p2"/>
          <p:cNvSpPr/>
          <p:nvPr/>
        </p:nvSpPr>
        <p:spPr>
          <a:xfrm>
            <a:off x="8586216" y="5059680"/>
            <a:ext cx="316992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Security, Scale &amp; Impact</a:t>
            </a:r>
            <a:endParaRPr b="0" i="0" sz="1867" u="none" cap="none" strike="noStrike">
              <a:solidFill>
                <a:schemeClr val="dk1"/>
              </a:solidFill>
              <a:latin typeface="Arial"/>
              <a:ea typeface="Arial"/>
              <a:cs typeface="Arial"/>
              <a:sym typeface="Arial"/>
            </a:endParaRPr>
          </a:p>
        </p:txBody>
      </p:sp>
      <p:sp>
        <p:nvSpPr>
          <p:cNvPr id="146" name="Google Shape;146;p2"/>
          <p:cNvSpPr/>
          <p:nvPr/>
        </p:nvSpPr>
        <p:spPr>
          <a:xfrm>
            <a:off x="8586216" y="5486400"/>
            <a:ext cx="316992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Guardrails, enterprise-readiness, business value, roadmap</a:t>
            </a:r>
            <a:endParaRPr b="0" i="0" sz="1333" u="none" cap="none" strike="noStrike">
              <a:solidFill>
                <a:schemeClr val="dk1"/>
              </a:solidFill>
              <a:latin typeface="Arial"/>
              <a:ea typeface="Arial"/>
              <a:cs typeface="Arial"/>
              <a:sym typeface="Arial"/>
            </a:endParaRPr>
          </a:p>
        </p:txBody>
      </p:sp>
      <p:cxnSp>
        <p:nvCxnSpPr>
          <p:cNvPr id="147" name="Google Shape;147;p2"/>
          <p:cNvCxnSpPr/>
          <p:nvPr/>
        </p:nvCxnSpPr>
        <p:spPr>
          <a:xfrm>
            <a:off x="417576"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148" name="Google Shape;148;p2"/>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149" name="Google Shape;149;p2"/>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02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p:nvPr/>
        </p:nvSpPr>
        <p:spPr>
          <a:xfrm>
            <a:off x="1462000" y="2247937"/>
            <a:ext cx="2511600" cy="2475000"/>
          </a:xfrm>
          <a:prstGeom prst="ellipse">
            <a:avLst/>
          </a:prstGeom>
          <a:solidFill>
            <a:srgbClr val="F8F9FA"/>
          </a:solidFill>
          <a:ln cap="flat" cmpd="sng" w="9525">
            <a:solidFill>
              <a:srgbClr val="DAD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6" name="Google Shape;156;p3"/>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7" name="Google Shape;157;p3"/>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8" name="Google Shape;158;p3"/>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9" name="Google Shape;159;p3"/>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0" name="Google Shape;160;p3"/>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01  ·  TEAM &amp; TRACK</a:t>
            </a:r>
            <a:endParaRPr b="0" i="0" sz="1333" u="none" cap="none" strike="noStrike">
              <a:solidFill>
                <a:schemeClr val="dk1"/>
              </a:solidFill>
              <a:latin typeface="Arial"/>
              <a:ea typeface="Arial"/>
              <a:cs typeface="Arial"/>
              <a:sym typeface="Arial"/>
            </a:endParaRPr>
          </a:p>
        </p:txBody>
      </p:sp>
      <p:sp>
        <p:nvSpPr>
          <p:cNvPr id="161" name="Google Shape;161;p3"/>
          <p:cNvSpPr/>
          <p:nvPr/>
        </p:nvSpPr>
        <p:spPr>
          <a:xfrm>
            <a:off x="609600" y="792480"/>
            <a:ext cx="109728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i="0" lang="en-US" sz="3467" u="none" cap="none" strike="noStrike">
                <a:solidFill>
                  <a:srgbClr val="202124"/>
                </a:solidFill>
                <a:latin typeface="Arial"/>
                <a:ea typeface="Arial"/>
                <a:cs typeface="Arial"/>
                <a:sym typeface="Arial"/>
              </a:rPr>
              <a:t>Who we are and the track we chose</a:t>
            </a:r>
            <a:endParaRPr b="0" i="0" sz="3467" u="none" cap="none" strike="noStrike">
              <a:solidFill>
                <a:schemeClr val="dk1"/>
              </a:solidFill>
              <a:latin typeface="Arial"/>
              <a:ea typeface="Arial"/>
              <a:cs typeface="Arial"/>
              <a:sym typeface="Arial"/>
            </a:endParaRPr>
          </a:p>
        </p:txBody>
      </p:sp>
      <p:sp>
        <p:nvSpPr>
          <p:cNvPr id="162" name="Google Shape;162;p3"/>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3" name="Google Shape;163;p3"/>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4" name="Google Shape;164;p3"/>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5" name="Google Shape;165;p3"/>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6" name="Google Shape;166;p3"/>
          <p:cNvSpPr/>
          <p:nvPr/>
        </p:nvSpPr>
        <p:spPr>
          <a:xfrm>
            <a:off x="1864291" y="4980742"/>
            <a:ext cx="1707000" cy="34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202124"/>
                </a:solidFill>
                <a:latin typeface="Arial"/>
                <a:ea typeface="Arial"/>
                <a:cs typeface="Arial"/>
                <a:sym typeface="Arial"/>
              </a:rPr>
              <a:t>Sana Iqbal</a:t>
            </a:r>
            <a:endParaRPr b="0" i="0" sz="1800" u="none" cap="none" strike="noStrike">
              <a:solidFill>
                <a:schemeClr val="dk1"/>
              </a:solidFill>
              <a:latin typeface="Arial"/>
              <a:ea typeface="Arial"/>
              <a:cs typeface="Arial"/>
              <a:sym typeface="Arial"/>
            </a:endParaRPr>
          </a:p>
        </p:txBody>
      </p:sp>
      <p:sp>
        <p:nvSpPr>
          <p:cNvPr id="167" name="Google Shape;167;p3"/>
          <p:cNvSpPr/>
          <p:nvPr/>
        </p:nvSpPr>
        <p:spPr>
          <a:xfrm>
            <a:off x="1809750" y="5324926"/>
            <a:ext cx="1866900" cy="268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5F6368"/>
                </a:solidFill>
                <a:latin typeface="Calibri"/>
                <a:ea typeface="Calibri"/>
                <a:cs typeface="Calibri"/>
                <a:sym typeface="Calibri"/>
              </a:rPr>
              <a:t>AI </a:t>
            </a:r>
            <a:r>
              <a:rPr lang="en-US" sz="1300">
                <a:solidFill>
                  <a:srgbClr val="5F6368"/>
                </a:solidFill>
                <a:latin typeface="Calibri"/>
                <a:ea typeface="Calibri"/>
                <a:cs typeface="Calibri"/>
                <a:sym typeface="Calibri"/>
              </a:rPr>
              <a:t>Solution Architect</a:t>
            </a:r>
            <a:r>
              <a:rPr b="0" i="0" lang="en-US" sz="1300" u="none" cap="none" strike="noStrike">
                <a:solidFill>
                  <a:srgbClr val="5F6368"/>
                </a:solidFill>
                <a:latin typeface="Calibri"/>
                <a:ea typeface="Calibri"/>
                <a:cs typeface="Calibri"/>
                <a:sym typeface="Calibri"/>
              </a:rPr>
              <a:t> | BFSI</a:t>
            </a:r>
            <a:endParaRPr b="0" i="0" sz="1800" u="none" cap="none" strike="noStrike">
              <a:solidFill>
                <a:schemeClr val="dk1"/>
              </a:solidFill>
              <a:latin typeface="Arial"/>
              <a:ea typeface="Arial"/>
              <a:cs typeface="Arial"/>
              <a:sym typeface="Arial"/>
            </a:endParaRPr>
          </a:p>
        </p:txBody>
      </p:sp>
      <p:cxnSp>
        <p:nvCxnSpPr>
          <p:cNvPr id="168" name="Google Shape;168;p3"/>
          <p:cNvCxnSpPr/>
          <p:nvPr/>
        </p:nvCxnSpPr>
        <p:spPr>
          <a:xfrm>
            <a:off x="6461760" y="2072640"/>
            <a:ext cx="0" cy="4023360"/>
          </a:xfrm>
          <a:prstGeom prst="straightConnector1">
            <a:avLst/>
          </a:prstGeom>
          <a:noFill/>
          <a:ln cap="flat" cmpd="sng" w="9525">
            <a:solidFill>
              <a:srgbClr val="DADCE0"/>
            </a:solidFill>
            <a:prstDash val="solid"/>
            <a:round/>
            <a:headEnd len="sm" w="sm" type="none"/>
            <a:tailEnd len="sm" w="sm" type="none"/>
          </a:ln>
        </p:spPr>
      </p:cxnSp>
      <p:sp>
        <p:nvSpPr>
          <p:cNvPr id="169" name="Google Shape;169;p3"/>
          <p:cNvSpPr/>
          <p:nvPr/>
        </p:nvSpPr>
        <p:spPr>
          <a:xfrm>
            <a:off x="6827520" y="2133600"/>
            <a:ext cx="48768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OUR TRACK</a:t>
            </a:r>
            <a:endParaRPr b="0" i="0" sz="1333" u="none" cap="none" strike="noStrike">
              <a:solidFill>
                <a:schemeClr val="dk1"/>
              </a:solidFill>
              <a:latin typeface="Arial"/>
              <a:ea typeface="Arial"/>
              <a:cs typeface="Arial"/>
              <a:sym typeface="Arial"/>
            </a:endParaRPr>
          </a:p>
        </p:txBody>
      </p:sp>
      <p:sp>
        <p:nvSpPr>
          <p:cNvPr id="170" name="Google Shape;170;p3"/>
          <p:cNvSpPr/>
          <p:nvPr/>
        </p:nvSpPr>
        <p:spPr>
          <a:xfrm>
            <a:off x="6827520" y="2499360"/>
            <a:ext cx="4876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02124"/>
                </a:solidFill>
                <a:latin typeface="Arial"/>
                <a:ea typeface="Arial"/>
                <a:cs typeface="Arial"/>
                <a:sym typeface="Arial"/>
              </a:rPr>
              <a:t>Build with Vertex AI (Google ADK)</a:t>
            </a:r>
            <a:endParaRPr b="1" i="0" sz="1800" u="none" cap="none" strike="noStrike">
              <a:solidFill>
                <a:srgbClr val="202124"/>
              </a:solidFill>
              <a:latin typeface="Arial"/>
              <a:ea typeface="Arial"/>
              <a:cs typeface="Arial"/>
              <a:sym typeface="Arial"/>
            </a:endParaRPr>
          </a:p>
        </p:txBody>
      </p:sp>
      <p:sp>
        <p:nvSpPr>
          <p:cNvPr id="171" name="Google Shape;171;p3"/>
          <p:cNvSpPr/>
          <p:nvPr/>
        </p:nvSpPr>
        <p:spPr>
          <a:xfrm>
            <a:off x="6827520" y="3048000"/>
            <a:ext cx="48768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t/>
            </a:r>
            <a:endParaRPr b="0" i="1" sz="1450" u="none" cap="none" strike="noStrike">
              <a:solidFill>
                <a:srgbClr val="5F6368"/>
              </a:solidFill>
              <a:latin typeface="Calibri"/>
              <a:ea typeface="Calibri"/>
              <a:cs typeface="Calibri"/>
              <a:sym typeface="Calibri"/>
            </a:endParaRPr>
          </a:p>
        </p:txBody>
      </p:sp>
      <p:sp>
        <p:nvSpPr>
          <p:cNvPr id="172" name="Google Shape;172;p3"/>
          <p:cNvSpPr/>
          <p:nvPr/>
        </p:nvSpPr>
        <p:spPr>
          <a:xfrm>
            <a:off x="6827520" y="3446342"/>
            <a:ext cx="48768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WHY WE CHOSE IT</a:t>
            </a:r>
            <a:endParaRPr b="0" i="0" sz="1333" u="none" cap="none" strike="noStrike">
              <a:solidFill>
                <a:schemeClr val="dk1"/>
              </a:solidFill>
              <a:latin typeface="Arial"/>
              <a:ea typeface="Arial"/>
              <a:cs typeface="Arial"/>
              <a:sym typeface="Arial"/>
            </a:endParaRPr>
          </a:p>
        </p:txBody>
      </p:sp>
      <p:sp>
        <p:nvSpPr>
          <p:cNvPr id="173" name="Google Shape;173;p3"/>
          <p:cNvSpPr/>
          <p:nvPr/>
        </p:nvSpPr>
        <p:spPr>
          <a:xfrm>
            <a:off x="6735555" y="4088000"/>
            <a:ext cx="5165834" cy="1916034"/>
          </a:xfrm>
          <a:prstGeom prst="rect">
            <a:avLst/>
          </a:prstGeom>
          <a:noFill/>
          <a:ln>
            <a:noFill/>
          </a:ln>
        </p:spPr>
        <p:txBody>
          <a:bodyPr anchorCtr="0" anchor="ctr" bIns="45700" lIns="91425" spcFirstLastPara="1" rIns="91425" wrap="square" tIns="45700">
            <a:noAutofit/>
          </a:bodyPr>
          <a:lstStyle/>
          <a:p>
            <a:pPr indent="-456565" lvl="0" marL="456565" marR="0" rtl="0" algn="l">
              <a:lnSpc>
                <a:spcPct val="100000"/>
              </a:lnSpc>
              <a:spcBef>
                <a:spcPts val="0"/>
              </a:spcBef>
              <a:spcAft>
                <a:spcPts val="0"/>
              </a:spcAft>
              <a:buClr>
                <a:srgbClr val="3C4043"/>
              </a:buClr>
              <a:buSzPts val="1600"/>
              <a:buFont typeface="Arial"/>
              <a:buChar char="•"/>
            </a:pPr>
            <a:r>
              <a:rPr b="0" i="0" lang="en-US" sz="1600" u="none" cap="none" strike="noStrike">
                <a:solidFill>
                  <a:srgbClr val="3C4043"/>
                </a:solidFill>
                <a:latin typeface="Calibri"/>
                <a:ea typeface="Calibri"/>
                <a:cs typeface="Calibri"/>
                <a:sym typeface="Calibri"/>
              </a:rPr>
              <a:t>Enterprise GenAI needs a repeatable safety release gate before production, not one-time manual testing.</a:t>
            </a:r>
            <a:endParaRPr b="0" i="0" sz="1600" u="none" cap="none" strike="noStrike">
              <a:solidFill>
                <a:schemeClr val="dk1"/>
              </a:solidFill>
              <a:latin typeface="Arial"/>
              <a:ea typeface="Arial"/>
              <a:cs typeface="Arial"/>
              <a:sym typeface="Arial"/>
            </a:endParaRPr>
          </a:p>
          <a:p>
            <a:pPr indent="-456565" lvl="0" marL="456565" marR="0" rtl="0" algn="l">
              <a:lnSpc>
                <a:spcPct val="100000"/>
              </a:lnSpc>
              <a:spcBef>
                <a:spcPts val="533"/>
              </a:spcBef>
              <a:spcAft>
                <a:spcPts val="0"/>
              </a:spcAft>
              <a:buClr>
                <a:srgbClr val="3C4043"/>
              </a:buClr>
              <a:buSzPts val="1600"/>
              <a:buFont typeface="Arial"/>
              <a:buChar char="•"/>
            </a:pPr>
            <a:r>
              <a:rPr b="0" i="0" lang="en-US" sz="1600" u="none" cap="none" strike="noStrike">
                <a:solidFill>
                  <a:srgbClr val="3C4043"/>
                </a:solidFill>
                <a:latin typeface="Calibri"/>
                <a:ea typeface="Calibri"/>
                <a:cs typeface="Calibri"/>
                <a:sym typeface="Calibri"/>
              </a:rPr>
              <a:t>Gemini can generate adversarial tests and diagnose failures, while Google ADK enables deterministic tool-based checks.</a:t>
            </a:r>
            <a:endParaRPr b="0" i="0" sz="1600" u="none" cap="none" strike="noStrike">
              <a:solidFill>
                <a:schemeClr val="dk1"/>
              </a:solidFill>
              <a:latin typeface="Calibri"/>
              <a:ea typeface="Calibri"/>
              <a:cs typeface="Calibri"/>
              <a:sym typeface="Calibri"/>
            </a:endParaRPr>
          </a:p>
          <a:p>
            <a:pPr indent="-456565" lvl="0" marL="456565" marR="0" rtl="0" algn="l">
              <a:lnSpc>
                <a:spcPct val="100000"/>
              </a:lnSpc>
              <a:spcBef>
                <a:spcPts val="533"/>
              </a:spcBef>
              <a:spcAft>
                <a:spcPts val="0"/>
              </a:spcAft>
              <a:buClr>
                <a:srgbClr val="3C4043"/>
              </a:buClr>
              <a:buSzPts val="1600"/>
              <a:buFont typeface="Arial"/>
              <a:buChar char="•"/>
            </a:pPr>
            <a:r>
              <a:rPr b="0" i="0" lang="en-US" sz="1600" u="none" cap="none" strike="noStrike">
                <a:solidFill>
                  <a:srgbClr val="3C4043"/>
                </a:solidFill>
                <a:latin typeface="Calibri"/>
                <a:ea typeface="Calibri"/>
                <a:cs typeface="Calibri"/>
                <a:sym typeface="Calibri"/>
              </a:rPr>
              <a:t>Cloud Run, configurable thresholds, and audit logs make the solution scalable, reusable, and governance-ready.</a:t>
            </a:r>
            <a:endParaRPr b="0" i="0" sz="1600" u="none" cap="none" strike="noStrike">
              <a:solidFill>
                <a:schemeClr val="dk1"/>
              </a:solidFill>
              <a:latin typeface="Calibri"/>
              <a:ea typeface="Calibri"/>
              <a:cs typeface="Calibri"/>
              <a:sym typeface="Calibri"/>
            </a:endParaRPr>
          </a:p>
        </p:txBody>
      </p:sp>
      <p:cxnSp>
        <p:nvCxnSpPr>
          <p:cNvPr id="174" name="Google Shape;174;p3"/>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175" name="Google Shape;175;p3"/>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176" name="Google Shape;176;p3"/>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03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pic>
        <p:nvPicPr>
          <p:cNvPr id="177" name="Google Shape;177;p3"/>
          <p:cNvPicPr preferRelativeResize="0"/>
          <p:nvPr/>
        </p:nvPicPr>
        <p:blipFill rotWithShape="1">
          <a:blip r:embed="rId3">
            <a:alphaModFix/>
          </a:blip>
          <a:srcRect b="0" l="0" r="0" t="0"/>
          <a:stretch/>
        </p:blipFill>
        <p:spPr>
          <a:xfrm>
            <a:off x="1460175" y="2256875"/>
            <a:ext cx="2511599" cy="2457149"/>
          </a:xfrm>
          <a:prstGeom prst="rect">
            <a:avLst/>
          </a:prstGeom>
          <a:solidFill>
            <a:srgbClr val="F8F9FA"/>
          </a:solid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4"/>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4" name="Google Shape;184;p4"/>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5" name="Google Shape;185;p4"/>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6" name="Google Shape;186;p4"/>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7" name="Google Shape;187;p4"/>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02  ·  THE PROBLEM  (Problem Fit · 20%)</a:t>
            </a:r>
            <a:endParaRPr b="0" i="0" sz="1333" u="none" cap="none" strike="noStrike">
              <a:solidFill>
                <a:schemeClr val="dk1"/>
              </a:solidFill>
              <a:latin typeface="Arial"/>
              <a:ea typeface="Arial"/>
              <a:cs typeface="Arial"/>
              <a:sym typeface="Arial"/>
            </a:endParaRPr>
          </a:p>
        </p:txBody>
      </p:sp>
      <p:sp>
        <p:nvSpPr>
          <p:cNvPr id="188" name="Google Shape;188;p4"/>
          <p:cNvSpPr/>
          <p:nvPr/>
        </p:nvSpPr>
        <p:spPr>
          <a:xfrm>
            <a:off x="609600" y="792480"/>
            <a:ext cx="109728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i="0" lang="en-US" sz="3467" u="none" cap="none" strike="noStrike">
                <a:solidFill>
                  <a:srgbClr val="202124"/>
                </a:solidFill>
                <a:latin typeface="Arial"/>
                <a:ea typeface="Arial"/>
                <a:cs typeface="Arial"/>
                <a:sym typeface="Arial"/>
              </a:rPr>
              <a:t>The business bottleneck we set out to solve</a:t>
            </a:r>
            <a:endParaRPr b="0" i="0" sz="3467" u="none" cap="none" strike="noStrike">
              <a:solidFill>
                <a:schemeClr val="dk1"/>
              </a:solidFill>
              <a:latin typeface="Arial"/>
              <a:ea typeface="Arial"/>
              <a:cs typeface="Arial"/>
              <a:sym typeface="Arial"/>
            </a:endParaRPr>
          </a:p>
        </p:txBody>
      </p:sp>
      <p:sp>
        <p:nvSpPr>
          <p:cNvPr id="189" name="Google Shape;189;p4"/>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90" name="Google Shape;190;p4"/>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91" name="Google Shape;191;p4"/>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92" name="Google Shape;192;p4"/>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93" name="Google Shape;193;p4"/>
          <p:cNvSpPr/>
          <p:nvPr/>
        </p:nvSpPr>
        <p:spPr>
          <a:xfrm>
            <a:off x="609600" y="2133600"/>
            <a:ext cx="5303520" cy="402336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94" name="Google Shape;194;p4"/>
          <p:cNvSpPr/>
          <p:nvPr/>
        </p:nvSpPr>
        <p:spPr>
          <a:xfrm>
            <a:off x="609600" y="2133600"/>
            <a:ext cx="5303520" cy="97536"/>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95" name="Google Shape;195;p4"/>
          <p:cNvSpPr/>
          <p:nvPr/>
        </p:nvSpPr>
        <p:spPr>
          <a:xfrm>
            <a:off x="914400" y="2377440"/>
            <a:ext cx="48768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WHO IS AFFECTED</a:t>
            </a:r>
            <a:endParaRPr b="0" i="0" sz="1333" u="none" cap="none" strike="noStrike">
              <a:solidFill>
                <a:schemeClr val="dk1"/>
              </a:solidFill>
              <a:latin typeface="Arial"/>
              <a:ea typeface="Arial"/>
              <a:cs typeface="Arial"/>
              <a:sym typeface="Arial"/>
            </a:endParaRPr>
          </a:p>
        </p:txBody>
      </p:sp>
      <p:sp>
        <p:nvSpPr>
          <p:cNvPr id="196" name="Google Shape;196;p4"/>
          <p:cNvSpPr/>
          <p:nvPr/>
        </p:nvSpPr>
        <p:spPr>
          <a:xfrm>
            <a:off x="914400" y="2743200"/>
            <a:ext cx="4876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Arial"/>
              <a:buNone/>
            </a:pPr>
            <a:r>
              <a:rPr b="1" i="0" lang="en-US" sz="2300" u="none" cap="none" strike="noStrike">
                <a:solidFill>
                  <a:srgbClr val="202124"/>
                </a:solidFill>
                <a:latin typeface="Arial"/>
                <a:ea typeface="Arial"/>
                <a:cs typeface="Arial"/>
                <a:sym typeface="Arial"/>
              </a:rPr>
              <a:t>Enterprise AI Deployment Teams  ·  Compliance Leaders ·  CISOs</a:t>
            </a:r>
            <a:endParaRPr b="0" i="0" sz="2300" u="none" cap="none" strike="noStrike">
              <a:solidFill>
                <a:schemeClr val="dk1"/>
              </a:solidFill>
              <a:latin typeface="Arial"/>
              <a:ea typeface="Arial"/>
              <a:cs typeface="Arial"/>
              <a:sym typeface="Arial"/>
            </a:endParaRPr>
          </a:p>
        </p:txBody>
      </p:sp>
      <p:sp>
        <p:nvSpPr>
          <p:cNvPr id="197" name="Google Shape;197;p4"/>
          <p:cNvSpPr/>
          <p:nvPr/>
        </p:nvSpPr>
        <p:spPr>
          <a:xfrm>
            <a:off x="914400" y="3413760"/>
            <a:ext cx="4876800" cy="2560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5F6368"/>
                </a:solidFill>
                <a:latin typeface="Calibri"/>
                <a:ea typeface="Calibri"/>
                <a:cs typeface="Calibri"/>
                <a:sym typeface="Calibri"/>
              </a:rPr>
              <a:t>Enterprise teams are deploying GenAI assistants faster than they can validate them. Current reviews rely on prompts and manual testing, but cannot reliably catch hallucinations, PII leakage, jailbreaks, toxic responses, or policy-violation risks before production.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C4043"/>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C4043"/>
                </a:solidFill>
                <a:latin typeface="Calibri"/>
                <a:ea typeface="Calibri"/>
                <a:cs typeface="Calibri"/>
                <a:sym typeface="Calibri"/>
              </a:rPr>
              <a:t>Manual safety frameworks take many </a:t>
            </a:r>
            <a:r>
              <a:rPr b="1" i="0" lang="en-US" sz="1600" u="none" cap="none" strike="noStrike">
                <a:solidFill>
                  <a:srgbClr val="3C4043"/>
                </a:solidFill>
                <a:latin typeface="Calibri"/>
                <a:ea typeface="Calibri"/>
                <a:cs typeface="Calibri"/>
                <a:sym typeface="Calibri"/>
              </a:rPr>
              <a:t>months</a:t>
            </a:r>
            <a:r>
              <a:rPr b="0" i="0" lang="en-US" sz="1600" u="none" cap="none" strike="noStrike">
                <a:solidFill>
                  <a:srgbClr val="3C4043"/>
                </a:solidFill>
                <a:latin typeface="Calibri"/>
                <a:ea typeface="Calibri"/>
                <a:cs typeface="Calibri"/>
                <a:sym typeface="Calibri"/>
              </a:rPr>
              <a:t> to establish; every prompt/model/document update requires re-testing; most teams still lack an automated pass/fail GenAI release gate.</a:t>
            </a:r>
            <a:endParaRPr b="0" i="0" sz="1600" u="none" cap="none" strike="noStrike">
              <a:solidFill>
                <a:schemeClr val="dk1"/>
              </a:solidFill>
              <a:latin typeface="Arial"/>
              <a:ea typeface="Arial"/>
              <a:cs typeface="Arial"/>
              <a:sym typeface="Arial"/>
            </a:endParaRPr>
          </a:p>
        </p:txBody>
      </p:sp>
      <p:sp>
        <p:nvSpPr>
          <p:cNvPr id="198" name="Google Shape;198;p4"/>
          <p:cNvSpPr/>
          <p:nvPr/>
        </p:nvSpPr>
        <p:spPr>
          <a:xfrm>
            <a:off x="6278880" y="2133600"/>
            <a:ext cx="5303520" cy="1255776"/>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99" name="Google Shape;199;p4"/>
          <p:cNvSpPr/>
          <p:nvPr/>
        </p:nvSpPr>
        <p:spPr>
          <a:xfrm>
            <a:off x="6278880" y="2133600"/>
            <a:ext cx="5303520" cy="97536"/>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00" name="Google Shape;200;p4"/>
          <p:cNvSpPr/>
          <p:nvPr/>
        </p:nvSpPr>
        <p:spPr>
          <a:xfrm>
            <a:off x="6522720" y="2279904"/>
            <a:ext cx="2194560" cy="8534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733"/>
              <a:buFont typeface="Arial"/>
              <a:buNone/>
            </a:pPr>
            <a:r>
              <a:rPr b="1" i="0" lang="en-US" sz="3733" u="none" cap="none" strike="noStrike">
                <a:solidFill>
                  <a:srgbClr val="4285F4"/>
                </a:solidFill>
                <a:latin typeface="Arial"/>
                <a:ea typeface="Arial"/>
                <a:cs typeface="Arial"/>
                <a:sym typeface="Arial"/>
              </a:rPr>
              <a:t>91%</a:t>
            </a:r>
            <a:endParaRPr b="0" i="0" sz="3733" u="none" cap="none" strike="noStrike">
              <a:solidFill>
                <a:schemeClr val="dk1"/>
              </a:solidFill>
              <a:latin typeface="Arial"/>
              <a:ea typeface="Arial"/>
              <a:cs typeface="Arial"/>
              <a:sym typeface="Arial"/>
            </a:endParaRPr>
          </a:p>
        </p:txBody>
      </p:sp>
      <p:sp>
        <p:nvSpPr>
          <p:cNvPr id="201" name="Google Shape;201;p4"/>
          <p:cNvSpPr/>
          <p:nvPr/>
        </p:nvSpPr>
        <p:spPr>
          <a:xfrm>
            <a:off x="8778240" y="2279904"/>
            <a:ext cx="2682240" cy="975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lack formal CI/CD-style GenAI safety gates (directional benchmark)</a:t>
            </a:r>
            <a:endParaRPr b="0" i="0" sz="1467" u="none" cap="none" strike="noStrike">
              <a:solidFill>
                <a:schemeClr val="dk1"/>
              </a:solidFill>
              <a:latin typeface="Arial"/>
              <a:ea typeface="Arial"/>
              <a:cs typeface="Arial"/>
              <a:sym typeface="Arial"/>
            </a:endParaRPr>
          </a:p>
        </p:txBody>
      </p:sp>
      <p:sp>
        <p:nvSpPr>
          <p:cNvPr id="202" name="Google Shape;202;p4"/>
          <p:cNvSpPr/>
          <p:nvPr/>
        </p:nvSpPr>
        <p:spPr>
          <a:xfrm>
            <a:off x="6278880" y="3511296"/>
            <a:ext cx="5303520" cy="1255776"/>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03" name="Google Shape;203;p4"/>
          <p:cNvSpPr/>
          <p:nvPr/>
        </p:nvSpPr>
        <p:spPr>
          <a:xfrm>
            <a:off x="6278880" y="3511296"/>
            <a:ext cx="5303520" cy="97536"/>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04" name="Google Shape;204;p4"/>
          <p:cNvSpPr/>
          <p:nvPr/>
        </p:nvSpPr>
        <p:spPr>
          <a:xfrm>
            <a:off x="6522720" y="3657600"/>
            <a:ext cx="2194560" cy="8534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733"/>
              <a:buFont typeface="Arial"/>
              <a:buNone/>
            </a:pPr>
            <a:r>
              <a:rPr b="1" i="0" lang="en-US" sz="3733" u="none" cap="none" strike="noStrike">
                <a:solidFill>
                  <a:srgbClr val="FBBC04"/>
                </a:solidFill>
                <a:latin typeface="Arial"/>
                <a:ea typeface="Arial"/>
                <a:cs typeface="Arial"/>
                <a:sym typeface="Arial"/>
              </a:rPr>
              <a:t>₹4.5Cr+</a:t>
            </a:r>
            <a:endParaRPr b="0" i="0" sz="3733" u="none" cap="none" strike="noStrike">
              <a:solidFill>
                <a:schemeClr val="dk1"/>
              </a:solidFill>
              <a:latin typeface="Arial"/>
              <a:ea typeface="Arial"/>
              <a:cs typeface="Arial"/>
              <a:sym typeface="Arial"/>
            </a:endParaRPr>
          </a:p>
        </p:txBody>
      </p:sp>
      <p:sp>
        <p:nvSpPr>
          <p:cNvPr id="205" name="Google Shape;205;p4"/>
          <p:cNvSpPr/>
          <p:nvPr/>
        </p:nvSpPr>
        <p:spPr>
          <a:xfrm>
            <a:off x="8778240" y="3657600"/>
            <a:ext cx="2682240" cy="975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conservative GenAI incident-impact estimate (India breach avg: ₹22Cr, IBM 2025)</a:t>
            </a:r>
            <a:endParaRPr b="0" i="0" sz="1467" u="none" cap="none" strike="noStrike">
              <a:solidFill>
                <a:schemeClr val="dk1"/>
              </a:solidFill>
              <a:latin typeface="Arial"/>
              <a:ea typeface="Arial"/>
              <a:cs typeface="Arial"/>
              <a:sym typeface="Arial"/>
            </a:endParaRPr>
          </a:p>
        </p:txBody>
      </p:sp>
      <p:sp>
        <p:nvSpPr>
          <p:cNvPr id="206" name="Google Shape;206;p4"/>
          <p:cNvSpPr/>
          <p:nvPr/>
        </p:nvSpPr>
        <p:spPr>
          <a:xfrm>
            <a:off x="6278880" y="4888992"/>
            <a:ext cx="5303520" cy="1255776"/>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07" name="Google Shape;207;p4"/>
          <p:cNvSpPr/>
          <p:nvPr/>
        </p:nvSpPr>
        <p:spPr>
          <a:xfrm>
            <a:off x="6278880" y="4888992"/>
            <a:ext cx="5303520" cy="97536"/>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08" name="Google Shape;208;p4"/>
          <p:cNvSpPr/>
          <p:nvPr/>
        </p:nvSpPr>
        <p:spPr>
          <a:xfrm>
            <a:off x="6522720" y="5035296"/>
            <a:ext cx="2194560" cy="8534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733"/>
              <a:buFont typeface="Arial"/>
              <a:buNone/>
            </a:pPr>
            <a:r>
              <a:rPr b="1" i="0" lang="en-US" sz="3733" u="none" cap="none" strike="noStrike">
                <a:solidFill>
                  <a:srgbClr val="34A853"/>
                </a:solidFill>
                <a:latin typeface="Arial"/>
                <a:ea typeface="Arial"/>
                <a:cs typeface="Arial"/>
                <a:sym typeface="Arial"/>
              </a:rPr>
              <a:t>6–18 mo</a:t>
            </a:r>
            <a:endParaRPr b="0" i="0" sz="3733" u="none" cap="none" strike="noStrike">
              <a:solidFill>
                <a:schemeClr val="dk1"/>
              </a:solidFill>
              <a:latin typeface="Arial"/>
              <a:ea typeface="Arial"/>
              <a:cs typeface="Arial"/>
              <a:sym typeface="Arial"/>
            </a:endParaRPr>
          </a:p>
        </p:txBody>
      </p:sp>
      <p:sp>
        <p:nvSpPr>
          <p:cNvPr id="209" name="Google Shape;209;p4"/>
          <p:cNvSpPr/>
          <p:nvPr/>
        </p:nvSpPr>
        <p:spPr>
          <a:xfrm>
            <a:off x="8778240" y="5035296"/>
            <a:ext cx="2682240" cy="975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to move a GenAI project from intake to production (ModelOp 2025)</a:t>
            </a:r>
            <a:endParaRPr b="0" i="0" sz="1467" u="none" cap="none" strike="noStrike">
              <a:solidFill>
                <a:schemeClr val="dk1"/>
              </a:solidFill>
              <a:latin typeface="Arial"/>
              <a:ea typeface="Arial"/>
              <a:cs typeface="Arial"/>
              <a:sym typeface="Arial"/>
            </a:endParaRPr>
          </a:p>
        </p:txBody>
      </p:sp>
      <p:cxnSp>
        <p:nvCxnSpPr>
          <p:cNvPr id="210" name="Google Shape;210;p4"/>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211" name="Google Shape;211;p4"/>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212" name="Google Shape;212;p4"/>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04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sp>
        <p:nvSpPr>
          <p:cNvPr id="213" name="Google Shape;213;p4"/>
          <p:cNvSpPr/>
          <p:nvPr/>
        </p:nvSpPr>
        <p:spPr>
          <a:xfrm>
            <a:off x="594360" y="6035040"/>
            <a:ext cx="11018400" cy="347400"/>
          </a:xfrm>
          <a:prstGeom prst="roundRect">
            <a:avLst>
              <a:gd fmla="val 16667" name="adj"/>
            </a:avLst>
          </a:prstGeom>
          <a:solidFill>
            <a:srgbClr val="EFF6FF"/>
          </a:solidFill>
          <a:ln cap="flat" cmpd="sng" w="12700">
            <a:solidFill>
              <a:srgbClr val="4285F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14" name="Google Shape;214;p4"/>
          <p:cNvSpPr txBox="1"/>
          <p:nvPr/>
        </p:nvSpPr>
        <p:spPr>
          <a:xfrm>
            <a:off x="777240" y="6108192"/>
            <a:ext cx="10607100" cy="2523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400">
                <a:solidFill>
                  <a:srgbClr val="174EA6"/>
                </a:solidFill>
                <a:latin typeface="Arial"/>
                <a:ea typeface="Arial"/>
                <a:cs typeface="Arial"/>
                <a:sym typeface="Arial"/>
              </a:rPr>
              <a:t>Key question: not “Can it answer?” but “Can we prove it is safe enough to release?”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5"/>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21" name="Google Shape;221;p5"/>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22" name="Google Shape;222;p5"/>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23" name="Google Shape;223;p5"/>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24" name="Google Shape;224;p5"/>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03  ·  OUR SOLUTION  ·  NOVELTY + PROBLEM FIT</a:t>
            </a:r>
            <a:endParaRPr b="0" i="0" sz="1333" u="none" cap="none" strike="noStrike">
              <a:solidFill>
                <a:schemeClr val="dk1"/>
              </a:solidFill>
              <a:latin typeface="Arial"/>
              <a:ea typeface="Arial"/>
              <a:cs typeface="Arial"/>
              <a:sym typeface="Arial"/>
            </a:endParaRPr>
          </a:p>
        </p:txBody>
      </p:sp>
      <p:sp>
        <p:nvSpPr>
          <p:cNvPr id="225" name="Google Shape;225;p5"/>
          <p:cNvSpPr/>
          <p:nvPr/>
        </p:nvSpPr>
        <p:spPr>
          <a:xfrm>
            <a:off x="609600" y="792480"/>
            <a:ext cx="109728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202124"/>
                </a:solidFill>
                <a:latin typeface="Arial"/>
                <a:ea typeface="Arial"/>
                <a:cs typeface="Arial"/>
                <a:sym typeface="Arial"/>
              </a:rPr>
              <a:t>The Agentic AI prototype and what makes it different</a:t>
            </a:r>
            <a:endParaRPr b="0" i="0" sz="3400" u="none" cap="none" strike="noStrike">
              <a:solidFill>
                <a:schemeClr val="dk1"/>
              </a:solidFill>
              <a:latin typeface="Arial"/>
              <a:ea typeface="Arial"/>
              <a:cs typeface="Arial"/>
              <a:sym typeface="Arial"/>
            </a:endParaRPr>
          </a:p>
        </p:txBody>
      </p:sp>
      <p:sp>
        <p:nvSpPr>
          <p:cNvPr id="226" name="Google Shape;226;p5"/>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27" name="Google Shape;227;p5"/>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28" name="Google Shape;228;p5"/>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29" name="Google Shape;229;p5"/>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30" name="Google Shape;230;p5"/>
          <p:cNvSpPr/>
          <p:nvPr/>
        </p:nvSpPr>
        <p:spPr>
          <a:xfrm>
            <a:off x="609600" y="2072640"/>
            <a:ext cx="10972800" cy="1036320"/>
          </a:xfrm>
          <a:prstGeom prst="roundRect">
            <a:avLst>
              <a:gd fmla="val 9412" name="adj"/>
            </a:avLst>
          </a:prstGeom>
          <a:solidFill>
            <a:srgbClr val="F8F9FA"/>
          </a:solidFill>
          <a:ln cap="flat" cmpd="sng" w="9525">
            <a:solidFill>
              <a:srgbClr val="DAD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31" name="Google Shape;231;p5"/>
          <p:cNvSpPr/>
          <p:nvPr/>
        </p:nvSpPr>
        <p:spPr>
          <a:xfrm>
            <a:off x="804675" y="2133600"/>
            <a:ext cx="106254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50"/>
              <a:buFont typeface="Arial"/>
              <a:buNone/>
            </a:pPr>
            <a:r>
              <a:rPr b="0" i="0" lang="en-US" sz="1850" u="none" cap="none" strike="noStrike">
                <a:solidFill>
                  <a:srgbClr val="3C4043"/>
                </a:solidFill>
                <a:latin typeface="Calibri"/>
                <a:ea typeface="Calibri"/>
                <a:cs typeface="Calibri"/>
                <a:sym typeface="Calibri"/>
              </a:rPr>
              <a:t>We built </a:t>
            </a:r>
            <a:r>
              <a:rPr b="1" i="0" lang="en-US" sz="1850" u="none" cap="none" strike="noStrike">
                <a:solidFill>
                  <a:srgbClr val="4285F4"/>
                </a:solidFill>
                <a:latin typeface="Calibri"/>
                <a:ea typeface="Calibri"/>
                <a:cs typeface="Calibri"/>
                <a:sym typeface="Calibri"/>
              </a:rPr>
              <a:t>GenAI Guardrail Factory</a:t>
            </a:r>
            <a:r>
              <a:rPr b="0" i="0" lang="en-US" sz="1850" u="none" cap="none" strike="noStrike">
                <a:solidFill>
                  <a:srgbClr val="3C4043"/>
                </a:solidFill>
                <a:latin typeface="Calibri"/>
                <a:ea typeface="Calibri"/>
                <a:cs typeface="Calibri"/>
                <a:sym typeface="Calibri"/>
              </a:rPr>
              <a:t> that helps </a:t>
            </a:r>
            <a:r>
              <a:rPr b="1" i="0" lang="en-US" sz="1850" u="none" cap="none" strike="noStrike">
                <a:solidFill>
                  <a:srgbClr val="EA4335"/>
                </a:solidFill>
                <a:latin typeface="Calibri"/>
                <a:ea typeface="Calibri"/>
                <a:cs typeface="Calibri"/>
                <a:sym typeface="Calibri"/>
              </a:rPr>
              <a:t>enterprise AI deployment teams</a:t>
            </a:r>
            <a:r>
              <a:rPr b="0" i="0" lang="en-US" sz="1850" u="none" cap="none" strike="noStrike">
                <a:solidFill>
                  <a:srgbClr val="3C4043"/>
                </a:solidFill>
                <a:latin typeface="Calibri"/>
                <a:ea typeface="Calibri"/>
                <a:cs typeface="Calibri"/>
                <a:sym typeface="Calibri"/>
              </a:rPr>
              <a:t> to </a:t>
            </a:r>
            <a:r>
              <a:rPr b="1" i="0" lang="en-US" sz="1850" u="none" cap="none" strike="noStrike">
                <a:solidFill>
                  <a:srgbClr val="34A853"/>
                </a:solidFill>
                <a:latin typeface="Calibri"/>
                <a:ea typeface="Calibri"/>
                <a:cs typeface="Calibri"/>
                <a:sym typeface="Calibri"/>
              </a:rPr>
              <a:t>block unsafe releases, auto-harden prompts, and approve only after measurable recovery</a:t>
            </a:r>
            <a:r>
              <a:rPr b="0" i="0" lang="en-US" sz="1850" u="none" cap="none" strike="noStrike">
                <a:solidFill>
                  <a:srgbClr val="3C4043"/>
                </a:solidFill>
                <a:latin typeface="Calibri"/>
                <a:ea typeface="Calibri"/>
                <a:cs typeface="Calibri"/>
                <a:sym typeface="Calibri"/>
              </a:rPr>
              <a:t> — powered by </a:t>
            </a:r>
            <a:r>
              <a:rPr b="1" i="0" lang="en-US" sz="1850" u="none" cap="none" strike="noStrike">
                <a:solidFill>
                  <a:srgbClr val="202124"/>
                </a:solidFill>
                <a:latin typeface="Calibri"/>
                <a:ea typeface="Calibri"/>
                <a:cs typeface="Calibri"/>
                <a:sym typeface="Calibri"/>
              </a:rPr>
              <a:t>Google ADK, Gemini 2.5 Flash, Vertex AI evaluation patterns, and Cloud Run</a:t>
            </a:r>
            <a:r>
              <a:rPr b="0" i="0" lang="en-US" sz="1850" u="none" cap="none" strike="noStrike">
                <a:solidFill>
                  <a:srgbClr val="3C4043"/>
                </a:solidFill>
                <a:latin typeface="Calibri"/>
                <a:ea typeface="Calibri"/>
                <a:cs typeface="Calibri"/>
                <a:sym typeface="Calibri"/>
              </a:rPr>
              <a:t>.</a:t>
            </a:r>
            <a:endParaRPr b="0" i="0" sz="1850" u="none" cap="none" strike="noStrike">
              <a:solidFill>
                <a:schemeClr val="dk1"/>
              </a:solidFill>
              <a:latin typeface="Arial"/>
              <a:ea typeface="Arial"/>
              <a:cs typeface="Arial"/>
              <a:sym typeface="Arial"/>
            </a:endParaRPr>
          </a:p>
        </p:txBody>
      </p:sp>
      <p:sp>
        <p:nvSpPr>
          <p:cNvPr id="232" name="Google Shape;232;p5"/>
          <p:cNvSpPr/>
          <p:nvPr/>
        </p:nvSpPr>
        <p:spPr>
          <a:xfrm>
            <a:off x="609600" y="3413760"/>
            <a:ext cx="3596640" cy="27432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33" name="Google Shape;233;p5"/>
          <p:cNvSpPr/>
          <p:nvPr/>
        </p:nvSpPr>
        <p:spPr>
          <a:xfrm>
            <a:off x="609600" y="3413760"/>
            <a:ext cx="3596640" cy="97536"/>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34" name="Google Shape;234;p5"/>
          <p:cNvSpPr/>
          <p:nvPr/>
        </p:nvSpPr>
        <p:spPr>
          <a:xfrm>
            <a:off x="914400" y="3718560"/>
            <a:ext cx="670560" cy="670560"/>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35" name="Google Shape;235;p5"/>
          <p:cNvSpPr/>
          <p:nvPr/>
        </p:nvSpPr>
        <p:spPr>
          <a:xfrm>
            <a:off x="914400" y="3718560"/>
            <a:ext cx="670560" cy="6705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667"/>
              <a:buFont typeface="Arial"/>
              <a:buNone/>
            </a:pPr>
            <a:r>
              <a:rPr b="1" i="0" lang="en-US" sz="2667" u="none" cap="none" strike="noStrike">
                <a:solidFill>
                  <a:srgbClr val="FFFFFF"/>
                </a:solidFill>
                <a:latin typeface="Arial"/>
                <a:ea typeface="Arial"/>
                <a:cs typeface="Arial"/>
                <a:sym typeface="Arial"/>
              </a:rPr>
              <a:t>1</a:t>
            </a:r>
            <a:endParaRPr b="0" i="0" sz="2667" u="none" cap="none" strike="noStrike">
              <a:solidFill>
                <a:schemeClr val="dk1"/>
              </a:solidFill>
              <a:latin typeface="Arial"/>
              <a:ea typeface="Arial"/>
              <a:cs typeface="Arial"/>
              <a:sym typeface="Arial"/>
            </a:endParaRPr>
          </a:p>
        </p:txBody>
      </p:sp>
      <p:sp>
        <p:nvSpPr>
          <p:cNvPr id="236" name="Google Shape;236;p5"/>
          <p:cNvSpPr/>
          <p:nvPr/>
        </p:nvSpPr>
        <p:spPr>
          <a:xfrm>
            <a:off x="914400" y="4511040"/>
            <a:ext cx="298704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Agentic, not a wrapper</a:t>
            </a:r>
            <a:endParaRPr b="0" i="0" sz="1867" u="none" cap="none" strike="noStrike">
              <a:solidFill>
                <a:schemeClr val="dk1"/>
              </a:solidFill>
              <a:latin typeface="Arial"/>
              <a:ea typeface="Arial"/>
              <a:cs typeface="Arial"/>
              <a:sym typeface="Arial"/>
            </a:endParaRPr>
          </a:p>
        </p:txBody>
      </p:sp>
      <p:sp>
        <p:nvSpPr>
          <p:cNvPr id="237" name="Google Shape;237;p5"/>
          <p:cNvSpPr/>
          <p:nvPr/>
        </p:nvSpPr>
        <p:spPr>
          <a:xfrm>
            <a:off x="914400" y="4998720"/>
            <a:ext cx="2987040" cy="1036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ADK evaluator agent calls custom tools for groundedness, toxicity, and PII scoring.</a:t>
            </a:r>
            <a:endParaRPr b="0" i="0" sz="1467" u="none" cap="none" strike="noStrike">
              <a:solidFill>
                <a:schemeClr val="dk1"/>
              </a:solidFill>
              <a:latin typeface="Arial"/>
              <a:ea typeface="Arial"/>
              <a:cs typeface="Arial"/>
              <a:sym typeface="Arial"/>
            </a:endParaRPr>
          </a:p>
        </p:txBody>
      </p:sp>
      <p:sp>
        <p:nvSpPr>
          <p:cNvPr id="238" name="Google Shape;238;p5"/>
          <p:cNvSpPr/>
          <p:nvPr/>
        </p:nvSpPr>
        <p:spPr>
          <a:xfrm>
            <a:off x="4328160" y="3413760"/>
            <a:ext cx="3596640" cy="27432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39" name="Google Shape;239;p5"/>
          <p:cNvSpPr/>
          <p:nvPr/>
        </p:nvSpPr>
        <p:spPr>
          <a:xfrm>
            <a:off x="4328160" y="3413760"/>
            <a:ext cx="3596640" cy="97536"/>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40" name="Google Shape;240;p5"/>
          <p:cNvSpPr/>
          <p:nvPr/>
        </p:nvSpPr>
        <p:spPr>
          <a:xfrm>
            <a:off x="4632960" y="3718560"/>
            <a:ext cx="670560" cy="670560"/>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41" name="Google Shape;241;p5"/>
          <p:cNvSpPr/>
          <p:nvPr/>
        </p:nvSpPr>
        <p:spPr>
          <a:xfrm>
            <a:off x="4632960" y="3718560"/>
            <a:ext cx="670560" cy="6705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667"/>
              <a:buFont typeface="Arial"/>
              <a:buNone/>
            </a:pPr>
            <a:r>
              <a:rPr b="1" i="0" lang="en-US" sz="2667" u="none" cap="none" strike="noStrike">
                <a:solidFill>
                  <a:srgbClr val="FFFFFF"/>
                </a:solidFill>
                <a:latin typeface="Arial"/>
                <a:ea typeface="Arial"/>
                <a:cs typeface="Arial"/>
                <a:sym typeface="Arial"/>
              </a:rPr>
              <a:t>2</a:t>
            </a:r>
            <a:endParaRPr b="0" i="0" sz="2667" u="none" cap="none" strike="noStrike">
              <a:solidFill>
                <a:schemeClr val="dk1"/>
              </a:solidFill>
              <a:latin typeface="Arial"/>
              <a:ea typeface="Arial"/>
              <a:cs typeface="Arial"/>
              <a:sym typeface="Arial"/>
            </a:endParaRPr>
          </a:p>
        </p:txBody>
      </p:sp>
      <p:sp>
        <p:nvSpPr>
          <p:cNvPr id="242" name="Google Shape;242;p5"/>
          <p:cNvSpPr/>
          <p:nvPr/>
        </p:nvSpPr>
        <p:spPr>
          <a:xfrm>
            <a:off x="4632960" y="4511040"/>
            <a:ext cx="298704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Grounded in enterprise data</a:t>
            </a:r>
            <a:endParaRPr b="0" i="0" sz="1867" u="none" cap="none" strike="noStrike">
              <a:solidFill>
                <a:schemeClr val="dk1"/>
              </a:solidFill>
              <a:latin typeface="Arial"/>
              <a:ea typeface="Arial"/>
              <a:cs typeface="Arial"/>
              <a:sym typeface="Arial"/>
            </a:endParaRPr>
          </a:p>
        </p:txBody>
      </p:sp>
      <p:sp>
        <p:nvSpPr>
          <p:cNvPr id="243" name="Google Shape;243;p5"/>
          <p:cNvSpPr/>
          <p:nvPr/>
        </p:nvSpPr>
        <p:spPr>
          <a:xfrm>
            <a:off x="4632960" y="4998720"/>
            <a:ext cx="2987040" cy="1036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RAG-grounded checks against synthetic HR policy documents with source-backed scoring.</a:t>
            </a:r>
            <a:endParaRPr b="0" i="0" sz="1467" u="none" cap="none" strike="noStrike">
              <a:solidFill>
                <a:schemeClr val="dk1"/>
              </a:solidFill>
              <a:latin typeface="Arial"/>
              <a:ea typeface="Arial"/>
              <a:cs typeface="Arial"/>
              <a:sym typeface="Arial"/>
            </a:endParaRPr>
          </a:p>
        </p:txBody>
      </p:sp>
      <p:sp>
        <p:nvSpPr>
          <p:cNvPr id="244" name="Google Shape;244;p5"/>
          <p:cNvSpPr/>
          <p:nvPr/>
        </p:nvSpPr>
        <p:spPr>
          <a:xfrm>
            <a:off x="8046720" y="3413760"/>
            <a:ext cx="3596640" cy="27432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45" name="Google Shape;245;p5"/>
          <p:cNvSpPr/>
          <p:nvPr/>
        </p:nvSpPr>
        <p:spPr>
          <a:xfrm>
            <a:off x="8046720" y="3413760"/>
            <a:ext cx="3596640" cy="97536"/>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46" name="Google Shape;246;p5"/>
          <p:cNvSpPr/>
          <p:nvPr/>
        </p:nvSpPr>
        <p:spPr>
          <a:xfrm>
            <a:off x="8351520" y="3718560"/>
            <a:ext cx="670560" cy="670560"/>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47" name="Google Shape;247;p5"/>
          <p:cNvSpPr/>
          <p:nvPr/>
        </p:nvSpPr>
        <p:spPr>
          <a:xfrm>
            <a:off x="8351520" y="3718560"/>
            <a:ext cx="670560" cy="6705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667"/>
              <a:buFont typeface="Arial"/>
              <a:buNone/>
            </a:pPr>
            <a:r>
              <a:rPr b="1" i="0" lang="en-US" sz="2667" u="none" cap="none" strike="noStrike">
                <a:solidFill>
                  <a:srgbClr val="FFFFFF"/>
                </a:solidFill>
                <a:latin typeface="Arial"/>
                <a:ea typeface="Arial"/>
                <a:cs typeface="Arial"/>
                <a:sym typeface="Arial"/>
              </a:rPr>
              <a:t>3</a:t>
            </a:r>
            <a:endParaRPr b="0" i="0" sz="2667" u="none" cap="none" strike="noStrike">
              <a:solidFill>
                <a:schemeClr val="dk1"/>
              </a:solidFill>
              <a:latin typeface="Arial"/>
              <a:ea typeface="Arial"/>
              <a:cs typeface="Arial"/>
              <a:sym typeface="Arial"/>
            </a:endParaRPr>
          </a:p>
        </p:txBody>
      </p:sp>
      <p:sp>
        <p:nvSpPr>
          <p:cNvPr id="248" name="Google Shape;248;p5"/>
          <p:cNvSpPr/>
          <p:nvPr/>
        </p:nvSpPr>
        <p:spPr>
          <a:xfrm>
            <a:off x="8351520" y="4511040"/>
            <a:ext cx="298704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Enterprise-ready</a:t>
            </a:r>
            <a:endParaRPr b="0" i="0" sz="1867" u="none" cap="none" strike="noStrike">
              <a:solidFill>
                <a:schemeClr val="dk1"/>
              </a:solidFill>
              <a:latin typeface="Arial"/>
              <a:ea typeface="Arial"/>
              <a:cs typeface="Arial"/>
              <a:sym typeface="Arial"/>
            </a:endParaRPr>
          </a:p>
        </p:txBody>
      </p:sp>
      <p:sp>
        <p:nvSpPr>
          <p:cNvPr id="249" name="Google Shape;249;p5"/>
          <p:cNvSpPr/>
          <p:nvPr/>
        </p:nvSpPr>
        <p:spPr>
          <a:xfrm>
            <a:off x="8351520" y="4998720"/>
            <a:ext cx="2987040" cy="1036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Configurable thresholds, category floors, critical-failure limits, audit logs, and Cloud Run deployment.</a:t>
            </a:r>
            <a:endParaRPr b="0" i="0" sz="1467" u="none" cap="none" strike="noStrike">
              <a:solidFill>
                <a:schemeClr val="dk1"/>
              </a:solidFill>
              <a:latin typeface="Arial"/>
              <a:ea typeface="Arial"/>
              <a:cs typeface="Arial"/>
              <a:sym typeface="Arial"/>
            </a:endParaRPr>
          </a:p>
        </p:txBody>
      </p:sp>
      <p:cxnSp>
        <p:nvCxnSpPr>
          <p:cNvPr id="250" name="Google Shape;250;p5"/>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251" name="Google Shape;251;p5"/>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252" name="Google Shape;252;p5"/>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05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sp>
        <p:nvSpPr>
          <p:cNvPr id="253" name="Google Shape;253;p5"/>
          <p:cNvSpPr/>
          <p:nvPr/>
        </p:nvSpPr>
        <p:spPr>
          <a:xfrm>
            <a:off x="609600" y="5998475"/>
            <a:ext cx="11033700" cy="402600"/>
          </a:xfrm>
          <a:prstGeom prst="roundRect">
            <a:avLst>
              <a:gd fmla="val 16667" name="adj"/>
            </a:avLst>
          </a:prstGeom>
          <a:solidFill>
            <a:srgbClr val="E8F0FE"/>
          </a:solidFill>
          <a:ln cap="flat" cmpd="sng" w="12700">
            <a:solidFill>
              <a:srgbClr val="4285F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254" name="Google Shape;254;p5"/>
          <p:cNvSpPr txBox="1"/>
          <p:nvPr/>
        </p:nvSpPr>
        <p:spPr>
          <a:xfrm>
            <a:off x="868675" y="6076335"/>
            <a:ext cx="10515600" cy="267900"/>
          </a:xfrm>
          <a:prstGeom prst="rect">
            <a:avLst/>
          </a:prstGeom>
          <a:noFill/>
          <a:ln>
            <a:noFill/>
          </a:ln>
        </p:spPr>
        <p:txBody>
          <a:bodyPr anchorCtr="0" anchor="t" bIns="18275" lIns="45700" spcFirstLastPara="1" rIns="45700" wrap="square" tIns="18275">
            <a:spAutoFit/>
          </a:bodyPr>
          <a:lstStyle/>
          <a:p>
            <a:pPr indent="0" lvl="0" marL="0" marR="0" rtl="0" algn="ctr">
              <a:spcBef>
                <a:spcPts val="0"/>
              </a:spcBef>
              <a:spcAft>
                <a:spcPts val="0"/>
              </a:spcAft>
              <a:buNone/>
            </a:pPr>
            <a:r>
              <a:rPr b="1" i="0" lang="en-US" sz="1500">
                <a:solidFill>
                  <a:srgbClr val="0F3460"/>
                </a:solidFill>
                <a:latin typeface="Arial"/>
                <a:ea typeface="Arial"/>
                <a:cs typeface="Arial"/>
                <a:sym typeface="Arial"/>
              </a:rPr>
              <a:t>Novelty: not just AI evaluating AI — AI evaluating, explaining, hardening, and verifying AI</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6"/>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61" name="Google Shape;261;p6"/>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62" name="Google Shape;262;p6"/>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63" name="Google Shape;263;p6"/>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64" name="Google Shape;264;p6"/>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04  ·  SOLUTION IN ACTION  ·  EVIDENCE</a:t>
            </a:r>
            <a:endParaRPr b="0" i="0" sz="1333" u="none" cap="none" strike="noStrike">
              <a:solidFill>
                <a:schemeClr val="dk1"/>
              </a:solidFill>
              <a:latin typeface="Arial"/>
              <a:ea typeface="Arial"/>
              <a:cs typeface="Arial"/>
              <a:sym typeface="Arial"/>
            </a:endParaRPr>
          </a:p>
        </p:txBody>
      </p:sp>
      <p:sp>
        <p:nvSpPr>
          <p:cNvPr id="265" name="Google Shape;265;p6"/>
          <p:cNvSpPr/>
          <p:nvPr/>
        </p:nvSpPr>
        <p:spPr>
          <a:xfrm>
            <a:off x="609600" y="792480"/>
            <a:ext cx="109728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i="0" lang="en-US" sz="3467" u="none" cap="none" strike="noStrike">
                <a:solidFill>
                  <a:srgbClr val="202124"/>
                </a:solidFill>
                <a:latin typeface="Arial"/>
                <a:ea typeface="Arial"/>
                <a:cs typeface="Arial"/>
                <a:sym typeface="Arial"/>
              </a:rPr>
              <a:t>Preview / demo — a real user journey</a:t>
            </a:r>
            <a:endParaRPr b="0" i="0" sz="3467" u="none" cap="none" strike="noStrike">
              <a:solidFill>
                <a:schemeClr val="dk1"/>
              </a:solidFill>
              <a:latin typeface="Arial"/>
              <a:ea typeface="Arial"/>
              <a:cs typeface="Arial"/>
              <a:sym typeface="Arial"/>
            </a:endParaRPr>
          </a:p>
        </p:txBody>
      </p:sp>
      <p:sp>
        <p:nvSpPr>
          <p:cNvPr id="266" name="Google Shape;266;p6"/>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67" name="Google Shape;267;p6"/>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68" name="Google Shape;268;p6"/>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69" name="Google Shape;269;p6"/>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70" name="Google Shape;270;p6"/>
          <p:cNvSpPr/>
          <p:nvPr/>
        </p:nvSpPr>
        <p:spPr>
          <a:xfrm>
            <a:off x="609600" y="2072640"/>
            <a:ext cx="7071360" cy="4084320"/>
          </a:xfrm>
          <a:prstGeom prst="rect">
            <a:avLst/>
          </a:prstGeom>
          <a:solidFill>
            <a:srgbClr val="F8F9FA"/>
          </a:solidFill>
          <a:ln cap="flat" cmpd="sng" w="12700">
            <a:solidFill>
              <a:srgbClr val="DAD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71" name="Google Shape;271;p6"/>
          <p:cNvSpPr/>
          <p:nvPr/>
        </p:nvSpPr>
        <p:spPr>
          <a:xfrm>
            <a:off x="609600" y="2072640"/>
            <a:ext cx="7071300" cy="408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33"/>
              <a:buFont typeface="Arial"/>
              <a:buNone/>
            </a:pPr>
            <a:r>
              <a:rPr b="0" i="1" lang="en-US" sz="1733" u="none" cap="none" strike="noStrike">
                <a:solidFill>
                  <a:srgbClr val="5F6368"/>
                </a:solidFill>
                <a:latin typeface="Calibri"/>
                <a:ea typeface="Calibri"/>
                <a:cs typeface="Calibri"/>
                <a:sym typeface="Calibri"/>
              </a:rPr>
              <a:t>[ Insert screenshot: Preview Chat / Playground / App Engine UI ]</a:t>
            </a:r>
            <a:endParaRPr b="0" i="0" sz="1733" u="none" cap="none" strike="noStrike">
              <a:solidFill>
                <a:schemeClr val="dk1"/>
              </a:solidFill>
              <a:latin typeface="Arial"/>
              <a:ea typeface="Arial"/>
              <a:cs typeface="Arial"/>
              <a:sym typeface="Arial"/>
            </a:endParaRPr>
          </a:p>
        </p:txBody>
      </p:sp>
      <p:sp>
        <p:nvSpPr>
          <p:cNvPr id="272" name="Google Shape;272;p6"/>
          <p:cNvSpPr/>
          <p:nvPr/>
        </p:nvSpPr>
        <p:spPr>
          <a:xfrm>
            <a:off x="609600" y="6187435"/>
            <a:ext cx="7071300" cy="24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t/>
            </a:r>
            <a:endParaRPr b="0" i="1" sz="900" u="none" cap="none" strike="noStrike">
              <a:solidFill>
                <a:srgbClr val="5F6368"/>
              </a:solidFill>
              <a:latin typeface="Calibri"/>
              <a:ea typeface="Calibri"/>
              <a:cs typeface="Calibri"/>
              <a:sym typeface="Calibri"/>
            </a:endParaRPr>
          </a:p>
        </p:txBody>
      </p:sp>
      <p:sp>
        <p:nvSpPr>
          <p:cNvPr id="273" name="Google Shape;273;p6"/>
          <p:cNvSpPr/>
          <p:nvPr/>
        </p:nvSpPr>
        <p:spPr>
          <a:xfrm>
            <a:off x="7985760" y="2072640"/>
            <a:ext cx="3657600" cy="34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USER JOURNEY</a:t>
            </a:r>
            <a:endParaRPr b="0" i="0" sz="1333" u="none" cap="none" strike="noStrike">
              <a:solidFill>
                <a:schemeClr val="dk1"/>
              </a:solidFill>
              <a:latin typeface="Arial"/>
              <a:ea typeface="Arial"/>
              <a:cs typeface="Arial"/>
              <a:sym typeface="Arial"/>
            </a:endParaRPr>
          </a:p>
        </p:txBody>
      </p:sp>
      <p:cxnSp>
        <p:nvCxnSpPr>
          <p:cNvPr id="274" name="Google Shape;274;p6"/>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275" name="Google Shape;275;p6"/>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276" name="Google Shape;276;p6"/>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06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pic>
        <p:nvPicPr>
          <p:cNvPr id="277" name="Google Shape;277;p6" title="approved_dashboard_7.73x4.47in_600dpi_full_uncropped.png"/>
          <p:cNvPicPr preferRelativeResize="0"/>
          <p:nvPr/>
        </p:nvPicPr>
        <p:blipFill rotWithShape="1">
          <a:blip r:embed="rId3">
            <a:alphaModFix/>
          </a:blip>
          <a:srcRect b="0" l="5561" r="6581" t="0"/>
          <a:stretch/>
        </p:blipFill>
        <p:spPr>
          <a:xfrm>
            <a:off x="609550" y="2072650"/>
            <a:ext cx="7071350" cy="4114776"/>
          </a:xfrm>
          <a:prstGeom prst="rect">
            <a:avLst/>
          </a:prstGeom>
          <a:noFill/>
          <a:ln>
            <a:noFill/>
          </a:ln>
        </p:spPr>
      </p:pic>
      <p:sp>
        <p:nvSpPr>
          <p:cNvPr id="278" name="Google Shape;278;p6"/>
          <p:cNvSpPr/>
          <p:nvPr/>
        </p:nvSpPr>
        <p:spPr>
          <a:xfrm>
            <a:off x="7985745" y="2497791"/>
            <a:ext cx="237600" cy="237600"/>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79" name="Google Shape;279;p6"/>
          <p:cNvSpPr/>
          <p:nvPr/>
        </p:nvSpPr>
        <p:spPr>
          <a:xfrm>
            <a:off x="7985745" y="2538939"/>
            <a:ext cx="237600" cy="91500"/>
          </a:xfrm>
          <a:prstGeom prst="rect">
            <a:avLst/>
          </a:prstGeom>
          <a:noFill/>
          <a:ln>
            <a:noFill/>
          </a:ln>
        </p:spPr>
        <p:txBody>
          <a:bodyPr anchorCtr="0" anchor="t" bIns="625" lIns="625" spcFirstLastPara="1" rIns="625" wrap="square" tIns="625">
            <a:noAutofit/>
          </a:bodyPr>
          <a:lstStyle/>
          <a:p>
            <a:pPr indent="0" lvl="0" marL="0" marR="0" rtl="0" algn="ctr">
              <a:spcBef>
                <a:spcPts val="0"/>
              </a:spcBef>
              <a:spcAft>
                <a:spcPts val="0"/>
              </a:spcAft>
              <a:buClr>
                <a:srgbClr val="FFFFFF"/>
              </a:buClr>
              <a:buSzPts val="800"/>
              <a:buFont typeface="Arial"/>
              <a:buNone/>
            </a:pPr>
            <a:r>
              <a:rPr b="1" lang="en-US" sz="1000">
                <a:solidFill>
                  <a:srgbClr val="FFFFFF"/>
                </a:solidFill>
                <a:latin typeface="Arial"/>
                <a:ea typeface="Arial"/>
                <a:cs typeface="Arial"/>
                <a:sym typeface="Arial"/>
              </a:rPr>
              <a:t>1</a:t>
            </a:r>
            <a:endParaRPr sz="1000">
              <a:solidFill>
                <a:srgbClr val="000000"/>
              </a:solidFill>
              <a:latin typeface="Arial"/>
              <a:ea typeface="Arial"/>
              <a:cs typeface="Arial"/>
              <a:sym typeface="Arial"/>
            </a:endParaRPr>
          </a:p>
        </p:txBody>
      </p:sp>
      <p:sp>
        <p:nvSpPr>
          <p:cNvPr id="280" name="Google Shape;280;p6"/>
          <p:cNvSpPr/>
          <p:nvPr/>
        </p:nvSpPr>
        <p:spPr>
          <a:xfrm>
            <a:off x="8296641" y="2497791"/>
            <a:ext cx="3557100" cy="201300"/>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202124"/>
              </a:buClr>
              <a:buSzPts val="1250"/>
              <a:buFont typeface="Arial"/>
              <a:buNone/>
            </a:pPr>
            <a:r>
              <a:rPr b="1" lang="en-US" sz="1250">
                <a:solidFill>
                  <a:srgbClr val="202124"/>
                </a:solidFill>
                <a:latin typeface="Arial"/>
                <a:ea typeface="Arial"/>
                <a:cs typeface="Arial"/>
                <a:sym typeface="Arial"/>
              </a:rPr>
              <a:t>Submit App</a:t>
            </a:r>
            <a:endParaRPr sz="1250">
              <a:solidFill>
                <a:srgbClr val="000000"/>
              </a:solidFill>
              <a:latin typeface="Arial"/>
              <a:ea typeface="Arial"/>
              <a:cs typeface="Arial"/>
              <a:sym typeface="Arial"/>
            </a:endParaRPr>
          </a:p>
        </p:txBody>
      </p:sp>
      <p:sp>
        <p:nvSpPr>
          <p:cNvPr id="281" name="Google Shape;281;p6"/>
          <p:cNvSpPr/>
          <p:nvPr/>
        </p:nvSpPr>
        <p:spPr>
          <a:xfrm>
            <a:off x="7985745" y="3137871"/>
            <a:ext cx="237600" cy="237600"/>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82" name="Google Shape;282;p6"/>
          <p:cNvSpPr/>
          <p:nvPr/>
        </p:nvSpPr>
        <p:spPr>
          <a:xfrm>
            <a:off x="7985745" y="3179019"/>
            <a:ext cx="237600" cy="91500"/>
          </a:xfrm>
          <a:prstGeom prst="rect">
            <a:avLst/>
          </a:prstGeom>
          <a:noFill/>
          <a:ln>
            <a:noFill/>
          </a:ln>
        </p:spPr>
        <p:txBody>
          <a:bodyPr anchorCtr="0" anchor="t" bIns="625" lIns="625" spcFirstLastPara="1" rIns="625" wrap="square" tIns="625">
            <a:noAutofit/>
          </a:bodyPr>
          <a:lstStyle/>
          <a:p>
            <a:pPr indent="0" lvl="0" marL="0" marR="0" rtl="0" algn="ctr">
              <a:spcBef>
                <a:spcPts val="0"/>
              </a:spcBef>
              <a:spcAft>
                <a:spcPts val="0"/>
              </a:spcAft>
              <a:buClr>
                <a:srgbClr val="FFFFFF"/>
              </a:buClr>
              <a:buSzPts val="800"/>
              <a:buFont typeface="Arial"/>
              <a:buNone/>
            </a:pPr>
            <a:r>
              <a:rPr b="1" lang="en-US" sz="1000">
                <a:solidFill>
                  <a:srgbClr val="FFFFFF"/>
                </a:solidFill>
                <a:latin typeface="Arial"/>
                <a:ea typeface="Arial"/>
                <a:cs typeface="Arial"/>
                <a:sym typeface="Arial"/>
              </a:rPr>
              <a:t>2</a:t>
            </a:r>
            <a:endParaRPr sz="1000">
              <a:solidFill>
                <a:srgbClr val="000000"/>
              </a:solidFill>
              <a:latin typeface="Arial"/>
              <a:ea typeface="Arial"/>
              <a:cs typeface="Arial"/>
              <a:sym typeface="Arial"/>
            </a:endParaRPr>
          </a:p>
        </p:txBody>
      </p:sp>
      <p:sp>
        <p:nvSpPr>
          <p:cNvPr id="283" name="Google Shape;283;p6"/>
          <p:cNvSpPr/>
          <p:nvPr/>
        </p:nvSpPr>
        <p:spPr>
          <a:xfrm>
            <a:off x="8296641" y="3137871"/>
            <a:ext cx="3557100" cy="201300"/>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202124"/>
              </a:buClr>
              <a:buSzPts val="1250"/>
              <a:buFont typeface="Arial"/>
              <a:buNone/>
            </a:pPr>
            <a:r>
              <a:rPr b="1" lang="en-US" sz="1250">
                <a:solidFill>
                  <a:srgbClr val="202124"/>
                </a:solidFill>
                <a:latin typeface="Arial"/>
                <a:ea typeface="Arial"/>
                <a:cs typeface="Arial"/>
                <a:sym typeface="Arial"/>
              </a:rPr>
              <a:t>Adversarial Tests</a:t>
            </a:r>
            <a:endParaRPr sz="1250">
              <a:solidFill>
                <a:srgbClr val="000000"/>
              </a:solidFill>
              <a:latin typeface="Arial"/>
              <a:ea typeface="Arial"/>
              <a:cs typeface="Arial"/>
              <a:sym typeface="Arial"/>
            </a:endParaRPr>
          </a:p>
        </p:txBody>
      </p:sp>
      <p:sp>
        <p:nvSpPr>
          <p:cNvPr id="284" name="Google Shape;284;p6"/>
          <p:cNvSpPr/>
          <p:nvPr/>
        </p:nvSpPr>
        <p:spPr>
          <a:xfrm>
            <a:off x="7985745" y="3777951"/>
            <a:ext cx="237600" cy="237600"/>
          </a:xfrm>
          <a:prstGeom prst="ellipse">
            <a:avLst/>
          </a:prstGeom>
          <a:solidFill>
            <a:srgbClr val="FBBC05"/>
          </a:solidFill>
          <a:ln cap="flat" cmpd="sng" w="12700">
            <a:solidFill>
              <a:srgbClr val="FBBC0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85" name="Google Shape;285;p6"/>
          <p:cNvSpPr/>
          <p:nvPr/>
        </p:nvSpPr>
        <p:spPr>
          <a:xfrm>
            <a:off x="7985745" y="3819099"/>
            <a:ext cx="237600" cy="91500"/>
          </a:xfrm>
          <a:prstGeom prst="rect">
            <a:avLst/>
          </a:prstGeom>
          <a:noFill/>
          <a:ln>
            <a:noFill/>
          </a:ln>
        </p:spPr>
        <p:txBody>
          <a:bodyPr anchorCtr="0" anchor="t" bIns="625" lIns="625" spcFirstLastPara="1" rIns="625" wrap="square" tIns="625">
            <a:noAutofit/>
          </a:bodyPr>
          <a:lstStyle/>
          <a:p>
            <a:pPr indent="0" lvl="0" marL="0" marR="0" rtl="0" algn="ctr">
              <a:spcBef>
                <a:spcPts val="0"/>
              </a:spcBef>
              <a:spcAft>
                <a:spcPts val="0"/>
              </a:spcAft>
              <a:buClr>
                <a:srgbClr val="FFFFFF"/>
              </a:buClr>
              <a:buSzPts val="800"/>
              <a:buFont typeface="Arial"/>
              <a:buNone/>
            </a:pPr>
            <a:r>
              <a:rPr b="1" lang="en-US" sz="1000">
                <a:solidFill>
                  <a:srgbClr val="FFFFFF"/>
                </a:solidFill>
                <a:latin typeface="Arial"/>
                <a:ea typeface="Arial"/>
                <a:cs typeface="Arial"/>
                <a:sym typeface="Arial"/>
              </a:rPr>
              <a:t>3</a:t>
            </a:r>
            <a:endParaRPr sz="1000">
              <a:solidFill>
                <a:srgbClr val="000000"/>
              </a:solidFill>
              <a:latin typeface="Arial"/>
              <a:ea typeface="Arial"/>
              <a:cs typeface="Arial"/>
              <a:sym typeface="Arial"/>
            </a:endParaRPr>
          </a:p>
        </p:txBody>
      </p:sp>
      <p:sp>
        <p:nvSpPr>
          <p:cNvPr id="286" name="Google Shape;286;p6"/>
          <p:cNvSpPr/>
          <p:nvPr/>
        </p:nvSpPr>
        <p:spPr>
          <a:xfrm>
            <a:off x="8296641" y="3777951"/>
            <a:ext cx="3557100" cy="201300"/>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202124"/>
              </a:buClr>
              <a:buSzPts val="1250"/>
              <a:buFont typeface="Arial"/>
              <a:buNone/>
            </a:pPr>
            <a:r>
              <a:rPr b="1" lang="en-US" sz="1250">
                <a:solidFill>
                  <a:srgbClr val="202124"/>
                </a:solidFill>
                <a:latin typeface="Arial"/>
                <a:ea typeface="Arial"/>
                <a:cs typeface="Arial"/>
                <a:sym typeface="Arial"/>
              </a:rPr>
              <a:t>Safety Scoring</a:t>
            </a:r>
            <a:endParaRPr sz="1250">
              <a:solidFill>
                <a:srgbClr val="000000"/>
              </a:solidFill>
              <a:latin typeface="Arial"/>
              <a:ea typeface="Arial"/>
              <a:cs typeface="Arial"/>
              <a:sym typeface="Arial"/>
            </a:endParaRPr>
          </a:p>
        </p:txBody>
      </p:sp>
      <p:sp>
        <p:nvSpPr>
          <p:cNvPr id="287" name="Google Shape;287;p6"/>
          <p:cNvSpPr/>
          <p:nvPr/>
        </p:nvSpPr>
        <p:spPr>
          <a:xfrm>
            <a:off x="7985745" y="4418031"/>
            <a:ext cx="237600" cy="237600"/>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88" name="Google Shape;288;p6"/>
          <p:cNvSpPr/>
          <p:nvPr/>
        </p:nvSpPr>
        <p:spPr>
          <a:xfrm>
            <a:off x="7985745" y="4459179"/>
            <a:ext cx="237600" cy="91500"/>
          </a:xfrm>
          <a:prstGeom prst="rect">
            <a:avLst/>
          </a:prstGeom>
          <a:noFill/>
          <a:ln>
            <a:noFill/>
          </a:ln>
        </p:spPr>
        <p:txBody>
          <a:bodyPr anchorCtr="0" anchor="t" bIns="625" lIns="625" spcFirstLastPara="1" rIns="625" wrap="square" tIns="625">
            <a:noAutofit/>
          </a:bodyPr>
          <a:lstStyle/>
          <a:p>
            <a:pPr indent="0" lvl="0" marL="0" marR="0" rtl="0" algn="ctr">
              <a:spcBef>
                <a:spcPts val="0"/>
              </a:spcBef>
              <a:spcAft>
                <a:spcPts val="0"/>
              </a:spcAft>
              <a:buClr>
                <a:srgbClr val="FFFFFF"/>
              </a:buClr>
              <a:buSzPts val="800"/>
              <a:buFont typeface="Arial"/>
              <a:buNone/>
            </a:pPr>
            <a:r>
              <a:rPr b="1" lang="en-US" sz="1000">
                <a:solidFill>
                  <a:srgbClr val="FFFFFF"/>
                </a:solidFill>
                <a:latin typeface="Arial"/>
                <a:ea typeface="Arial"/>
                <a:cs typeface="Arial"/>
                <a:sym typeface="Arial"/>
              </a:rPr>
              <a:t>4</a:t>
            </a:r>
            <a:endParaRPr sz="1000">
              <a:solidFill>
                <a:srgbClr val="000000"/>
              </a:solidFill>
              <a:latin typeface="Arial"/>
              <a:ea typeface="Arial"/>
              <a:cs typeface="Arial"/>
              <a:sym typeface="Arial"/>
            </a:endParaRPr>
          </a:p>
        </p:txBody>
      </p:sp>
      <p:sp>
        <p:nvSpPr>
          <p:cNvPr id="289" name="Google Shape;289;p6"/>
          <p:cNvSpPr/>
          <p:nvPr/>
        </p:nvSpPr>
        <p:spPr>
          <a:xfrm>
            <a:off x="8296641" y="4418031"/>
            <a:ext cx="3557100" cy="201300"/>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202124"/>
              </a:buClr>
              <a:buSzPts val="1250"/>
              <a:buFont typeface="Arial"/>
              <a:buNone/>
            </a:pPr>
            <a:r>
              <a:rPr b="1" lang="en-US" sz="1250">
                <a:solidFill>
                  <a:srgbClr val="202124"/>
                </a:solidFill>
                <a:latin typeface="Arial"/>
                <a:ea typeface="Arial"/>
                <a:cs typeface="Arial"/>
                <a:sym typeface="Arial"/>
              </a:rPr>
              <a:t>Deployment Blocked</a:t>
            </a:r>
            <a:endParaRPr sz="1250">
              <a:solidFill>
                <a:srgbClr val="000000"/>
              </a:solidFill>
              <a:latin typeface="Arial"/>
              <a:ea typeface="Arial"/>
              <a:cs typeface="Arial"/>
              <a:sym typeface="Arial"/>
            </a:endParaRPr>
          </a:p>
        </p:txBody>
      </p:sp>
      <p:sp>
        <p:nvSpPr>
          <p:cNvPr id="290" name="Google Shape;290;p6"/>
          <p:cNvSpPr/>
          <p:nvPr/>
        </p:nvSpPr>
        <p:spPr>
          <a:xfrm>
            <a:off x="7985745" y="5058111"/>
            <a:ext cx="237600" cy="237600"/>
          </a:xfrm>
          <a:prstGeom prst="ellipse">
            <a:avLst/>
          </a:prstGeom>
          <a:solidFill>
            <a:srgbClr val="7E3AF2"/>
          </a:solidFill>
          <a:ln cap="flat" cmpd="sng" w="12700">
            <a:solidFill>
              <a:srgbClr val="7E3A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91" name="Google Shape;291;p6"/>
          <p:cNvSpPr/>
          <p:nvPr/>
        </p:nvSpPr>
        <p:spPr>
          <a:xfrm>
            <a:off x="7985745" y="5099259"/>
            <a:ext cx="237600" cy="91500"/>
          </a:xfrm>
          <a:prstGeom prst="rect">
            <a:avLst/>
          </a:prstGeom>
          <a:noFill/>
          <a:ln>
            <a:noFill/>
          </a:ln>
        </p:spPr>
        <p:txBody>
          <a:bodyPr anchorCtr="0" anchor="t" bIns="625" lIns="625" spcFirstLastPara="1" rIns="625" wrap="square" tIns="625">
            <a:noAutofit/>
          </a:bodyPr>
          <a:lstStyle/>
          <a:p>
            <a:pPr indent="0" lvl="0" marL="0" marR="0" rtl="0" algn="ctr">
              <a:spcBef>
                <a:spcPts val="0"/>
              </a:spcBef>
              <a:spcAft>
                <a:spcPts val="0"/>
              </a:spcAft>
              <a:buClr>
                <a:srgbClr val="FFFFFF"/>
              </a:buClr>
              <a:buSzPts val="800"/>
              <a:buFont typeface="Arial"/>
              <a:buNone/>
            </a:pPr>
            <a:r>
              <a:rPr b="1" lang="en-US" sz="1000">
                <a:solidFill>
                  <a:srgbClr val="FFFFFF"/>
                </a:solidFill>
                <a:latin typeface="Arial"/>
                <a:ea typeface="Arial"/>
                <a:cs typeface="Arial"/>
                <a:sym typeface="Arial"/>
              </a:rPr>
              <a:t>5</a:t>
            </a:r>
            <a:endParaRPr sz="1000">
              <a:solidFill>
                <a:srgbClr val="000000"/>
              </a:solidFill>
              <a:latin typeface="Arial"/>
              <a:ea typeface="Arial"/>
              <a:cs typeface="Arial"/>
              <a:sym typeface="Arial"/>
            </a:endParaRPr>
          </a:p>
        </p:txBody>
      </p:sp>
      <p:sp>
        <p:nvSpPr>
          <p:cNvPr id="292" name="Google Shape;292;p6"/>
          <p:cNvSpPr/>
          <p:nvPr/>
        </p:nvSpPr>
        <p:spPr>
          <a:xfrm>
            <a:off x="8296641" y="5058111"/>
            <a:ext cx="3557100" cy="201300"/>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202124"/>
              </a:buClr>
              <a:buSzPts val="1250"/>
              <a:buFont typeface="Arial"/>
              <a:buNone/>
            </a:pPr>
            <a:r>
              <a:rPr b="1" lang="en-US" sz="1250">
                <a:solidFill>
                  <a:srgbClr val="202124"/>
                </a:solidFill>
                <a:latin typeface="Arial"/>
                <a:ea typeface="Arial"/>
                <a:cs typeface="Arial"/>
                <a:sym typeface="Arial"/>
              </a:rPr>
              <a:t>Auto-Remediation</a:t>
            </a:r>
            <a:endParaRPr sz="1250">
              <a:solidFill>
                <a:srgbClr val="000000"/>
              </a:solidFill>
              <a:latin typeface="Arial"/>
              <a:ea typeface="Arial"/>
              <a:cs typeface="Arial"/>
              <a:sym typeface="Arial"/>
            </a:endParaRPr>
          </a:p>
        </p:txBody>
      </p:sp>
      <p:sp>
        <p:nvSpPr>
          <p:cNvPr id="293" name="Google Shape;293;p6"/>
          <p:cNvSpPr/>
          <p:nvPr/>
        </p:nvSpPr>
        <p:spPr>
          <a:xfrm>
            <a:off x="7985745" y="5698191"/>
            <a:ext cx="237600" cy="237600"/>
          </a:xfrm>
          <a:prstGeom prst="ellipse">
            <a:avLst/>
          </a:prstGeom>
          <a:solidFill>
            <a:srgbClr val="0891B2"/>
          </a:solidFill>
          <a:ln cap="flat" cmpd="sng" w="12700">
            <a:solidFill>
              <a:srgbClr val="0891B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94" name="Google Shape;294;p6"/>
          <p:cNvSpPr/>
          <p:nvPr/>
        </p:nvSpPr>
        <p:spPr>
          <a:xfrm>
            <a:off x="7985745" y="5739339"/>
            <a:ext cx="237600" cy="91500"/>
          </a:xfrm>
          <a:prstGeom prst="rect">
            <a:avLst/>
          </a:prstGeom>
          <a:noFill/>
          <a:ln>
            <a:noFill/>
          </a:ln>
        </p:spPr>
        <p:txBody>
          <a:bodyPr anchorCtr="0" anchor="t" bIns="625" lIns="625" spcFirstLastPara="1" rIns="625" wrap="square" tIns="625">
            <a:noAutofit/>
          </a:bodyPr>
          <a:lstStyle/>
          <a:p>
            <a:pPr indent="0" lvl="0" marL="0" marR="0" rtl="0" algn="ctr">
              <a:spcBef>
                <a:spcPts val="0"/>
              </a:spcBef>
              <a:spcAft>
                <a:spcPts val="0"/>
              </a:spcAft>
              <a:buClr>
                <a:srgbClr val="FFFFFF"/>
              </a:buClr>
              <a:buSzPts val="800"/>
              <a:buFont typeface="Arial"/>
              <a:buNone/>
            </a:pPr>
            <a:r>
              <a:rPr b="1" lang="en-US" sz="800">
                <a:solidFill>
                  <a:srgbClr val="FFFFFF"/>
                </a:solidFill>
                <a:latin typeface="Arial"/>
                <a:ea typeface="Arial"/>
                <a:cs typeface="Arial"/>
                <a:sym typeface="Arial"/>
              </a:rPr>
              <a:t>6</a:t>
            </a:r>
            <a:endParaRPr sz="1000">
              <a:solidFill>
                <a:srgbClr val="000000"/>
              </a:solidFill>
              <a:latin typeface="Arial"/>
              <a:ea typeface="Arial"/>
              <a:cs typeface="Arial"/>
              <a:sym typeface="Arial"/>
            </a:endParaRPr>
          </a:p>
        </p:txBody>
      </p:sp>
      <p:sp>
        <p:nvSpPr>
          <p:cNvPr id="295" name="Google Shape;295;p6"/>
          <p:cNvSpPr/>
          <p:nvPr/>
        </p:nvSpPr>
        <p:spPr>
          <a:xfrm>
            <a:off x="8296641" y="5698191"/>
            <a:ext cx="3557100" cy="201300"/>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202124"/>
              </a:buClr>
              <a:buSzPts val="1250"/>
              <a:buFont typeface="Arial"/>
              <a:buNone/>
            </a:pPr>
            <a:r>
              <a:rPr b="1" lang="en-US" sz="1250">
                <a:solidFill>
                  <a:srgbClr val="202124"/>
                </a:solidFill>
                <a:latin typeface="Arial"/>
                <a:ea typeface="Arial"/>
                <a:cs typeface="Arial"/>
                <a:sym typeface="Arial"/>
              </a:rPr>
              <a:t>Approved After Recovery</a:t>
            </a:r>
            <a:endParaRPr sz="1250">
              <a:solidFill>
                <a:srgbClr val="000000"/>
              </a:solidFill>
              <a:latin typeface="Arial"/>
              <a:ea typeface="Arial"/>
              <a:cs typeface="Arial"/>
              <a:sym typeface="Arial"/>
            </a:endParaRPr>
          </a:p>
        </p:txBody>
      </p:sp>
      <p:sp>
        <p:nvSpPr>
          <p:cNvPr id="296" name="Google Shape;296;p6"/>
          <p:cNvSpPr txBox="1"/>
          <p:nvPr/>
        </p:nvSpPr>
        <p:spPr>
          <a:xfrm>
            <a:off x="8223350" y="2749125"/>
            <a:ext cx="349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solidFill>
                  <a:schemeClr val="dk1"/>
                </a:solidFill>
              </a:rPr>
              <a:t>App submitted with model, thresholds, and policy corpus.</a:t>
            </a:r>
            <a:endParaRPr sz="500">
              <a:solidFill>
                <a:schemeClr val="dk1"/>
              </a:solidFill>
            </a:endParaRPr>
          </a:p>
        </p:txBody>
      </p:sp>
      <p:sp>
        <p:nvSpPr>
          <p:cNvPr id="297" name="Google Shape;297;p6"/>
          <p:cNvSpPr txBox="1"/>
          <p:nvPr/>
        </p:nvSpPr>
        <p:spPr>
          <a:xfrm>
            <a:off x="8223350" y="3389213"/>
            <a:ext cx="34977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rPr>
              <a:t>Gemini creates failure-seeking safety tests.</a:t>
            </a:r>
            <a:endParaRPr sz="1000">
              <a:solidFill>
                <a:schemeClr val="dk1"/>
              </a:solidFill>
            </a:endParaRPr>
          </a:p>
        </p:txBody>
      </p:sp>
      <p:sp>
        <p:nvSpPr>
          <p:cNvPr id="298" name="Google Shape;298;p6"/>
          <p:cNvSpPr txBox="1"/>
          <p:nvPr/>
        </p:nvSpPr>
        <p:spPr>
          <a:xfrm>
            <a:off x="8223350" y="4029288"/>
            <a:ext cx="34977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rPr>
              <a:t>ADK scores groundedness, toxicity, and PII risk.</a:t>
            </a:r>
            <a:endParaRPr sz="1000">
              <a:solidFill>
                <a:schemeClr val="dk1"/>
              </a:solidFill>
            </a:endParaRPr>
          </a:p>
        </p:txBody>
      </p:sp>
      <p:sp>
        <p:nvSpPr>
          <p:cNvPr id="299" name="Google Shape;299;p6"/>
          <p:cNvSpPr txBox="1"/>
          <p:nvPr/>
        </p:nvSpPr>
        <p:spPr>
          <a:xfrm>
            <a:off x="8223350" y="4669363"/>
            <a:ext cx="34977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rPr>
              <a:t>Release gate blocks unsafe deployment.</a:t>
            </a:r>
            <a:endParaRPr sz="1000">
              <a:solidFill>
                <a:schemeClr val="dk1"/>
              </a:solidFill>
            </a:endParaRPr>
          </a:p>
        </p:txBody>
      </p:sp>
      <p:sp>
        <p:nvSpPr>
          <p:cNvPr id="300" name="Google Shape;300;p6"/>
          <p:cNvSpPr txBox="1"/>
          <p:nvPr/>
        </p:nvSpPr>
        <p:spPr>
          <a:xfrm>
            <a:off x="8223350" y="5309450"/>
            <a:ext cx="34977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rPr>
              <a:t>Gemini diagnoses failures and hardens prompts.</a:t>
            </a:r>
            <a:endParaRPr sz="1000">
              <a:solidFill>
                <a:schemeClr val="dk1"/>
              </a:solidFill>
            </a:endParaRPr>
          </a:p>
        </p:txBody>
      </p:sp>
      <p:sp>
        <p:nvSpPr>
          <p:cNvPr id="301" name="Google Shape;301;p6"/>
          <p:cNvSpPr txBox="1"/>
          <p:nvPr/>
        </p:nvSpPr>
        <p:spPr>
          <a:xfrm>
            <a:off x="8223350" y="5980800"/>
            <a:ext cx="34977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rPr>
              <a:t>Re-test confirms recovery before approval.</a:t>
            </a:r>
            <a:endParaRPr sz="1000">
              <a:solidFill>
                <a:schemeClr val="dk1"/>
              </a:solidFill>
            </a:endParaRPr>
          </a:p>
        </p:txBody>
      </p:sp>
      <p:sp>
        <p:nvSpPr>
          <p:cNvPr id="302" name="Google Shape;302;p6"/>
          <p:cNvSpPr/>
          <p:nvPr/>
        </p:nvSpPr>
        <p:spPr>
          <a:xfrm>
            <a:off x="579724" y="6240750"/>
            <a:ext cx="7131000" cy="320100"/>
          </a:xfrm>
          <a:prstGeom prst="rect">
            <a:avLst/>
          </a:prstGeom>
          <a:noFill/>
          <a:ln>
            <a:noFill/>
          </a:ln>
        </p:spPr>
        <p:txBody>
          <a:bodyPr anchorCtr="0" anchor="t" bIns="625" lIns="625" spcFirstLastPara="1" rIns="625" wrap="square" tIns="625">
            <a:noAutofit/>
          </a:bodyPr>
          <a:lstStyle/>
          <a:p>
            <a:pPr indent="0" lvl="0" marL="0" marR="0" rtl="0" algn="ctr">
              <a:spcBef>
                <a:spcPts val="0"/>
              </a:spcBef>
              <a:spcAft>
                <a:spcPts val="0"/>
              </a:spcAft>
              <a:buClr>
                <a:srgbClr val="5F6368"/>
              </a:buClr>
              <a:buSzPts val="1250"/>
              <a:buFont typeface="Arial"/>
              <a:buNone/>
            </a:pPr>
            <a:r>
              <a:rPr b="1" lang="en-US" sz="1250">
                <a:solidFill>
                  <a:srgbClr val="5F6368"/>
                </a:solidFill>
                <a:latin typeface="Arial"/>
                <a:ea typeface="Arial"/>
                <a:cs typeface="Arial"/>
                <a:sym typeface="Arial"/>
              </a:rPr>
              <a:t>Operator view: configure model, thresholds, policy corpus and run the full safety workflow.</a:t>
            </a:r>
            <a:endParaRPr sz="125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7"/>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09" name="Google Shape;309;p7"/>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0" name="Google Shape;310;p7"/>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1" name="Google Shape;311;p7"/>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2" name="Google Shape;312;p7"/>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05  ·  ARCHITECTURE  ·  IMPLEMENTATION + VALUE</a:t>
            </a:r>
            <a:endParaRPr b="0" i="0" sz="1333" u="none" cap="none" strike="noStrike">
              <a:solidFill>
                <a:schemeClr val="dk1"/>
              </a:solidFill>
              <a:latin typeface="Arial"/>
              <a:ea typeface="Arial"/>
              <a:cs typeface="Arial"/>
              <a:sym typeface="Arial"/>
            </a:endParaRPr>
          </a:p>
        </p:txBody>
      </p:sp>
      <p:sp>
        <p:nvSpPr>
          <p:cNvPr id="313" name="Google Shape;313;p7"/>
          <p:cNvSpPr/>
          <p:nvPr/>
        </p:nvSpPr>
        <p:spPr>
          <a:xfrm>
            <a:off x="609600" y="792480"/>
            <a:ext cx="109728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i="0" lang="en-US" sz="3467" u="none" cap="none" strike="noStrike">
                <a:solidFill>
                  <a:srgbClr val="202124"/>
                </a:solidFill>
                <a:latin typeface="Arial"/>
                <a:ea typeface="Arial"/>
                <a:cs typeface="Arial"/>
                <a:sym typeface="Arial"/>
              </a:rPr>
              <a:t>End-to-end Google Cloud architecture</a:t>
            </a:r>
            <a:endParaRPr b="0" i="0" sz="3467" u="none" cap="none" strike="noStrike">
              <a:solidFill>
                <a:schemeClr val="dk1"/>
              </a:solidFill>
              <a:latin typeface="Arial"/>
              <a:ea typeface="Arial"/>
              <a:cs typeface="Arial"/>
              <a:sym typeface="Arial"/>
            </a:endParaRPr>
          </a:p>
        </p:txBody>
      </p:sp>
      <p:sp>
        <p:nvSpPr>
          <p:cNvPr id="314" name="Google Shape;314;p7"/>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5" name="Google Shape;315;p7"/>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6" name="Google Shape;316;p7"/>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7" name="Google Shape;317;p7"/>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8" name="Google Shape;318;p7"/>
          <p:cNvSpPr/>
          <p:nvPr/>
        </p:nvSpPr>
        <p:spPr>
          <a:xfrm>
            <a:off x="609600" y="2072640"/>
            <a:ext cx="7802880" cy="4084320"/>
          </a:xfrm>
          <a:prstGeom prst="rect">
            <a:avLst/>
          </a:prstGeom>
          <a:solidFill>
            <a:srgbClr val="F8F9FA"/>
          </a:solidFill>
          <a:ln cap="flat" cmpd="sng" w="12700">
            <a:solidFill>
              <a:srgbClr val="DAD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9" name="Google Shape;319;p7"/>
          <p:cNvSpPr/>
          <p:nvPr/>
        </p:nvSpPr>
        <p:spPr>
          <a:xfrm>
            <a:off x="853440" y="2316480"/>
            <a:ext cx="7315200" cy="3596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1" lang="en-US" sz="1600" u="none" cap="none" strike="noStrike">
                <a:solidFill>
                  <a:srgbClr val="5F6368"/>
                </a:solidFill>
                <a:latin typeface="Calibri"/>
                <a:ea typeface="Calibri"/>
                <a:cs typeface="Calibri"/>
                <a:sym typeface="Calibri"/>
              </a:rPr>
              <a:t>[ Insert architecture diagram:</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1" lang="en-US" sz="1600" u="none" cap="none" strike="noStrike">
                <a:solidFill>
                  <a:srgbClr val="5F6368"/>
                </a:solidFill>
                <a:latin typeface="Calibri"/>
                <a:ea typeface="Calibri"/>
                <a:cs typeface="Calibri"/>
                <a:sym typeface="Calibri"/>
              </a:rPr>
              <a:t>User → Front-end → Agent (Gemini / Vertex ADK / Dialogflow CX) →</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1" lang="en-US" sz="1600" u="none" cap="none" strike="noStrike">
                <a:solidFill>
                  <a:srgbClr val="5F6368"/>
                </a:solidFill>
                <a:latin typeface="Calibri"/>
                <a:ea typeface="Calibri"/>
                <a:cs typeface="Calibri"/>
                <a:sym typeface="Calibri"/>
              </a:rPr>
              <a:t>Tools / Webhooks / Cloud Functions → Data Sources (Drive / BigQuery / ...) → Response ]</a:t>
            </a:r>
            <a:endParaRPr b="0" i="0" sz="1600" u="none" cap="none" strike="noStrike">
              <a:solidFill>
                <a:schemeClr val="dk1"/>
              </a:solidFill>
              <a:latin typeface="Arial"/>
              <a:ea typeface="Arial"/>
              <a:cs typeface="Arial"/>
              <a:sym typeface="Arial"/>
            </a:endParaRPr>
          </a:p>
        </p:txBody>
      </p:sp>
      <p:sp>
        <p:nvSpPr>
          <p:cNvPr id="320" name="Google Shape;320;p7"/>
          <p:cNvSpPr/>
          <p:nvPr/>
        </p:nvSpPr>
        <p:spPr>
          <a:xfrm>
            <a:off x="9034520" y="2072640"/>
            <a:ext cx="3048000" cy="34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KEY COMPONENTS</a:t>
            </a:r>
            <a:endParaRPr b="0" i="0" sz="1333" u="none" cap="none" strike="noStrike">
              <a:solidFill>
                <a:schemeClr val="dk1"/>
              </a:solidFill>
              <a:latin typeface="Arial"/>
              <a:ea typeface="Arial"/>
              <a:cs typeface="Arial"/>
              <a:sym typeface="Arial"/>
            </a:endParaRPr>
          </a:p>
        </p:txBody>
      </p:sp>
      <p:sp>
        <p:nvSpPr>
          <p:cNvPr id="321" name="Google Shape;321;p7"/>
          <p:cNvSpPr/>
          <p:nvPr/>
        </p:nvSpPr>
        <p:spPr>
          <a:xfrm>
            <a:off x="9034520" y="2438400"/>
            <a:ext cx="121800" cy="73140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2" name="Google Shape;322;p7"/>
          <p:cNvSpPr/>
          <p:nvPr/>
        </p:nvSpPr>
        <p:spPr>
          <a:xfrm>
            <a:off x="9278360" y="2438400"/>
            <a:ext cx="2804100" cy="3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1" i="0" lang="en-US" sz="1467" u="none" cap="none" strike="noStrike">
                <a:solidFill>
                  <a:srgbClr val="202124"/>
                </a:solidFill>
                <a:latin typeface="Arial"/>
                <a:ea typeface="Arial"/>
                <a:cs typeface="Arial"/>
                <a:sym typeface="Arial"/>
              </a:rPr>
              <a:t>Front-end / Channel</a:t>
            </a:r>
            <a:endParaRPr b="0" i="0" sz="1467" u="none" cap="none" strike="noStrike">
              <a:solidFill>
                <a:schemeClr val="dk1"/>
              </a:solidFill>
              <a:latin typeface="Arial"/>
              <a:ea typeface="Arial"/>
              <a:cs typeface="Arial"/>
              <a:sym typeface="Arial"/>
            </a:endParaRPr>
          </a:p>
        </p:txBody>
      </p:sp>
      <p:sp>
        <p:nvSpPr>
          <p:cNvPr id="323" name="Google Shape;323;p7"/>
          <p:cNvSpPr/>
          <p:nvPr/>
        </p:nvSpPr>
        <p:spPr>
          <a:xfrm>
            <a:off x="9278360" y="2755392"/>
            <a:ext cx="2804100" cy="48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Operator dashboard + </a:t>
            </a:r>
            <a:r>
              <a:rPr lang="en-US" sz="1333">
                <a:solidFill>
                  <a:srgbClr val="5F6368"/>
                </a:solidFill>
                <a:latin typeface="Calibri"/>
                <a:ea typeface="Calibri"/>
                <a:cs typeface="Calibri"/>
                <a:sym typeface="Calibri"/>
              </a:rPr>
              <a:t>FastAPI Orchestrator</a:t>
            </a:r>
            <a:endParaRPr b="0" i="0" sz="1333" u="none" cap="none" strike="noStrike">
              <a:solidFill>
                <a:schemeClr val="dk1"/>
              </a:solidFill>
              <a:latin typeface="Arial"/>
              <a:ea typeface="Arial"/>
              <a:cs typeface="Arial"/>
              <a:sym typeface="Arial"/>
            </a:endParaRPr>
          </a:p>
        </p:txBody>
      </p:sp>
      <p:sp>
        <p:nvSpPr>
          <p:cNvPr id="324" name="Google Shape;324;p7"/>
          <p:cNvSpPr/>
          <p:nvPr/>
        </p:nvSpPr>
        <p:spPr>
          <a:xfrm>
            <a:off x="9034520" y="3364992"/>
            <a:ext cx="121800" cy="73140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5" name="Google Shape;325;p7"/>
          <p:cNvSpPr/>
          <p:nvPr/>
        </p:nvSpPr>
        <p:spPr>
          <a:xfrm>
            <a:off x="9278360" y="3364992"/>
            <a:ext cx="2804100" cy="3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1" i="0" lang="en-US" sz="1467" u="none" cap="none" strike="noStrike">
                <a:solidFill>
                  <a:srgbClr val="202124"/>
                </a:solidFill>
                <a:latin typeface="Arial"/>
                <a:ea typeface="Arial"/>
                <a:cs typeface="Arial"/>
                <a:sym typeface="Arial"/>
              </a:rPr>
              <a:t>Agent Layer</a:t>
            </a:r>
            <a:endParaRPr b="0" i="0" sz="1467" u="none" cap="none" strike="noStrike">
              <a:solidFill>
                <a:schemeClr val="dk1"/>
              </a:solidFill>
              <a:latin typeface="Arial"/>
              <a:ea typeface="Arial"/>
              <a:cs typeface="Arial"/>
              <a:sym typeface="Arial"/>
            </a:endParaRPr>
          </a:p>
        </p:txBody>
      </p:sp>
      <p:sp>
        <p:nvSpPr>
          <p:cNvPr id="326" name="Google Shape;326;p7"/>
          <p:cNvSpPr/>
          <p:nvPr/>
        </p:nvSpPr>
        <p:spPr>
          <a:xfrm>
            <a:off x="9278360" y="3681984"/>
            <a:ext cx="2804100" cy="48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Google ADK LlmAgent powered by Gemini 2.5 Flash</a:t>
            </a:r>
            <a:endParaRPr b="0" i="0" sz="1333" u="none" cap="none" strike="noStrike">
              <a:solidFill>
                <a:srgbClr val="5F6368"/>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333" u="none" cap="none" strike="noStrike">
              <a:solidFill>
                <a:srgbClr val="5F636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33"/>
              <a:buFont typeface="Arial"/>
              <a:buNone/>
            </a:pPr>
            <a:r>
              <a:t/>
            </a:r>
            <a:endParaRPr b="0" i="0" sz="1333" u="none" cap="none" strike="noStrike">
              <a:solidFill>
                <a:srgbClr val="5F6368"/>
              </a:solidFill>
              <a:latin typeface="Calibri"/>
              <a:ea typeface="Calibri"/>
              <a:cs typeface="Calibri"/>
              <a:sym typeface="Calibri"/>
            </a:endParaRPr>
          </a:p>
        </p:txBody>
      </p:sp>
      <p:sp>
        <p:nvSpPr>
          <p:cNvPr id="327" name="Google Shape;327;p7"/>
          <p:cNvSpPr/>
          <p:nvPr/>
        </p:nvSpPr>
        <p:spPr>
          <a:xfrm>
            <a:off x="9034520" y="4291584"/>
            <a:ext cx="121800" cy="73140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8" name="Google Shape;328;p7"/>
          <p:cNvSpPr/>
          <p:nvPr/>
        </p:nvSpPr>
        <p:spPr>
          <a:xfrm>
            <a:off x="9278360" y="4291584"/>
            <a:ext cx="2804100" cy="3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1" i="0" lang="en-US" sz="1467" u="none" cap="none" strike="noStrike">
                <a:solidFill>
                  <a:srgbClr val="202124"/>
                </a:solidFill>
                <a:latin typeface="Arial"/>
                <a:ea typeface="Arial"/>
                <a:cs typeface="Arial"/>
                <a:sym typeface="Arial"/>
              </a:rPr>
              <a:t>Tools &amp; Webhooks</a:t>
            </a:r>
            <a:endParaRPr b="0" i="0" sz="1467" u="none" cap="none" strike="noStrike">
              <a:solidFill>
                <a:schemeClr val="dk1"/>
              </a:solidFill>
              <a:latin typeface="Arial"/>
              <a:ea typeface="Arial"/>
              <a:cs typeface="Arial"/>
              <a:sym typeface="Arial"/>
            </a:endParaRPr>
          </a:p>
        </p:txBody>
      </p:sp>
      <p:sp>
        <p:nvSpPr>
          <p:cNvPr id="329" name="Google Shape;329;p7"/>
          <p:cNvSpPr/>
          <p:nvPr/>
        </p:nvSpPr>
        <p:spPr>
          <a:xfrm>
            <a:off x="9278360" y="4608576"/>
            <a:ext cx="2804100" cy="48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Groundedness checker, PII scanner, toxicity judge, auto-remediation engine</a:t>
            </a:r>
            <a:endParaRPr b="0" i="0" sz="1333" u="none" cap="none" strike="noStrike">
              <a:solidFill>
                <a:schemeClr val="dk1"/>
              </a:solidFill>
              <a:latin typeface="Arial"/>
              <a:ea typeface="Arial"/>
              <a:cs typeface="Arial"/>
              <a:sym typeface="Arial"/>
            </a:endParaRPr>
          </a:p>
        </p:txBody>
      </p:sp>
      <p:sp>
        <p:nvSpPr>
          <p:cNvPr id="330" name="Google Shape;330;p7"/>
          <p:cNvSpPr/>
          <p:nvPr/>
        </p:nvSpPr>
        <p:spPr>
          <a:xfrm>
            <a:off x="9034520" y="5218176"/>
            <a:ext cx="121800" cy="73140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31" name="Google Shape;331;p7"/>
          <p:cNvSpPr/>
          <p:nvPr/>
        </p:nvSpPr>
        <p:spPr>
          <a:xfrm>
            <a:off x="9278360" y="5218176"/>
            <a:ext cx="2804100" cy="31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1" i="0" lang="en-US" sz="1467" u="none" cap="none" strike="noStrike">
                <a:solidFill>
                  <a:srgbClr val="202124"/>
                </a:solidFill>
                <a:latin typeface="Arial"/>
                <a:ea typeface="Arial"/>
                <a:cs typeface="Arial"/>
                <a:sym typeface="Arial"/>
              </a:rPr>
              <a:t>Data / Grounding</a:t>
            </a:r>
            <a:endParaRPr b="0" i="0" sz="1467" u="none" cap="none" strike="noStrike">
              <a:solidFill>
                <a:schemeClr val="dk1"/>
              </a:solidFill>
              <a:latin typeface="Arial"/>
              <a:ea typeface="Arial"/>
              <a:cs typeface="Arial"/>
              <a:sym typeface="Arial"/>
            </a:endParaRPr>
          </a:p>
        </p:txBody>
      </p:sp>
      <p:sp>
        <p:nvSpPr>
          <p:cNvPr id="332" name="Google Shape;332;p7"/>
          <p:cNvSpPr/>
          <p:nvPr/>
        </p:nvSpPr>
        <p:spPr>
          <a:xfrm>
            <a:off x="9278360" y="5535168"/>
            <a:ext cx="2804100" cy="48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Synthetic HR policy documents + ChromaDB RAG retrieval</a:t>
            </a:r>
            <a:endParaRPr b="0" i="0" sz="1333" u="none" cap="none" strike="noStrike">
              <a:solidFill>
                <a:schemeClr val="dk1"/>
              </a:solidFill>
              <a:latin typeface="Arial"/>
              <a:ea typeface="Arial"/>
              <a:cs typeface="Arial"/>
              <a:sym typeface="Arial"/>
            </a:endParaRPr>
          </a:p>
        </p:txBody>
      </p:sp>
      <p:cxnSp>
        <p:nvCxnSpPr>
          <p:cNvPr id="333" name="Google Shape;333;p7"/>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334" name="Google Shape;334;p7"/>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335" name="Google Shape;335;p7"/>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07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pic>
        <p:nvPicPr>
          <p:cNvPr id="336" name="Google Shape;336;p7" title="ChatGPT Image Apr 27, 2026, 12_58_17 AM.png"/>
          <p:cNvPicPr preferRelativeResize="0"/>
          <p:nvPr/>
        </p:nvPicPr>
        <p:blipFill rotWithShape="1">
          <a:blip r:embed="rId3">
            <a:alphaModFix/>
          </a:blip>
          <a:srcRect b="0" l="0" r="0" t="0"/>
          <a:stretch/>
        </p:blipFill>
        <p:spPr>
          <a:xfrm>
            <a:off x="609600" y="2100675"/>
            <a:ext cx="7802877" cy="4090654"/>
          </a:xfrm>
          <a:prstGeom prst="rect">
            <a:avLst/>
          </a:prstGeom>
          <a:noFill/>
          <a:ln>
            <a:noFill/>
          </a:ln>
        </p:spPr>
      </p:pic>
      <p:pic>
        <p:nvPicPr>
          <p:cNvPr descr="/mnt/data/genai_guardrail_factory_reference_architecture.png" id="337" name="Google Shape;337;p7"/>
          <p:cNvPicPr preferRelativeResize="0"/>
          <p:nvPr/>
        </p:nvPicPr>
        <p:blipFill rotWithShape="1">
          <a:blip r:embed="rId4">
            <a:alphaModFix/>
          </a:blip>
          <a:srcRect b="0" l="0" r="0" t="0"/>
          <a:stretch/>
        </p:blipFill>
        <p:spPr>
          <a:xfrm>
            <a:off x="637850" y="2072650"/>
            <a:ext cx="8174174" cy="42525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44" name="Google Shape;344;p8"/>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45" name="Google Shape;345;p8"/>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46" name="Google Shape;346;p8"/>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47" name="Google Shape;347;p8"/>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06  ·  UNDER THE HOOD  ·  NOVELTY</a:t>
            </a:r>
            <a:endParaRPr b="0" i="0" sz="1333" u="none" cap="none" strike="noStrike">
              <a:solidFill>
                <a:schemeClr val="dk1"/>
              </a:solidFill>
              <a:latin typeface="Arial"/>
              <a:ea typeface="Arial"/>
              <a:cs typeface="Arial"/>
              <a:sym typeface="Arial"/>
            </a:endParaRPr>
          </a:p>
        </p:txBody>
      </p:sp>
      <p:sp>
        <p:nvSpPr>
          <p:cNvPr id="348" name="Google Shape;348;p8"/>
          <p:cNvSpPr/>
          <p:nvPr/>
        </p:nvSpPr>
        <p:spPr>
          <a:xfrm>
            <a:off x="609600" y="792480"/>
            <a:ext cx="109728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i="0" lang="en-US" sz="3467" u="none" cap="none" strike="noStrike">
                <a:solidFill>
                  <a:srgbClr val="202124"/>
                </a:solidFill>
                <a:latin typeface="Arial"/>
                <a:ea typeface="Arial"/>
                <a:cs typeface="Arial"/>
                <a:sym typeface="Arial"/>
              </a:rPr>
              <a:t>Advanced capabilities beyond a GenAI wrapper</a:t>
            </a:r>
            <a:endParaRPr b="0" i="0" sz="3467" u="none" cap="none" strike="noStrike">
              <a:solidFill>
                <a:schemeClr val="dk1"/>
              </a:solidFill>
              <a:latin typeface="Arial"/>
              <a:ea typeface="Arial"/>
              <a:cs typeface="Arial"/>
              <a:sym typeface="Arial"/>
            </a:endParaRPr>
          </a:p>
        </p:txBody>
      </p:sp>
      <p:sp>
        <p:nvSpPr>
          <p:cNvPr id="349" name="Google Shape;349;p8"/>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0" name="Google Shape;350;p8"/>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1" name="Google Shape;351;p8"/>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2" name="Google Shape;352;p8"/>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3" name="Google Shape;353;p8"/>
          <p:cNvSpPr/>
          <p:nvPr/>
        </p:nvSpPr>
        <p:spPr>
          <a:xfrm>
            <a:off x="609600" y="2072640"/>
            <a:ext cx="5449824" cy="201168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4" name="Google Shape;354;p8"/>
          <p:cNvSpPr/>
          <p:nvPr/>
        </p:nvSpPr>
        <p:spPr>
          <a:xfrm>
            <a:off x="609600" y="2072640"/>
            <a:ext cx="5449824" cy="97536"/>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5" name="Google Shape;355;p8"/>
          <p:cNvSpPr/>
          <p:nvPr/>
        </p:nvSpPr>
        <p:spPr>
          <a:xfrm>
            <a:off x="914400" y="2377440"/>
            <a:ext cx="609600" cy="609600"/>
          </a:xfrm>
          <a:prstGeom prst="roundRect">
            <a:avLst>
              <a:gd fmla="val 16000" name="adj"/>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 name="Google Shape;356;p8"/>
          <p:cNvSpPr/>
          <p:nvPr/>
        </p:nvSpPr>
        <p:spPr>
          <a:xfrm>
            <a:off x="914400" y="2340864"/>
            <a:ext cx="609600"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sp>
        <p:nvSpPr>
          <p:cNvPr id="357" name="Google Shape;357;p8"/>
          <p:cNvSpPr/>
          <p:nvPr/>
        </p:nvSpPr>
        <p:spPr>
          <a:xfrm>
            <a:off x="1706880" y="2340864"/>
            <a:ext cx="4108704"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Tool Use / Function Calling</a:t>
            </a:r>
            <a:endParaRPr b="0" i="0" sz="1867" u="none" cap="none" strike="noStrike">
              <a:solidFill>
                <a:schemeClr val="dk1"/>
              </a:solidFill>
              <a:latin typeface="Arial"/>
              <a:ea typeface="Arial"/>
              <a:cs typeface="Arial"/>
              <a:sym typeface="Arial"/>
            </a:endParaRPr>
          </a:p>
        </p:txBody>
      </p:sp>
      <p:sp>
        <p:nvSpPr>
          <p:cNvPr id="358" name="Google Shape;358;p8"/>
          <p:cNvSpPr/>
          <p:nvPr/>
        </p:nvSpPr>
        <p:spPr>
          <a:xfrm>
            <a:off x="1706880" y="2804160"/>
            <a:ext cx="4108704" cy="1158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ADK agent invokes deterministic Python tools for groundedness, toxicity, and PII scoring.</a:t>
            </a:r>
            <a:endParaRPr b="0" i="0" sz="1467" u="none" cap="none" strike="noStrike">
              <a:solidFill>
                <a:srgbClr val="3C4043"/>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467" u="none" cap="none" strike="noStrike">
              <a:solidFill>
                <a:srgbClr val="3C40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67"/>
              <a:buFont typeface="Arial"/>
              <a:buNone/>
            </a:pPr>
            <a:r>
              <a:t/>
            </a:r>
            <a:endParaRPr b="0" i="0" sz="1467" u="none" cap="none" strike="noStrike">
              <a:solidFill>
                <a:srgbClr val="3C4043"/>
              </a:solidFill>
              <a:latin typeface="Calibri"/>
              <a:ea typeface="Calibri"/>
              <a:cs typeface="Calibri"/>
              <a:sym typeface="Calibri"/>
            </a:endParaRPr>
          </a:p>
        </p:txBody>
      </p:sp>
      <p:sp>
        <p:nvSpPr>
          <p:cNvPr id="359" name="Google Shape;359;p8"/>
          <p:cNvSpPr/>
          <p:nvPr/>
        </p:nvSpPr>
        <p:spPr>
          <a:xfrm>
            <a:off x="6132576" y="2072640"/>
            <a:ext cx="5449824" cy="201168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60" name="Google Shape;360;p8"/>
          <p:cNvSpPr/>
          <p:nvPr/>
        </p:nvSpPr>
        <p:spPr>
          <a:xfrm>
            <a:off x="6132576" y="2072640"/>
            <a:ext cx="5449824" cy="97536"/>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61" name="Google Shape;361;p8"/>
          <p:cNvSpPr/>
          <p:nvPr/>
        </p:nvSpPr>
        <p:spPr>
          <a:xfrm>
            <a:off x="6437376" y="2377440"/>
            <a:ext cx="609600" cy="609600"/>
          </a:xfrm>
          <a:prstGeom prst="roundRect">
            <a:avLst>
              <a:gd fmla="val 16000" name="adj"/>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62" name="Google Shape;362;p8"/>
          <p:cNvSpPr/>
          <p:nvPr/>
        </p:nvSpPr>
        <p:spPr>
          <a:xfrm>
            <a:off x="6437376" y="2340864"/>
            <a:ext cx="609600"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sp>
        <p:nvSpPr>
          <p:cNvPr id="363" name="Google Shape;363;p8"/>
          <p:cNvSpPr/>
          <p:nvPr/>
        </p:nvSpPr>
        <p:spPr>
          <a:xfrm>
            <a:off x="7229856" y="2340864"/>
            <a:ext cx="4108704"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Adversarial Test Generation</a:t>
            </a:r>
            <a:endParaRPr b="0" i="0" sz="1867" u="none" cap="none" strike="noStrike">
              <a:solidFill>
                <a:schemeClr val="dk1"/>
              </a:solidFill>
              <a:latin typeface="Arial"/>
              <a:ea typeface="Arial"/>
              <a:cs typeface="Arial"/>
              <a:sym typeface="Arial"/>
            </a:endParaRPr>
          </a:p>
        </p:txBody>
      </p:sp>
      <p:sp>
        <p:nvSpPr>
          <p:cNvPr id="364" name="Google Shape;364;p8"/>
          <p:cNvSpPr/>
          <p:nvPr/>
        </p:nvSpPr>
        <p:spPr>
          <a:xfrm>
            <a:off x="7229856" y="2804160"/>
            <a:ext cx="4108704" cy="1158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Gemini creates test cases across hallucination, PII extraction, jailbreak, toxicity, and policy-risk categories.</a:t>
            </a:r>
            <a:endParaRPr b="0" i="0" sz="1467" u="none" cap="none" strike="noStrike">
              <a:solidFill>
                <a:srgbClr val="3C4043"/>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467" u="none" cap="none" strike="noStrike">
              <a:solidFill>
                <a:srgbClr val="3C40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67"/>
              <a:buFont typeface="Arial"/>
              <a:buNone/>
            </a:pPr>
            <a:r>
              <a:t/>
            </a:r>
            <a:endParaRPr b="0" i="0" sz="1467" u="none" cap="none" strike="noStrike">
              <a:solidFill>
                <a:srgbClr val="3C4043"/>
              </a:solidFill>
              <a:latin typeface="Calibri"/>
              <a:ea typeface="Calibri"/>
              <a:cs typeface="Calibri"/>
              <a:sym typeface="Calibri"/>
            </a:endParaRPr>
          </a:p>
        </p:txBody>
      </p:sp>
      <p:sp>
        <p:nvSpPr>
          <p:cNvPr id="365" name="Google Shape;365;p8"/>
          <p:cNvSpPr/>
          <p:nvPr/>
        </p:nvSpPr>
        <p:spPr>
          <a:xfrm>
            <a:off x="609600" y="4206240"/>
            <a:ext cx="5449824" cy="201168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66" name="Google Shape;366;p8"/>
          <p:cNvSpPr/>
          <p:nvPr/>
        </p:nvSpPr>
        <p:spPr>
          <a:xfrm>
            <a:off x="609600" y="4206240"/>
            <a:ext cx="5449824" cy="97536"/>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67" name="Google Shape;367;p8"/>
          <p:cNvSpPr/>
          <p:nvPr/>
        </p:nvSpPr>
        <p:spPr>
          <a:xfrm>
            <a:off x="914400" y="4511040"/>
            <a:ext cx="609600" cy="609600"/>
          </a:xfrm>
          <a:prstGeom prst="roundRect">
            <a:avLst>
              <a:gd fmla="val 16000" name="adj"/>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68" name="Google Shape;368;p8"/>
          <p:cNvSpPr/>
          <p:nvPr/>
        </p:nvSpPr>
        <p:spPr>
          <a:xfrm>
            <a:off x="914400" y="4474464"/>
            <a:ext cx="609600"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sp>
        <p:nvSpPr>
          <p:cNvPr id="369" name="Google Shape;369;p8"/>
          <p:cNvSpPr/>
          <p:nvPr/>
        </p:nvSpPr>
        <p:spPr>
          <a:xfrm>
            <a:off x="1706880" y="4474464"/>
            <a:ext cx="4108704"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Deterministic Release Gate</a:t>
            </a:r>
            <a:endParaRPr b="0" i="0" sz="1867" u="none" cap="none" strike="noStrike">
              <a:solidFill>
                <a:schemeClr val="dk1"/>
              </a:solidFill>
              <a:latin typeface="Arial"/>
              <a:ea typeface="Arial"/>
              <a:cs typeface="Arial"/>
              <a:sym typeface="Arial"/>
            </a:endParaRPr>
          </a:p>
        </p:txBody>
      </p:sp>
      <p:sp>
        <p:nvSpPr>
          <p:cNvPr id="370" name="Google Shape;370;p8"/>
          <p:cNvSpPr/>
          <p:nvPr/>
        </p:nvSpPr>
        <p:spPr>
          <a:xfrm>
            <a:off x="1706880" y="4937760"/>
            <a:ext cx="4108704" cy="1158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Configurable thresholds, category floors, and zero-critical-failure policy produce deploy/block decisions.</a:t>
            </a:r>
            <a:endParaRPr b="0" i="0" sz="1467" u="none" cap="none" strike="noStrike">
              <a:solidFill>
                <a:schemeClr val="dk1"/>
              </a:solidFill>
              <a:latin typeface="Arial"/>
              <a:ea typeface="Arial"/>
              <a:cs typeface="Arial"/>
              <a:sym typeface="Arial"/>
            </a:endParaRPr>
          </a:p>
        </p:txBody>
      </p:sp>
      <p:sp>
        <p:nvSpPr>
          <p:cNvPr id="371" name="Google Shape;371;p8"/>
          <p:cNvSpPr/>
          <p:nvPr/>
        </p:nvSpPr>
        <p:spPr>
          <a:xfrm>
            <a:off x="6132576" y="4206240"/>
            <a:ext cx="5449824" cy="201168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72" name="Google Shape;372;p8"/>
          <p:cNvSpPr/>
          <p:nvPr/>
        </p:nvSpPr>
        <p:spPr>
          <a:xfrm>
            <a:off x="6132576" y="4206240"/>
            <a:ext cx="5449824" cy="97536"/>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73" name="Google Shape;373;p8"/>
          <p:cNvSpPr/>
          <p:nvPr/>
        </p:nvSpPr>
        <p:spPr>
          <a:xfrm>
            <a:off x="6437376" y="4511040"/>
            <a:ext cx="609600" cy="609600"/>
          </a:xfrm>
          <a:prstGeom prst="roundRect">
            <a:avLst>
              <a:gd fmla="val 16000" name="adj"/>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74" name="Google Shape;374;p8"/>
          <p:cNvSpPr/>
          <p:nvPr/>
        </p:nvSpPr>
        <p:spPr>
          <a:xfrm>
            <a:off x="6437376" y="4474464"/>
            <a:ext cx="609600"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sp>
        <p:nvSpPr>
          <p:cNvPr id="375" name="Google Shape;375;p8"/>
          <p:cNvSpPr/>
          <p:nvPr/>
        </p:nvSpPr>
        <p:spPr>
          <a:xfrm>
            <a:off x="7229856" y="4474464"/>
            <a:ext cx="4108704"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Auto-Remediation Loop</a:t>
            </a:r>
            <a:endParaRPr b="0" i="0" sz="1867" u="none" cap="none" strike="noStrike">
              <a:solidFill>
                <a:schemeClr val="dk1"/>
              </a:solidFill>
              <a:latin typeface="Arial"/>
              <a:ea typeface="Arial"/>
              <a:cs typeface="Arial"/>
              <a:sym typeface="Arial"/>
            </a:endParaRPr>
          </a:p>
        </p:txBody>
      </p:sp>
      <p:sp>
        <p:nvSpPr>
          <p:cNvPr id="376" name="Google Shape;376;p8"/>
          <p:cNvSpPr/>
          <p:nvPr/>
        </p:nvSpPr>
        <p:spPr>
          <a:xfrm>
            <a:off x="7229856" y="4937760"/>
            <a:ext cx="4108704" cy="1158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Gemini diagnoses failure patterns, generates hardened prompt rules, and re-runs the test suite.</a:t>
            </a:r>
            <a:endParaRPr b="0" i="0" sz="1467" u="none" cap="none" strike="noStrike">
              <a:solidFill>
                <a:schemeClr val="dk1"/>
              </a:solidFill>
              <a:latin typeface="Arial"/>
              <a:ea typeface="Arial"/>
              <a:cs typeface="Arial"/>
              <a:sym typeface="Arial"/>
            </a:endParaRPr>
          </a:p>
        </p:txBody>
      </p:sp>
      <p:cxnSp>
        <p:nvCxnSpPr>
          <p:cNvPr id="377" name="Google Shape;377;p8"/>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378" name="Google Shape;378;p8"/>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379" name="Google Shape;379;p8"/>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08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sp>
        <p:nvSpPr>
          <p:cNvPr id="380" name="Google Shape;380;p8"/>
          <p:cNvSpPr/>
          <p:nvPr/>
        </p:nvSpPr>
        <p:spPr>
          <a:xfrm>
            <a:off x="609600" y="6016800"/>
            <a:ext cx="11009400" cy="384000"/>
          </a:xfrm>
          <a:prstGeom prst="roundRect">
            <a:avLst>
              <a:gd fmla="val 16667" name="adj"/>
            </a:avLst>
          </a:prstGeom>
          <a:solidFill>
            <a:srgbClr val="E8F5E9"/>
          </a:solidFill>
          <a:ln cap="flat" cmpd="sng" w="12700">
            <a:solidFill>
              <a:srgbClr val="34A85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81" name="Google Shape;381;p8"/>
          <p:cNvSpPr txBox="1"/>
          <p:nvPr/>
        </p:nvSpPr>
        <p:spPr>
          <a:xfrm>
            <a:off x="810755" y="6137550"/>
            <a:ext cx="10607100" cy="2217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1200">
                <a:solidFill>
                  <a:srgbClr val="188038"/>
                </a:solidFill>
                <a:latin typeface="Arial"/>
                <a:ea typeface="Arial"/>
                <a:cs typeface="Arial"/>
                <a:sym typeface="Arial"/>
              </a:rPr>
              <a:t>This is not the chatbot. This is the safety factory around the chatbot.</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9"/>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88" name="Google Shape;388;p9"/>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89" name="Google Shape;389;p9"/>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90" name="Google Shape;390;p9"/>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91" name="Google Shape;391;p9"/>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07  ·  PROOF OF EXECUTION  ·  IMPLEMENTATION + EVIDENCE</a:t>
            </a:r>
            <a:endParaRPr b="0" i="0" sz="1333" u="none" cap="none" strike="noStrike">
              <a:solidFill>
                <a:schemeClr val="dk1"/>
              </a:solidFill>
              <a:latin typeface="Arial"/>
              <a:ea typeface="Arial"/>
              <a:cs typeface="Arial"/>
              <a:sym typeface="Arial"/>
            </a:endParaRPr>
          </a:p>
        </p:txBody>
      </p:sp>
      <p:sp>
        <p:nvSpPr>
          <p:cNvPr id="392" name="Google Shape;392;p9"/>
          <p:cNvSpPr/>
          <p:nvPr/>
        </p:nvSpPr>
        <p:spPr>
          <a:xfrm>
            <a:off x="609600" y="792480"/>
            <a:ext cx="109728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i="0" lang="en-US" sz="3467" u="none" cap="none" strike="noStrike">
                <a:solidFill>
                  <a:srgbClr val="202124"/>
                </a:solidFill>
                <a:latin typeface="Arial"/>
                <a:ea typeface="Arial"/>
                <a:cs typeface="Arial"/>
                <a:sym typeface="Arial"/>
              </a:rPr>
              <a:t>Screenshots that prove it runs end-to-end on Google Cloud</a:t>
            </a:r>
            <a:endParaRPr b="0" i="0" sz="3467" u="none" cap="none" strike="noStrike">
              <a:solidFill>
                <a:schemeClr val="dk1"/>
              </a:solidFill>
              <a:latin typeface="Arial"/>
              <a:ea typeface="Arial"/>
              <a:cs typeface="Arial"/>
              <a:sym typeface="Arial"/>
            </a:endParaRPr>
          </a:p>
        </p:txBody>
      </p:sp>
      <p:sp>
        <p:nvSpPr>
          <p:cNvPr id="393" name="Google Shape;393;p9"/>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94" name="Google Shape;394;p9"/>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95" name="Google Shape;395;p9"/>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96" name="Google Shape;396;p9"/>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97" name="Google Shape;397;p9"/>
          <p:cNvSpPr/>
          <p:nvPr/>
        </p:nvSpPr>
        <p:spPr>
          <a:xfrm>
            <a:off x="609600" y="2072640"/>
            <a:ext cx="1463040" cy="390144"/>
          </a:xfrm>
          <a:prstGeom prst="roundRect">
            <a:avLst>
              <a:gd fmla="val 15625" name="adj"/>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98" name="Google Shape;398;p9"/>
          <p:cNvSpPr/>
          <p:nvPr/>
        </p:nvSpPr>
        <p:spPr>
          <a:xfrm>
            <a:off x="609600" y="2072640"/>
            <a:ext cx="1463040" cy="3901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33"/>
              <a:buFont typeface="Arial"/>
              <a:buNone/>
            </a:pPr>
            <a:r>
              <a:rPr b="1" i="0" lang="en-US" sz="1333" u="none" cap="none" strike="noStrike">
                <a:solidFill>
                  <a:srgbClr val="FFFFFF"/>
                </a:solidFill>
                <a:latin typeface="Arial"/>
                <a:ea typeface="Arial"/>
                <a:cs typeface="Arial"/>
                <a:sym typeface="Arial"/>
              </a:rPr>
              <a:t>BUILD</a:t>
            </a:r>
            <a:endParaRPr b="0" i="0" sz="1333" u="none" cap="none" strike="noStrike">
              <a:solidFill>
                <a:schemeClr val="dk1"/>
              </a:solidFill>
              <a:latin typeface="Arial"/>
              <a:ea typeface="Arial"/>
              <a:cs typeface="Arial"/>
              <a:sym typeface="Arial"/>
            </a:endParaRPr>
          </a:p>
        </p:txBody>
      </p:sp>
      <p:sp>
        <p:nvSpPr>
          <p:cNvPr id="399" name="Google Shape;399;p9"/>
          <p:cNvSpPr/>
          <p:nvPr/>
        </p:nvSpPr>
        <p:spPr>
          <a:xfrm>
            <a:off x="609600" y="2584704"/>
            <a:ext cx="3657600" cy="2901696"/>
          </a:xfrm>
          <a:prstGeom prst="rect">
            <a:avLst/>
          </a:prstGeom>
          <a:solidFill>
            <a:srgbClr val="F8F9FA"/>
          </a:solidFill>
          <a:ln cap="flat" cmpd="sng" w="12700">
            <a:solidFill>
              <a:srgbClr val="DAD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00" name="Google Shape;400;p9"/>
          <p:cNvSpPr/>
          <p:nvPr/>
        </p:nvSpPr>
        <p:spPr>
          <a:xfrm>
            <a:off x="609600" y="2584704"/>
            <a:ext cx="3657600" cy="29016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67"/>
              <a:buFont typeface="Arial"/>
              <a:buNone/>
            </a:pPr>
            <a:r>
              <a:rPr b="0" i="1" lang="en-US" sz="1467" u="none" cap="none" strike="noStrike">
                <a:solidFill>
                  <a:srgbClr val="5F6368"/>
                </a:solidFill>
                <a:latin typeface="Calibri"/>
                <a:ea typeface="Calibri"/>
                <a:cs typeface="Calibri"/>
                <a:sym typeface="Calibri"/>
              </a:rPr>
              <a:t>[ Insert screenshot ]</a:t>
            </a:r>
            <a:endParaRPr b="0" i="0" sz="1467" u="none" cap="none" strike="noStrike">
              <a:solidFill>
                <a:schemeClr val="dk1"/>
              </a:solidFill>
              <a:latin typeface="Arial"/>
              <a:ea typeface="Arial"/>
              <a:cs typeface="Arial"/>
              <a:sym typeface="Arial"/>
            </a:endParaRPr>
          </a:p>
        </p:txBody>
      </p:sp>
      <p:sp>
        <p:nvSpPr>
          <p:cNvPr id="401" name="Google Shape;401;p9"/>
          <p:cNvSpPr/>
          <p:nvPr/>
        </p:nvSpPr>
        <p:spPr>
          <a:xfrm>
            <a:off x="609600" y="5608320"/>
            <a:ext cx="3657600"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ADK terminal execution / tool-call scoring</a:t>
            </a:r>
            <a:endParaRPr b="0" i="0" sz="1333" u="none" cap="none" strike="noStrike">
              <a:solidFill>
                <a:schemeClr val="dk1"/>
              </a:solidFill>
              <a:latin typeface="Arial"/>
              <a:ea typeface="Arial"/>
              <a:cs typeface="Arial"/>
              <a:sym typeface="Arial"/>
            </a:endParaRPr>
          </a:p>
        </p:txBody>
      </p:sp>
      <p:sp>
        <p:nvSpPr>
          <p:cNvPr id="402" name="Google Shape;402;p9"/>
          <p:cNvSpPr/>
          <p:nvPr/>
        </p:nvSpPr>
        <p:spPr>
          <a:xfrm>
            <a:off x="4389120" y="2072640"/>
            <a:ext cx="1463040" cy="390144"/>
          </a:xfrm>
          <a:prstGeom prst="roundRect">
            <a:avLst>
              <a:gd fmla="val 15625" name="adj"/>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03" name="Google Shape;403;p9"/>
          <p:cNvSpPr/>
          <p:nvPr/>
        </p:nvSpPr>
        <p:spPr>
          <a:xfrm>
            <a:off x="4389120" y="2072640"/>
            <a:ext cx="1463040" cy="3901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33"/>
              <a:buFont typeface="Arial"/>
              <a:buNone/>
            </a:pPr>
            <a:r>
              <a:rPr b="1" i="0" lang="en-US" sz="1333" u="none" cap="none" strike="noStrike">
                <a:solidFill>
                  <a:srgbClr val="FFFFFF"/>
                </a:solidFill>
                <a:latin typeface="Arial"/>
                <a:ea typeface="Arial"/>
                <a:cs typeface="Arial"/>
                <a:sym typeface="Arial"/>
              </a:rPr>
              <a:t>DEPLOY</a:t>
            </a:r>
            <a:endParaRPr b="0" i="0" sz="1333" u="none" cap="none" strike="noStrike">
              <a:solidFill>
                <a:schemeClr val="dk1"/>
              </a:solidFill>
              <a:latin typeface="Arial"/>
              <a:ea typeface="Arial"/>
              <a:cs typeface="Arial"/>
              <a:sym typeface="Arial"/>
            </a:endParaRPr>
          </a:p>
        </p:txBody>
      </p:sp>
      <p:sp>
        <p:nvSpPr>
          <p:cNvPr id="404" name="Google Shape;404;p9"/>
          <p:cNvSpPr/>
          <p:nvPr/>
        </p:nvSpPr>
        <p:spPr>
          <a:xfrm>
            <a:off x="4389120" y="2584704"/>
            <a:ext cx="3657600" cy="2901696"/>
          </a:xfrm>
          <a:prstGeom prst="rect">
            <a:avLst/>
          </a:prstGeom>
          <a:solidFill>
            <a:srgbClr val="F8F9FA"/>
          </a:solidFill>
          <a:ln cap="flat" cmpd="sng" w="12700">
            <a:solidFill>
              <a:srgbClr val="DAD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05" name="Google Shape;405;p9"/>
          <p:cNvSpPr/>
          <p:nvPr/>
        </p:nvSpPr>
        <p:spPr>
          <a:xfrm>
            <a:off x="4389120" y="2584704"/>
            <a:ext cx="3657600" cy="29016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67"/>
              <a:buFont typeface="Arial"/>
              <a:buNone/>
            </a:pPr>
            <a:r>
              <a:rPr b="0" i="1" lang="en-US" sz="1467" u="none" cap="none" strike="noStrike">
                <a:solidFill>
                  <a:srgbClr val="5F6368"/>
                </a:solidFill>
                <a:latin typeface="Calibri"/>
                <a:ea typeface="Calibri"/>
                <a:cs typeface="Calibri"/>
                <a:sym typeface="Calibri"/>
              </a:rPr>
              <a:t>[ Insert screenshot ]</a:t>
            </a:r>
            <a:endParaRPr b="0" i="0" sz="1467" u="none" cap="none" strike="noStrike">
              <a:solidFill>
                <a:schemeClr val="dk1"/>
              </a:solidFill>
              <a:latin typeface="Arial"/>
              <a:ea typeface="Arial"/>
              <a:cs typeface="Arial"/>
              <a:sym typeface="Arial"/>
            </a:endParaRPr>
          </a:p>
        </p:txBody>
      </p:sp>
      <p:sp>
        <p:nvSpPr>
          <p:cNvPr id="406" name="Google Shape;406;p9"/>
          <p:cNvSpPr/>
          <p:nvPr/>
        </p:nvSpPr>
        <p:spPr>
          <a:xfrm>
            <a:off x="4389120" y="5608320"/>
            <a:ext cx="3657600"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Cloud Run service deployed in us-central1</a:t>
            </a:r>
            <a:endParaRPr b="0" i="0" sz="1333" u="none" cap="none" strike="noStrike">
              <a:solidFill>
                <a:schemeClr val="dk1"/>
              </a:solidFill>
              <a:latin typeface="Arial"/>
              <a:ea typeface="Arial"/>
              <a:cs typeface="Arial"/>
              <a:sym typeface="Arial"/>
            </a:endParaRPr>
          </a:p>
        </p:txBody>
      </p:sp>
      <p:sp>
        <p:nvSpPr>
          <p:cNvPr id="407" name="Google Shape;407;p9"/>
          <p:cNvSpPr/>
          <p:nvPr/>
        </p:nvSpPr>
        <p:spPr>
          <a:xfrm>
            <a:off x="8168640" y="2072640"/>
            <a:ext cx="1463040" cy="390144"/>
          </a:xfrm>
          <a:prstGeom prst="roundRect">
            <a:avLst>
              <a:gd fmla="val 15625" name="adj"/>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08" name="Google Shape;408;p9"/>
          <p:cNvSpPr/>
          <p:nvPr/>
        </p:nvSpPr>
        <p:spPr>
          <a:xfrm>
            <a:off x="8168640" y="2072640"/>
            <a:ext cx="1463040" cy="3901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33"/>
              <a:buFont typeface="Arial"/>
              <a:buNone/>
            </a:pPr>
            <a:r>
              <a:rPr b="1" i="0" lang="en-US" sz="1333" u="none" cap="none" strike="noStrike">
                <a:solidFill>
                  <a:srgbClr val="FFFFFF"/>
                </a:solidFill>
                <a:latin typeface="Arial"/>
                <a:ea typeface="Arial"/>
                <a:cs typeface="Arial"/>
                <a:sym typeface="Arial"/>
              </a:rPr>
              <a:t>VALIDATE</a:t>
            </a:r>
            <a:endParaRPr b="0" i="0" sz="1333" u="none" cap="none" strike="noStrike">
              <a:solidFill>
                <a:schemeClr val="dk1"/>
              </a:solidFill>
              <a:latin typeface="Arial"/>
              <a:ea typeface="Arial"/>
              <a:cs typeface="Arial"/>
              <a:sym typeface="Arial"/>
            </a:endParaRPr>
          </a:p>
        </p:txBody>
      </p:sp>
      <p:sp>
        <p:nvSpPr>
          <p:cNvPr id="409" name="Google Shape;409;p9"/>
          <p:cNvSpPr/>
          <p:nvPr/>
        </p:nvSpPr>
        <p:spPr>
          <a:xfrm>
            <a:off x="8168640" y="2584704"/>
            <a:ext cx="3657600" cy="2901600"/>
          </a:xfrm>
          <a:prstGeom prst="rect">
            <a:avLst/>
          </a:prstGeom>
          <a:solidFill>
            <a:srgbClr val="F8F9FA"/>
          </a:solidFill>
          <a:ln cap="flat" cmpd="sng" w="12700">
            <a:solidFill>
              <a:srgbClr val="DAD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10" name="Google Shape;410;p9"/>
          <p:cNvSpPr/>
          <p:nvPr/>
        </p:nvSpPr>
        <p:spPr>
          <a:xfrm>
            <a:off x="8168640" y="2584704"/>
            <a:ext cx="3657600" cy="290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67"/>
              <a:buFont typeface="Arial"/>
              <a:buNone/>
            </a:pPr>
            <a:r>
              <a:rPr b="0" i="1" lang="en-US" sz="1467" u="none" cap="none" strike="noStrike">
                <a:solidFill>
                  <a:srgbClr val="5F6368"/>
                </a:solidFill>
                <a:latin typeface="Calibri"/>
                <a:ea typeface="Calibri"/>
                <a:cs typeface="Calibri"/>
                <a:sym typeface="Calibri"/>
              </a:rPr>
              <a:t>[ Insert screenshot ]</a:t>
            </a:r>
            <a:endParaRPr b="0" i="0" sz="1467" u="none" cap="none" strike="noStrike">
              <a:solidFill>
                <a:schemeClr val="dk1"/>
              </a:solidFill>
              <a:latin typeface="Arial"/>
              <a:ea typeface="Arial"/>
              <a:cs typeface="Arial"/>
              <a:sym typeface="Arial"/>
            </a:endParaRPr>
          </a:p>
        </p:txBody>
      </p:sp>
      <p:sp>
        <p:nvSpPr>
          <p:cNvPr id="411" name="Google Shape;411;p9"/>
          <p:cNvSpPr/>
          <p:nvPr/>
        </p:nvSpPr>
        <p:spPr>
          <a:xfrm>
            <a:off x="8168640" y="5608320"/>
            <a:ext cx="3657600"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33"/>
              <a:buFont typeface="Arial"/>
              <a:buNone/>
            </a:pPr>
            <a:r>
              <a:rPr b="0" i="0" lang="en-US" sz="1333" u="none" cap="none" strike="noStrike">
                <a:solidFill>
                  <a:srgbClr val="5F6368"/>
                </a:solidFill>
                <a:latin typeface="Calibri"/>
                <a:ea typeface="Calibri"/>
                <a:cs typeface="Calibri"/>
                <a:sym typeface="Calibri"/>
              </a:rPr>
              <a:t>Blocked release-gate verdict after model evaluation</a:t>
            </a:r>
            <a:endParaRPr b="0" i="0" sz="1333" u="none" cap="none" strike="noStrike">
              <a:solidFill>
                <a:schemeClr val="dk1"/>
              </a:solidFill>
              <a:latin typeface="Arial"/>
              <a:ea typeface="Arial"/>
              <a:cs typeface="Arial"/>
              <a:sym typeface="Arial"/>
            </a:endParaRPr>
          </a:p>
        </p:txBody>
      </p:sp>
      <p:sp>
        <p:nvSpPr>
          <p:cNvPr id="412" name="Google Shape;412;p9"/>
          <p:cNvSpPr/>
          <p:nvPr/>
        </p:nvSpPr>
        <p:spPr>
          <a:xfrm>
            <a:off x="578675" y="6035048"/>
            <a:ext cx="11278500" cy="390000"/>
          </a:xfrm>
          <a:prstGeom prst="roundRect">
            <a:avLst>
              <a:gd fmla="val 15625" name="adj"/>
            </a:avLst>
          </a:prstGeom>
          <a:solidFill>
            <a:srgbClr val="F8F9FA"/>
          </a:solidFill>
          <a:ln cap="flat" cmpd="sng" w="9525">
            <a:solidFill>
              <a:srgbClr val="DAD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13" name="Google Shape;413;p9"/>
          <p:cNvSpPr/>
          <p:nvPr/>
        </p:nvSpPr>
        <p:spPr>
          <a:xfrm>
            <a:off x="914380" y="6035045"/>
            <a:ext cx="10607100" cy="39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3C4043"/>
                </a:solidFill>
                <a:latin typeface="Calibri"/>
                <a:ea typeface="Calibri"/>
                <a:cs typeface="Calibri"/>
                <a:sym typeface="Calibri"/>
              </a:rPr>
              <a:t> </a:t>
            </a:r>
            <a:r>
              <a:rPr b="1" i="0" lang="en-US" sz="1200" u="none" cap="none" strike="noStrike">
                <a:solidFill>
                  <a:srgbClr val="EA4335"/>
                </a:solidFill>
                <a:latin typeface="Calibri"/>
                <a:ea typeface="Calibri"/>
                <a:cs typeface="Calibri"/>
                <a:sym typeface="Calibri"/>
              </a:rPr>
              <a:t>Track 2: </a:t>
            </a:r>
            <a:r>
              <a:rPr b="0" i="0" lang="en-US" sz="1200" u="none" cap="none" strike="noStrike">
                <a:solidFill>
                  <a:srgbClr val="3C4043"/>
                </a:solidFill>
                <a:latin typeface="Calibri"/>
                <a:ea typeface="Calibri"/>
                <a:cs typeface="Calibri"/>
                <a:sym typeface="Calibri"/>
              </a:rPr>
              <a:t>Adk run + Cloud Run deployment + Dashboard validation</a:t>
            </a:r>
            <a:endParaRPr b="0" i="0" sz="1200" u="none" cap="none" strike="noStrike">
              <a:solidFill>
                <a:schemeClr val="dk1"/>
              </a:solidFill>
              <a:latin typeface="Arial"/>
              <a:ea typeface="Arial"/>
              <a:cs typeface="Arial"/>
              <a:sym typeface="Arial"/>
            </a:endParaRPr>
          </a:p>
        </p:txBody>
      </p:sp>
      <p:cxnSp>
        <p:nvCxnSpPr>
          <p:cNvPr id="414" name="Google Shape;414;p9"/>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415" name="Google Shape;415;p9"/>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416" name="Google Shape;416;p9"/>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09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pic>
        <p:nvPicPr>
          <p:cNvPr id="417" name="Google Shape;417;p9" title="ChatGPT Image Apr 27, 2026, 01_04_38 AM.png"/>
          <p:cNvPicPr preferRelativeResize="0"/>
          <p:nvPr/>
        </p:nvPicPr>
        <p:blipFill rotWithShape="1">
          <a:blip r:embed="rId3">
            <a:alphaModFix/>
          </a:blip>
          <a:srcRect b="0" l="0" r="0" t="0"/>
          <a:stretch/>
        </p:blipFill>
        <p:spPr>
          <a:xfrm>
            <a:off x="609599" y="2584700"/>
            <a:ext cx="3657600" cy="2901662"/>
          </a:xfrm>
          <a:prstGeom prst="rect">
            <a:avLst/>
          </a:prstGeom>
          <a:noFill/>
          <a:ln>
            <a:noFill/>
          </a:ln>
        </p:spPr>
      </p:pic>
      <p:pic>
        <p:nvPicPr>
          <p:cNvPr id="418" name="Google Shape;418;p9" title="ChatGPT Image Apr 27, 2026, 01_10_22 AM.png"/>
          <p:cNvPicPr preferRelativeResize="0"/>
          <p:nvPr/>
        </p:nvPicPr>
        <p:blipFill rotWithShape="1">
          <a:blip r:embed="rId4">
            <a:alphaModFix/>
          </a:blip>
          <a:srcRect b="0" l="0" r="0" t="0"/>
          <a:stretch/>
        </p:blipFill>
        <p:spPr>
          <a:xfrm>
            <a:off x="4389129" y="2584725"/>
            <a:ext cx="3657600" cy="2901662"/>
          </a:xfrm>
          <a:prstGeom prst="rect">
            <a:avLst/>
          </a:prstGeom>
          <a:noFill/>
          <a:ln>
            <a:noFill/>
          </a:ln>
        </p:spPr>
      </p:pic>
      <p:pic>
        <p:nvPicPr>
          <p:cNvPr id="419" name="Google Shape;419;p9" title="ChatGPT Image Apr 27, 2026, 01_13_13 AM.png"/>
          <p:cNvPicPr preferRelativeResize="0"/>
          <p:nvPr/>
        </p:nvPicPr>
        <p:blipFill rotWithShape="1">
          <a:blip r:embed="rId5">
            <a:alphaModFix/>
          </a:blip>
          <a:srcRect b="0" l="0" r="0" t="0"/>
          <a:stretch/>
        </p:blipFill>
        <p:spPr>
          <a:xfrm>
            <a:off x="8168660" y="2584700"/>
            <a:ext cx="3657598" cy="28996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e448a71adf_0_47"/>
          <p:cNvSpPr/>
          <p:nvPr/>
        </p:nvSpPr>
        <p:spPr>
          <a:xfrm>
            <a:off x="609600" y="390144"/>
            <a:ext cx="195000" cy="195000"/>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26" name="Google Shape;426;g3e448a71adf_0_47"/>
          <p:cNvSpPr/>
          <p:nvPr/>
        </p:nvSpPr>
        <p:spPr>
          <a:xfrm>
            <a:off x="877824" y="390144"/>
            <a:ext cx="195000" cy="195000"/>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27" name="Google Shape;427;g3e448a71adf_0_47"/>
          <p:cNvSpPr/>
          <p:nvPr/>
        </p:nvSpPr>
        <p:spPr>
          <a:xfrm>
            <a:off x="1146048" y="390144"/>
            <a:ext cx="195000" cy="195000"/>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28" name="Google Shape;428;g3e448a71adf_0_47"/>
          <p:cNvSpPr/>
          <p:nvPr/>
        </p:nvSpPr>
        <p:spPr>
          <a:xfrm>
            <a:off x="1414272" y="390144"/>
            <a:ext cx="195000" cy="195000"/>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29" name="Google Shape;429;g3e448a71adf_0_47"/>
          <p:cNvSpPr/>
          <p:nvPr/>
        </p:nvSpPr>
        <p:spPr>
          <a:xfrm>
            <a:off x="1865376" y="365760"/>
            <a:ext cx="9753600" cy="26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0</a:t>
            </a:r>
            <a:r>
              <a:rPr b="1" lang="en-US" sz="1333">
                <a:solidFill>
                  <a:srgbClr val="5F6368"/>
                </a:solidFill>
              </a:rPr>
              <a:t>8</a:t>
            </a:r>
            <a:r>
              <a:rPr b="1" i="0" lang="en-US" sz="1333" u="none" cap="none" strike="noStrike">
                <a:solidFill>
                  <a:srgbClr val="5F6368"/>
                </a:solidFill>
                <a:latin typeface="Arial"/>
                <a:ea typeface="Arial"/>
                <a:cs typeface="Arial"/>
                <a:sym typeface="Arial"/>
              </a:rPr>
              <a:t>  ·  </a:t>
            </a:r>
            <a:r>
              <a:rPr b="1" lang="en-US" sz="1333">
                <a:solidFill>
                  <a:srgbClr val="5F6368"/>
                </a:solidFill>
              </a:rPr>
              <a:t>GOOGLE MODEL ARMOR COMPARISON</a:t>
            </a:r>
            <a:r>
              <a:rPr b="1" i="0" lang="en-US" sz="1333" u="none" cap="none" strike="noStrike">
                <a:solidFill>
                  <a:srgbClr val="5F6368"/>
                </a:solidFill>
                <a:latin typeface="Arial"/>
                <a:ea typeface="Arial"/>
                <a:cs typeface="Arial"/>
                <a:sym typeface="Arial"/>
              </a:rPr>
              <a:t> ·  </a:t>
            </a:r>
            <a:r>
              <a:rPr b="1" lang="en-US" sz="1333">
                <a:solidFill>
                  <a:srgbClr val="5F6368"/>
                </a:solidFill>
              </a:rPr>
              <a:t>SECURITY</a:t>
            </a:r>
            <a:r>
              <a:rPr b="1" i="0" lang="en-US" sz="1333" u="none" cap="none" strike="noStrike">
                <a:solidFill>
                  <a:srgbClr val="5F6368"/>
                </a:solidFill>
                <a:latin typeface="Arial"/>
                <a:ea typeface="Arial"/>
                <a:cs typeface="Arial"/>
                <a:sym typeface="Arial"/>
              </a:rPr>
              <a:t> + </a:t>
            </a:r>
            <a:r>
              <a:rPr b="1" lang="en-US" sz="1333">
                <a:solidFill>
                  <a:srgbClr val="5F6368"/>
                </a:solidFill>
              </a:rPr>
              <a:t>DEPLOYABILITY</a:t>
            </a:r>
            <a:endParaRPr b="0" i="0" sz="1333" u="none" cap="none" strike="noStrike">
              <a:solidFill>
                <a:schemeClr val="dk1"/>
              </a:solidFill>
              <a:latin typeface="Arial"/>
              <a:ea typeface="Arial"/>
              <a:cs typeface="Arial"/>
              <a:sym typeface="Arial"/>
            </a:endParaRPr>
          </a:p>
        </p:txBody>
      </p:sp>
      <p:sp>
        <p:nvSpPr>
          <p:cNvPr id="430" name="Google Shape;430;g3e448a71adf_0_47"/>
          <p:cNvSpPr/>
          <p:nvPr/>
        </p:nvSpPr>
        <p:spPr>
          <a:xfrm>
            <a:off x="609600" y="792480"/>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lang="en-US" sz="3467">
                <a:solidFill>
                  <a:srgbClr val="202124"/>
                </a:solidFill>
              </a:rPr>
              <a:t>Google Model Armor and Guardrail Factory</a:t>
            </a:r>
            <a:endParaRPr b="0" i="0" sz="3467" u="none" cap="none" strike="noStrike">
              <a:solidFill>
                <a:schemeClr val="dk1"/>
              </a:solidFill>
              <a:latin typeface="Arial"/>
              <a:ea typeface="Arial"/>
              <a:cs typeface="Arial"/>
              <a:sym typeface="Arial"/>
            </a:endParaRPr>
          </a:p>
        </p:txBody>
      </p:sp>
      <p:sp>
        <p:nvSpPr>
          <p:cNvPr id="431" name="Google Shape;431;g3e448a71adf_0_47"/>
          <p:cNvSpPr/>
          <p:nvPr/>
        </p:nvSpPr>
        <p:spPr>
          <a:xfrm>
            <a:off x="609600" y="1584960"/>
            <a:ext cx="609600" cy="6090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32" name="Google Shape;432;g3e448a71adf_0_47"/>
          <p:cNvSpPr/>
          <p:nvPr/>
        </p:nvSpPr>
        <p:spPr>
          <a:xfrm>
            <a:off x="1219200" y="1584960"/>
            <a:ext cx="609600" cy="6090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33" name="Google Shape;433;g3e448a71adf_0_47"/>
          <p:cNvSpPr/>
          <p:nvPr/>
        </p:nvSpPr>
        <p:spPr>
          <a:xfrm>
            <a:off x="1828800" y="1584960"/>
            <a:ext cx="609600" cy="6090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34" name="Google Shape;434;g3e448a71adf_0_47"/>
          <p:cNvSpPr/>
          <p:nvPr/>
        </p:nvSpPr>
        <p:spPr>
          <a:xfrm>
            <a:off x="2438400" y="1584960"/>
            <a:ext cx="609600" cy="6090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435" name="Google Shape;435;g3e448a71adf_0_47"/>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436" name="Google Shape;436;g3e448a71adf_0_47"/>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437" name="Google Shape;437;g3e448a71adf_0_47"/>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lang="en-US" sz="1200">
                <a:solidFill>
                  <a:srgbClr val="5F6368"/>
                </a:solidFill>
                <a:latin typeface="Calibri"/>
                <a:ea typeface="Calibri"/>
                <a:cs typeface="Calibri"/>
                <a:sym typeface="Calibri"/>
              </a:rPr>
              <a:t>10 </a:t>
            </a:r>
            <a:r>
              <a:rPr b="0" i="0" lang="en-US" sz="1200" u="none" cap="none" strike="noStrike">
                <a:solidFill>
                  <a:srgbClr val="5F6368"/>
                </a:solidFill>
                <a:latin typeface="Calibri"/>
                <a:ea typeface="Calibri"/>
                <a:cs typeface="Calibri"/>
                <a:sym typeface="Calibri"/>
              </a:rPr>
              <a:t>/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sp>
        <p:nvSpPr>
          <p:cNvPr id="438" name="Google Shape;438;g3e448a71adf_0_47"/>
          <p:cNvSpPr txBox="1"/>
          <p:nvPr/>
        </p:nvSpPr>
        <p:spPr>
          <a:xfrm>
            <a:off x="3126450" y="1401588"/>
            <a:ext cx="534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666666"/>
                </a:solidFill>
              </a:rPr>
              <a:t>Complementary controls across the GenAI </a:t>
            </a:r>
            <a:r>
              <a:rPr lang="en-US">
                <a:solidFill>
                  <a:srgbClr val="666666"/>
                </a:solidFill>
              </a:rPr>
              <a:t>lifecycle</a:t>
            </a:r>
            <a:r>
              <a:rPr lang="en-US">
                <a:solidFill>
                  <a:srgbClr val="666666"/>
                </a:solidFill>
              </a:rPr>
              <a:t> </a:t>
            </a:r>
            <a:endParaRPr>
              <a:solidFill>
                <a:srgbClr val="666666"/>
              </a:solidFill>
            </a:endParaRPr>
          </a:p>
        </p:txBody>
      </p:sp>
      <p:pic>
        <p:nvPicPr>
          <p:cNvPr descr="/mnt/data/google_model_armor_vs._guardrail_factory.png" id="439" name="Google Shape;439;g3e448a71adf_0_47"/>
          <p:cNvPicPr preferRelativeResize="0"/>
          <p:nvPr/>
        </p:nvPicPr>
        <p:blipFill rotWithShape="1">
          <a:blip r:embed="rId3">
            <a:alphaModFix/>
          </a:blip>
          <a:srcRect b="7720" l="4014" r="3496" t="20933"/>
          <a:stretch/>
        </p:blipFill>
        <p:spPr>
          <a:xfrm>
            <a:off x="491650" y="1832700"/>
            <a:ext cx="11434202" cy="4495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10"/>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46" name="Google Shape;446;p10"/>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47" name="Google Shape;447;p10"/>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48" name="Google Shape;448;p10"/>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49" name="Google Shape;449;p10"/>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0</a:t>
            </a:r>
            <a:r>
              <a:rPr b="1" lang="en-US" sz="1333">
                <a:solidFill>
                  <a:srgbClr val="5F6368"/>
                </a:solidFill>
              </a:rPr>
              <a:t>9</a:t>
            </a:r>
            <a:r>
              <a:rPr b="1" i="0" lang="en-US" sz="1333" u="none" cap="none" strike="noStrike">
                <a:solidFill>
                  <a:srgbClr val="5F6368"/>
                </a:solidFill>
                <a:latin typeface="Arial"/>
                <a:ea typeface="Arial"/>
                <a:cs typeface="Arial"/>
                <a:sym typeface="Arial"/>
              </a:rPr>
              <a:t>  ·  SECURITY &amp; GUARDRAILS  ·  SECURITY</a:t>
            </a:r>
            <a:endParaRPr b="0" i="0" sz="1333" u="none" cap="none" strike="noStrike">
              <a:solidFill>
                <a:schemeClr val="dk1"/>
              </a:solidFill>
              <a:latin typeface="Arial"/>
              <a:ea typeface="Arial"/>
              <a:cs typeface="Arial"/>
              <a:sym typeface="Arial"/>
            </a:endParaRPr>
          </a:p>
        </p:txBody>
      </p:sp>
      <p:sp>
        <p:nvSpPr>
          <p:cNvPr id="450" name="Google Shape;450;p10"/>
          <p:cNvSpPr/>
          <p:nvPr/>
        </p:nvSpPr>
        <p:spPr>
          <a:xfrm>
            <a:off x="609600" y="792480"/>
            <a:ext cx="109728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i="0" lang="en-US" sz="3467" u="none" cap="none" strike="noStrike">
                <a:solidFill>
                  <a:srgbClr val="202124"/>
                </a:solidFill>
                <a:latin typeface="Arial"/>
                <a:ea typeface="Arial"/>
                <a:cs typeface="Arial"/>
                <a:sym typeface="Arial"/>
              </a:rPr>
              <a:t>Responsible AI - protecting enterprise data</a:t>
            </a:r>
            <a:endParaRPr b="0" i="0" sz="3467" u="none" cap="none" strike="noStrike">
              <a:solidFill>
                <a:schemeClr val="dk1"/>
              </a:solidFill>
              <a:latin typeface="Arial"/>
              <a:ea typeface="Arial"/>
              <a:cs typeface="Arial"/>
              <a:sym typeface="Arial"/>
            </a:endParaRPr>
          </a:p>
        </p:txBody>
      </p:sp>
      <p:sp>
        <p:nvSpPr>
          <p:cNvPr id="451" name="Google Shape;451;p10"/>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52" name="Google Shape;452;p10"/>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53" name="Google Shape;453;p10"/>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54" name="Google Shape;454;p10"/>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55" name="Google Shape;455;p10"/>
          <p:cNvSpPr/>
          <p:nvPr/>
        </p:nvSpPr>
        <p:spPr>
          <a:xfrm>
            <a:off x="609600" y="2072640"/>
            <a:ext cx="10972800" cy="9144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56" name="Google Shape;456;p10"/>
          <p:cNvSpPr/>
          <p:nvPr/>
        </p:nvSpPr>
        <p:spPr>
          <a:xfrm>
            <a:off x="609600" y="2072640"/>
            <a:ext cx="10972800" cy="97536"/>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57" name="Google Shape;457;p10"/>
          <p:cNvSpPr/>
          <p:nvPr/>
        </p:nvSpPr>
        <p:spPr>
          <a:xfrm>
            <a:off x="853440" y="2231136"/>
            <a:ext cx="609600" cy="609600"/>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58" name="Google Shape;458;p10"/>
          <p:cNvSpPr/>
          <p:nvPr/>
        </p:nvSpPr>
        <p:spPr>
          <a:xfrm>
            <a:off x="853440" y="2194560"/>
            <a:ext cx="609600"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133"/>
              <a:buFont typeface="Arial"/>
              <a:buNone/>
            </a:pPr>
            <a:r>
              <a:rPr b="0" i="0" lang="en-US" sz="2133" u="none" cap="none" strike="noStrike">
                <a:solidFill>
                  <a:srgbClr val="FFFFFF"/>
                </a:solidFill>
                <a:latin typeface="Arial"/>
                <a:ea typeface="Arial"/>
                <a:cs typeface="Arial"/>
                <a:sym typeface="Arial"/>
              </a:rPr>
              <a:t>P</a:t>
            </a:r>
            <a:endParaRPr b="0" i="0" sz="2133" u="none" cap="none" strike="noStrike">
              <a:solidFill>
                <a:schemeClr val="dk1"/>
              </a:solidFill>
              <a:latin typeface="Arial"/>
              <a:ea typeface="Arial"/>
              <a:cs typeface="Arial"/>
              <a:sym typeface="Arial"/>
            </a:endParaRPr>
          </a:p>
        </p:txBody>
      </p:sp>
      <p:sp>
        <p:nvSpPr>
          <p:cNvPr id="459" name="Google Shape;459;p10"/>
          <p:cNvSpPr/>
          <p:nvPr/>
        </p:nvSpPr>
        <p:spPr>
          <a:xfrm>
            <a:off x="1645920" y="2170176"/>
            <a:ext cx="3657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33"/>
              <a:buFont typeface="Arial"/>
              <a:buNone/>
            </a:pPr>
            <a:r>
              <a:rPr b="1" i="0" lang="en-US" sz="1733" u="none" cap="none" strike="noStrike">
                <a:solidFill>
                  <a:srgbClr val="202124"/>
                </a:solidFill>
                <a:latin typeface="Arial"/>
                <a:ea typeface="Arial"/>
                <a:cs typeface="Arial"/>
                <a:sym typeface="Arial"/>
              </a:rPr>
              <a:t>PII &amp; Data Privacy</a:t>
            </a:r>
            <a:endParaRPr b="0" i="0" sz="1733" u="none" cap="none" strike="noStrike">
              <a:solidFill>
                <a:schemeClr val="dk1"/>
              </a:solidFill>
              <a:latin typeface="Arial"/>
              <a:ea typeface="Arial"/>
              <a:cs typeface="Arial"/>
              <a:sym typeface="Arial"/>
            </a:endParaRPr>
          </a:p>
        </p:txBody>
      </p:sp>
      <p:sp>
        <p:nvSpPr>
          <p:cNvPr id="460" name="Google Shape;460;p10"/>
          <p:cNvSpPr/>
          <p:nvPr/>
        </p:nvSpPr>
        <p:spPr>
          <a:xfrm>
            <a:off x="1645920" y="2535936"/>
            <a:ext cx="975360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Multi-pattern PII scanner blocks emails, phone numbers, employee IDs, names, and sensitive data patterns.</a:t>
            </a:r>
            <a:endParaRPr b="0" i="0" sz="1467" u="none" cap="none" strike="noStrike">
              <a:solidFill>
                <a:srgbClr val="3C40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67"/>
              <a:buFont typeface="Arial"/>
              <a:buNone/>
            </a:pPr>
            <a:r>
              <a:t/>
            </a:r>
            <a:endParaRPr b="0" i="0" sz="1467" u="none" cap="none" strike="noStrike">
              <a:solidFill>
                <a:srgbClr val="3C4043"/>
              </a:solidFill>
              <a:latin typeface="Calibri"/>
              <a:ea typeface="Calibri"/>
              <a:cs typeface="Calibri"/>
              <a:sym typeface="Calibri"/>
            </a:endParaRPr>
          </a:p>
        </p:txBody>
      </p:sp>
      <p:sp>
        <p:nvSpPr>
          <p:cNvPr id="461" name="Google Shape;461;p10"/>
          <p:cNvSpPr/>
          <p:nvPr/>
        </p:nvSpPr>
        <p:spPr>
          <a:xfrm>
            <a:off x="609600" y="3108960"/>
            <a:ext cx="10972800" cy="9144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62" name="Google Shape;462;p10"/>
          <p:cNvSpPr/>
          <p:nvPr/>
        </p:nvSpPr>
        <p:spPr>
          <a:xfrm>
            <a:off x="609600" y="3108960"/>
            <a:ext cx="10972800" cy="97536"/>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63" name="Google Shape;463;p10"/>
          <p:cNvSpPr/>
          <p:nvPr/>
        </p:nvSpPr>
        <p:spPr>
          <a:xfrm>
            <a:off x="853440" y="3267456"/>
            <a:ext cx="609600" cy="609600"/>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64" name="Google Shape;464;p10"/>
          <p:cNvSpPr/>
          <p:nvPr/>
        </p:nvSpPr>
        <p:spPr>
          <a:xfrm>
            <a:off x="853440" y="3230880"/>
            <a:ext cx="609600"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133"/>
              <a:buFont typeface="Arial"/>
              <a:buNone/>
            </a:pPr>
            <a:r>
              <a:rPr b="0" i="0" lang="en-US" sz="2133" u="none" cap="none" strike="noStrike">
                <a:solidFill>
                  <a:srgbClr val="FFFFFF"/>
                </a:solidFill>
                <a:latin typeface="Arial"/>
                <a:ea typeface="Arial"/>
                <a:cs typeface="Arial"/>
                <a:sym typeface="Arial"/>
              </a:rPr>
              <a:t>G</a:t>
            </a:r>
            <a:endParaRPr b="0" i="0" sz="2133" u="none" cap="none" strike="noStrike">
              <a:solidFill>
                <a:schemeClr val="dk1"/>
              </a:solidFill>
              <a:latin typeface="Arial"/>
              <a:ea typeface="Arial"/>
              <a:cs typeface="Arial"/>
              <a:sym typeface="Arial"/>
            </a:endParaRPr>
          </a:p>
        </p:txBody>
      </p:sp>
      <p:sp>
        <p:nvSpPr>
          <p:cNvPr id="465" name="Google Shape;465;p10"/>
          <p:cNvSpPr/>
          <p:nvPr/>
        </p:nvSpPr>
        <p:spPr>
          <a:xfrm>
            <a:off x="1645920" y="3206496"/>
            <a:ext cx="3657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33"/>
              <a:buFont typeface="Arial"/>
              <a:buNone/>
            </a:pPr>
            <a:r>
              <a:rPr b="1" i="0" lang="en-US" sz="1733" u="none" cap="none" strike="noStrike">
                <a:solidFill>
                  <a:srgbClr val="202124"/>
                </a:solidFill>
                <a:latin typeface="Arial"/>
                <a:ea typeface="Arial"/>
                <a:cs typeface="Arial"/>
                <a:sym typeface="Arial"/>
              </a:rPr>
              <a:t>Grounding &amp; Citations</a:t>
            </a:r>
            <a:endParaRPr b="0" i="0" sz="1733" u="none" cap="none" strike="noStrike">
              <a:solidFill>
                <a:schemeClr val="dk1"/>
              </a:solidFill>
              <a:latin typeface="Arial"/>
              <a:ea typeface="Arial"/>
              <a:cs typeface="Arial"/>
              <a:sym typeface="Arial"/>
            </a:endParaRPr>
          </a:p>
        </p:txBody>
      </p:sp>
      <p:sp>
        <p:nvSpPr>
          <p:cNvPr id="466" name="Google Shape;466;p10"/>
          <p:cNvSpPr/>
          <p:nvPr/>
        </p:nvSpPr>
        <p:spPr>
          <a:xfrm>
            <a:off x="1645920" y="3572256"/>
            <a:ext cx="975360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RAG-grounded evaluation checks answers against enterprise source documents before release; threshold &gt;=85%</a:t>
            </a:r>
            <a:endParaRPr b="0" i="0" sz="1467" u="none" cap="none" strike="noStrike">
              <a:solidFill>
                <a:schemeClr val="dk1"/>
              </a:solidFill>
              <a:latin typeface="Arial"/>
              <a:ea typeface="Arial"/>
              <a:cs typeface="Arial"/>
              <a:sym typeface="Arial"/>
            </a:endParaRPr>
          </a:p>
        </p:txBody>
      </p:sp>
      <p:sp>
        <p:nvSpPr>
          <p:cNvPr id="467" name="Google Shape;467;p10"/>
          <p:cNvSpPr/>
          <p:nvPr/>
        </p:nvSpPr>
        <p:spPr>
          <a:xfrm>
            <a:off x="609600" y="4145280"/>
            <a:ext cx="10972800" cy="9144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68" name="Google Shape;468;p10"/>
          <p:cNvSpPr/>
          <p:nvPr/>
        </p:nvSpPr>
        <p:spPr>
          <a:xfrm>
            <a:off x="609600" y="4145280"/>
            <a:ext cx="10972800" cy="97536"/>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69" name="Google Shape;469;p10"/>
          <p:cNvSpPr/>
          <p:nvPr/>
        </p:nvSpPr>
        <p:spPr>
          <a:xfrm>
            <a:off x="853440" y="4303776"/>
            <a:ext cx="609600" cy="609600"/>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70" name="Google Shape;470;p10"/>
          <p:cNvSpPr/>
          <p:nvPr/>
        </p:nvSpPr>
        <p:spPr>
          <a:xfrm>
            <a:off x="853440" y="4267200"/>
            <a:ext cx="609600"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133"/>
              <a:buFont typeface="Arial"/>
              <a:buNone/>
            </a:pPr>
            <a:r>
              <a:rPr b="0" i="0" lang="en-US" sz="2133" u="none" cap="none" strike="noStrike">
                <a:solidFill>
                  <a:srgbClr val="FFFFFF"/>
                </a:solidFill>
                <a:latin typeface="Arial"/>
                <a:ea typeface="Arial"/>
                <a:cs typeface="Arial"/>
                <a:sym typeface="Arial"/>
              </a:rPr>
              <a:t>A</a:t>
            </a:r>
            <a:endParaRPr b="0" i="0" sz="2133" u="none" cap="none" strike="noStrike">
              <a:solidFill>
                <a:schemeClr val="dk1"/>
              </a:solidFill>
              <a:latin typeface="Arial"/>
              <a:ea typeface="Arial"/>
              <a:cs typeface="Arial"/>
              <a:sym typeface="Arial"/>
            </a:endParaRPr>
          </a:p>
        </p:txBody>
      </p:sp>
      <p:sp>
        <p:nvSpPr>
          <p:cNvPr id="471" name="Google Shape;471;p10"/>
          <p:cNvSpPr/>
          <p:nvPr/>
        </p:nvSpPr>
        <p:spPr>
          <a:xfrm>
            <a:off x="1645920" y="4242816"/>
            <a:ext cx="3657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33"/>
              <a:buFont typeface="Arial"/>
              <a:buNone/>
            </a:pPr>
            <a:r>
              <a:rPr b="1" i="0" lang="en-US" sz="1733" u="none" cap="none" strike="noStrike">
                <a:solidFill>
                  <a:srgbClr val="202124"/>
                </a:solidFill>
                <a:latin typeface="Arial"/>
                <a:ea typeface="Arial"/>
                <a:cs typeface="Arial"/>
                <a:sym typeface="Arial"/>
              </a:rPr>
              <a:t>Auditability &amp; Evidence</a:t>
            </a:r>
            <a:endParaRPr b="0" i="0" sz="1733" u="none" cap="none" strike="noStrike">
              <a:solidFill>
                <a:schemeClr val="dk1"/>
              </a:solidFill>
              <a:latin typeface="Arial"/>
              <a:ea typeface="Arial"/>
              <a:cs typeface="Arial"/>
              <a:sym typeface="Arial"/>
            </a:endParaRPr>
          </a:p>
        </p:txBody>
      </p:sp>
      <p:sp>
        <p:nvSpPr>
          <p:cNvPr id="472" name="Google Shape;472;p10"/>
          <p:cNvSpPr/>
          <p:nvPr/>
        </p:nvSpPr>
        <p:spPr>
          <a:xfrm>
            <a:off x="1645920" y="4608576"/>
            <a:ext cx="975360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Every run stores scores, thresholds, verdicts, remediation history, timestamps, and operator evidence.</a:t>
            </a:r>
            <a:endParaRPr b="0" i="0" sz="1467" u="none" cap="none" strike="noStrike">
              <a:solidFill>
                <a:schemeClr val="dk1"/>
              </a:solidFill>
              <a:latin typeface="Arial"/>
              <a:ea typeface="Arial"/>
              <a:cs typeface="Arial"/>
              <a:sym typeface="Arial"/>
            </a:endParaRPr>
          </a:p>
        </p:txBody>
      </p:sp>
      <p:sp>
        <p:nvSpPr>
          <p:cNvPr id="473" name="Google Shape;473;p10"/>
          <p:cNvSpPr/>
          <p:nvPr/>
        </p:nvSpPr>
        <p:spPr>
          <a:xfrm>
            <a:off x="609600" y="5181600"/>
            <a:ext cx="10972800" cy="9144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74" name="Google Shape;474;p10"/>
          <p:cNvSpPr/>
          <p:nvPr/>
        </p:nvSpPr>
        <p:spPr>
          <a:xfrm>
            <a:off x="609600" y="5181600"/>
            <a:ext cx="10972800" cy="97536"/>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75" name="Google Shape;475;p10"/>
          <p:cNvSpPr/>
          <p:nvPr/>
        </p:nvSpPr>
        <p:spPr>
          <a:xfrm>
            <a:off x="853440" y="5340096"/>
            <a:ext cx="609600" cy="609600"/>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76" name="Google Shape;476;p10"/>
          <p:cNvSpPr/>
          <p:nvPr/>
        </p:nvSpPr>
        <p:spPr>
          <a:xfrm>
            <a:off x="853440" y="5303520"/>
            <a:ext cx="609600"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133"/>
              <a:buFont typeface="Arial"/>
              <a:buNone/>
            </a:pPr>
            <a:r>
              <a:rPr b="0" i="0" lang="en-US" sz="2133" u="none" cap="none" strike="noStrike">
                <a:solidFill>
                  <a:srgbClr val="FFFFFF"/>
                </a:solidFill>
                <a:latin typeface="Arial"/>
                <a:ea typeface="Arial"/>
                <a:cs typeface="Arial"/>
                <a:sym typeface="Arial"/>
              </a:rPr>
              <a:t>D</a:t>
            </a:r>
            <a:endParaRPr b="0" i="0" sz="2133" u="none" cap="none" strike="noStrike">
              <a:solidFill>
                <a:schemeClr val="dk1"/>
              </a:solidFill>
              <a:latin typeface="Arial"/>
              <a:ea typeface="Arial"/>
              <a:cs typeface="Arial"/>
              <a:sym typeface="Arial"/>
            </a:endParaRPr>
          </a:p>
        </p:txBody>
      </p:sp>
      <p:sp>
        <p:nvSpPr>
          <p:cNvPr id="477" name="Google Shape;477;p10"/>
          <p:cNvSpPr/>
          <p:nvPr/>
        </p:nvSpPr>
        <p:spPr>
          <a:xfrm>
            <a:off x="1645920" y="5279136"/>
            <a:ext cx="3657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33"/>
              <a:buFont typeface="Arial"/>
              <a:buNone/>
            </a:pPr>
            <a:r>
              <a:rPr b="1" i="0" lang="en-US" sz="1733" u="none" cap="none" strike="noStrike">
                <a:solidFill>
                  <a:srgbClr val="202124"/>
                </a:solidFill>
                <a:latin typeface="Arial"/>
                <a:ea typeface="Arial"/>
                <a:cs typeface="Arial"/>
                <a:sym typeface="Arial"/>
              </a:rPr>
              <a:t>Domain Boundaries</a:t>
            </a:r>
            <a:endParaRPr b="0" i="0" sz="1733" u="none" cap="none" strike="noStrike">
              <a:solidFill>
                <a:schemeClr val="dk1"/>
              </a:solidFill>
              <a:latin typeface="Arial"/>
              <a:ea typeface="Arial"/>
              <a:cs typeface="Arial"/>
              <a:sym typeface="Arial"/>
            </a:endParaRPr>
          </a:p>
        </p:txBody>
      </p:sp>
      <p:sp>
        <p:nvSpPr>
          <p:cNvPr id="478" name="Google Shape;478;p10"/>
          <p:cNvSpPr/>
          <p:nvPr/>
        </p:nvSpPr>
        <p:spPr>
          <a:xfrm>
            <a:off x="1645920" y="5644896"/>
            <a:ext cx="975360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Rejects role overrides, unauthorized approvals, unsafe policy actions, and unsupported responses.</a:t>
            </a:r>
            <a:endParaRPr b="0" i="0" sz="1467" u="none" cap="none" strike="noStrike">
              <a:solidFill>
                <a:schemeClr val="dk1"/>
              </a:solidFill>
              <a:latin typeface="Arial"/>
              <a:ea typeface="Arial"/>
              <a:cs typeface="Arial"/>
              <a:sym typeface="Arial"/>
            </a:endParaRPr>
          </a:p>
        </p:txBody>
      </p:sp>
      <p:cxnSp>
        <p:nvCxnSpPr>
          <p:cNvPr id="479" name="Google Shape;479;p10"/>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480" name="Google Shape;480;p10"/>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481" name="Google Shape;481;p10"/>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1</a:t>
            </a:r>
            <a:r>
              <a:rPr lang="en-US" sz="1200">
                <a:solidFill>
                  <a:srgbClr val="5F6368"/>
                </a:solidFill>
                <a:latin typeface="Calibri"/>
                <a:ea typeface="Calibri"/>
                <a:cs typeface="Calibri"/>
                <a:sym typeface="Calibri"/>
              </a:rPr>
              <a:t>1</a:t>
            </a:r>
            <a:r>
              <a:rPr b="0" i="0" lang="en-US" sz="1200" u="none" cap="none" strike="noStrike">
                <a:solidFill>
                  <a:srgbClr val="5F6368"/>
                </a:solidFill>
                <a:latin typeface="Calibri"/>
                <a:ea typeface="Calibri"/>
                <a:cs typeface="Calibri"/>
                <a:sym typeface="Calibri"/>
              </a:rPr>
              <a:t>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sp>
        <p:nvSpPr>
          <p:cNvPr id="482" name="Google Shape;482;p10"/>
          <p:cNvSpPr/>
          <p:nvPr/>
        </p:nvSpPr>
        <p:spPr>
          <a:xfrm>
            <a:off x="609600" y="6106725"/>
            <a:ext cx="10972800" cy="304800"/>
          </a:xfrm>
          <a:prstGeom prst="roundRect">
            <a:avLst>
              <a:gd fmla="val 22222" name="adj"/>
            </a:avLst>
          </a:prstGeom>
          <a:solidFill>
            <a:srgbClr val="F8FAFF"/>
          </a:solidFill>
          <a:ln cap="flat" cmpd="sng" w="12700">
            <a:solidFill>
              <a:srgbClr val="D9E8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83" name="Google Shape;483;p10"/>
          <p:cNvSpPr/>
          <p:nvPr/>
        </p:nvSpPr>
        <p:spPr>
          <a:xfrm>
            <a:off x="1341150" y="6166053"/>
            <a:ext cx="9509700" cy="164700"/>
          </a:xfrm>
          <a:prstGeom prst="rect">
            <a:avLst/>
          </a:prstGeom>
          <a:noFill/>
          <a:ln>
            <a:noFill/>
          </a:ln>
        </p:spPr>
        <p:txBody>
          <a:bodyPr anchorCtr="0" anchor="t" bIns="625" lIns="625" spcFirstLastPara="1" rIns="625" wrap="square" tIns="625">
            <a:noAutofit/>
          </a:bodyPr>
          <a:lstStyle/>
          <a:p>
            <a:pPr indent="0" lvl="0" marL="0" marR="0" rtl="0" algn="ctr">
              <a:spcBef>
                <a:spcPts val="0"/>
              </a:spcBef>
              <a:spcAft>
                <a:spcPts val="0"/>
              </a:spcAft>
              <a:buClr>
                <a:srgbClr val="0B1F3A"/>
              </a:buClr>
              <a:buSzPts val="1250"/>
              <a:buFont typeface="Arial"/>
              <a:buNone/>
            </a:pPr>
            <a:r>
              <a:rPr b="1" lang="en-US" sz="1250">
                <a:solidFill>
                  <a:srgbClr val="0B1F3A"/>
                </a:solidFill>
                <a:latin typeface="Arial"/>
                <a:ea typeface="Arial"/>
                <a:cs typeface="Arial"/>
                <a:sym typeface="Arial"/>
              </a:rPr>
              <a:t>Release policy: Groundedness ≥ 0.85 · Toxicity ≥ 0.90 · PII ≥ 0.90 · Category floor ≥ 70% · Critical failures = 0</a:t>
            </a:r>
            <a:endParaRPr sz="125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1"/>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0" name="Google Shape;490;p11"/>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1" name="Google Shape;491;p11"/>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2" name="Google Shape;492;p11"/>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3" name="Google Shape;493;p11"/>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lang="en-US" sz="1333">
                <a:solidFill>
                  <a:srgbClr val="5F6368"/>
                </a:solidFill>
              </a:rPr>
              <a:t>10</a:t>
            </a:r>
            <a:r>
              <a:rPr b="1" i="0" lang="en-US" sz="1333" u="none" cap="none" strike="noStrike">
                <a:solidFill>
                  <a:srgbClr val="5F6368"/>
                </a:solidFill>
                <a:latin typeface="Arial"/>
                <a:ea typeface="Arial"/>
                <a:cs typeface="Arial"/>
                <a:sym typeface="Arial"/>
              </a:rPr>
              <a:t>  ·  SCALE &amp; ENTERPRISE READINESS  ·  LONG-TERM VALUE</a:t>
            </a:r>
            <a:endParaRPr b="0" i="0" sz="1333" u="none" cap="none" strike="noStrike">
              <a:solidFill>
                <a:schemeClr val="dk1"/>
              </a:solidFill>
              <a:latin typeface="Arial"/>
              <a:ea typeface="Arial"/>
              <a:cs typeface="Arial"/>
              <a:sym typeface="Arial"/>
            </a:endParaRPr>
          </a:p>
        </p:txBody>
      </p:sp>
      <p:sp>
        <p:nvSpPr>
          <p:cNvPr id="494" name="Google Shape;494;p11"/>
          <p:cNvSpPr/>
          <p:nvPr/>
        </p:nvSpPr>
        <p:spPr>
          <a:xfrm>
            <a:off x="609600" y="792480"/>
            <a:ext cx="6577584"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i="0" lang="en-US" sz="3467" u="none" cap="none" strike="noStrike">
                <a:solidFill>
                  <a:srgbClr val="202124"/>
                </a:solidFill>
                <a:latin typeface="Arial"/>
                <a:ea typeface="Arial"/>
                <a:cs typeface="Arial"/>
                <a:sym typeface="Arial"/>
              </a:rPr>
              <a:t>From prototype to production</a:t>
            </a:r>
            <a:endParaRPr b="0" i="0" sz="3467" u="none" cap="none" strike="noStrike">
              <a:solidFill>
                <a:schemeClr val="dk1"/>
              </a:solidFill>
              <a:latin typeface="Arial"/>
              <a:ea typeface="Arial"/>
              <a:cs typeface="Arial"/>
              <a:sym typeface="Arial"/>
            </a:endParaRPr>
          </a:p>
        </p:txBody>
      </p:sp>
      <p:sp>
        <p:nvSpPr>
          <p:cNvPr id="495" name="Google Shape;495;p11"/>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6" name="Google Shape;496;p11"/>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7" name="Google Shape;497;p11"/>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8" name="Google Shape;498;p11"/>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9" name="Google Shape;499;p11"/>
          <p:cNvSpPr/>
          <p:nvPr/>
        </p:nvSpPr>
        <p:spPr>
          <a:xfrm>
            <a:off x="609600" y="2072640"/>
            <a:ext cx="6461760" cy="128016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0" name="Google Shape;500;p11"/>
          <p:cNvSpPr/>
          <p:nvPr/>
        </p:nvSpPr>
        <p:spPr>
          <a:xfrm>
            <a:off x="609600" y="2072640"/>
            <a:ext cx="6461760" cy="97536"/>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1" name="Google Shape;501;p11"/>
          <p:cNvSpPr/>
          <p:nvPr/>
        </p:nvSpPr>
        <p:spPr>
          <a:xfrm>
            <a:off x="914400" y="2255520"/>
            <a:ext cx="6096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Modular architecture</a:t>
            </a:r>
            <a:endParaRPr b="0" i="0" sz="1867" u="none" cap="none" strike="noStrike">
              <a:solidFill>
                <a:schemeClr val="dk1"/>
              </a:solidFill>
              <a:latin typeface="Arial"/>
              <a:ea typeface="Arial"/>
              <a:cs typeface="Arial"/>
              <a:sym typeface="Arial"/>
            </a:endParaRPr>
          </a:p>
        </p:txBody>
      </p:sp>
      <p:sp>
        <p:nvSpPr>
          <p:cNvPr id="502" name="Google Shape;502;p11"/>
          <p:cNvSpPr/>
          <p:nvPr/>
        </p:nvSpPr>
        <p:spPr>
          <a:xfrm>
            <a:off x="914400" y="2657856"/>
            <a:ext cx="603504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Agent, tools, prompts, thresholds, and policies are separated for easy extension.</a:t>
            </a:r>
            <a:endParaRPr b="0" i="0" sz="1467" u="none" cap="none" strike="noStrike">
              <a:solidFill>
                <a:srgbClr val="3C4043"/>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467" u="none" cap="none" strike="noStrike">
              <a:solidFill>
                <a:srgbClr val="3C40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67"/>
              <a:buFont typeface="Arial"/>
              <a:buNone/>
            </a:pPr>
            <a:r>
              <a:t/>
            </a:r>
            <a:endParaRPr b="0" i="0" sz="1467" u="none" cap="none" strike="noStrike">
              <a:solidFill>
                <a:srgbClr val="3C4043"/>
              </a:solidFill>
              <a:latin typeface="Calibri"/>
              <a:ea typeface="Calibri"/>
              <a:cs typeface="Calibri"/>
              <a:sym typeface="Calibri"/>
            </a:endParaRPr>
          </a:p>
        </p:txBody>
      </p:sp>
      <p:sp>
        <p:nvSpPr>
          <p:cNvPr id="503" name="Google Shape;503;p11"/>
          <p:cNvSpPr/>
          <p:nvPr/>
        </p:nvSpPr>
        <p:spPr>
          <a:xfrm>
            <a:off x="609600" y="3474720"/>
            <a:ext cx="6461760" cy="128016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4" name="Google Shape;504;p11"/>
          <p:cNvSpPr/>
          <p:nvPr/>
        </p:nvSpPr>
        <p:spPr>
          <a:xfrm>
            <a:off x="609600" y="3474720"/>
            <a:ext cx="6461760" cy="97536"/>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5" name="Google Shape;505;p11"/>
          <p:cNvSpPr/>
          <p:nvPr/>
        </p:nvSpPr>
        <p:spPr>
          <a:xfrm>
            <a:off x="914400" y="3657600"/>
            <a:ext cx="6096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Horizontal scale</a:t>
            </a:r>
            <a:endParaRPr b="0" i="0" sz="1867" u="none" cap="none" strike="noStrike">
              <a:solidFill>
                <a:schemeClr val="dk1"/>
              </a:solidFill>
              <a:latin typeface="Arial"/>
              <a:ea typeface="Arial"/>
              <a:cs typeface="Arial"/>
              <a:sym typeface="Arial"/>
            </a:endParaRPr>
          </a:p>
        </p:txBody>
      </p:sp>
      <p:sp>
        <p:nvSpPr>
          <p:cNvPr id="506" name="Google Shape;506;p11"/>
          <p:cNvSpPr/>
          <p:nvPr/>
        </p:nvSpPr>
        <p:spPr>
          <a:xfrm>
            <a:off x="914400" y="4059936"/>
            <a:ext cx="603504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Cloud Run supports containerized, auto-scaling evaluation across multiple GenAI apps.</a:t>
            </a:r>
            <a:endParaRPr b="0" i="0" sz="1467" u="none" cap="none" strike="noStrike">
              <a:solidFill>
                <a:srgbClr val="3C4043"/>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467" u="none" cap="none" strike="noStrike">
              <a:solidFill>
                <a:srgbClr val="3C40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67"/>
              <a:buFont typeface="Arial"/>
              <a:buNone/>
            </a:pPr>
            <a:r>
              <a:t/>
            </a:r>
            <a:endParaRPr b="0" i="0" sz="1467" u="none" cap="none" strike="noStrike">
              <a:solidFill>
                <a:srgbClr val="3C4043"/>
              </a:solidFill>
              <a:latin typeface="Calibri"/>
              <a:ea typeface="Calibri"/>
              <a:cs typeface="Calibri"/>
              <a:sym typeface="Calibri"/>
            </a:endParaRPr>
          </a:p>
        </p:txBody>
      </p:sp>
      <p:sp>
        <p:nvSpPr>
          <p:cNvPr id="507" name="Google Shape;507;p11"/>
          <p:cNvSpPr/>
          <p:nvPr/>
        </p:nvSpPr>
        <p:spPr>
          <a:xfrm>
            <a:off x="609600" y="4876800"/>
            <a:ext cx="6461760" cy="128016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8" name="Google Shape;508;p11"/>
          <p:cNvSpPr/>
          <p:nvPr/>
        </p:nvSpPr>
        <p:spPr>
          <a:xfrm>
            <a:off x="609600" y="4876800"/>
            <a:ext cx="6461760" cy="97536"/>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9" name="Google Shape;509;p11"/>
          <p:cNvSpPr/>
          <p:nvPr/>
        </p:nvSpPr>
        <p:spPr>
          <a:xfrm>
            <a:off x="914400" y="5059680"/>
            <a:ext cx="6096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rgbClr val="202124"/>
                </a:solidFill>
                <a:latin typeface="Arial"/>
                <a:ea typeface="Arial"/>
                <a:cs typeface="Arial"/>
                <a:sym typeface="Arial"/>
              </a:rPr>
              <a:t>Observability &amp; Ops</a:t>
            </a:r>
            <a:endParaRPr b="0" i="0" sz="1867" u="none" cap="none" strike="noStrike">
              <a:solidFill>
                <a:schemeClr val="dk1"/>
              </a:solidFill>
              <a:latin typeface="Arial"/>
              <a:ea typeface="Arial"/>
              <a:cs typeface="Arial"/>
              <a:sym typeface="Arial"/>
            </a:endParaRPr>
          </a:p>
        </p:txBody>
      </p:sp>
      <p:sp>
        <p:nvSpPr>
          <p:cNvPr id="510" name="Google Shape;510;p11"/>
          <p:cNvSpPr/>
          <p:nvPr/>
        </p:nvSpPr>
        <p:spPr>
          <a:xfrm>
            <a:off x="914400" y="5462016"/>
            <a:ext cx="603504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Run history, scorecards, remediation logs, threshold configs, and audit evidence support governance.</a:t>
            </a:r>
            <a:endParaRPr b="0" i="0" sz="1467" u="none" cap="none" strike="noStrike">
              <a:solidFill>
                <a:schemeClr val="dk1"/>
              </a:solidFill>
              <a:latin typeface="Arial"/>
              <a:ea typeface="Arial"/>
              <a:cs typeface="Arial"/>
              <a:sym typeface="Arial"/>
            </a:endParaRPr>
          </a:p>
        </p:txBody>
      </p:sp>
      <p:sp>
        <p:nvSpPr>
          <p:cNvPr id="511" name="Google Shape;511;p11"/>
          <p:cNvSpPr/>
          <p:nvPr/>
        </p:nvSpPr>
        <p:spPr>
          <a:xfrm>
            <a:off x="7315200" y="2072640"/>
            <a:ext cx="4267200" cy="42672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12" name="Google Shape;512;p11"/>
          <p:cNvSpPr/>
          <p:nvPr/>
        </p:nvSpPr>
        <p:spPr>
          <a:xfrm>
            <a:off x="7315200" y="2072640"/>
            <a:ext cx="4267200" cy="97536"/>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13" name="Google Shape;513;p11"/>
          <p:cNvSpPr/>
          <p:nvPr/>
        </p:nvSpPr>
        <p:spPr>
          <a:xfrm>
            <a:off x="7559040" y="2292096"/>
            <a:ext cx="377952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REUSE MAP</a:t>
            </a:r>
            <a:endParaRPr b="0" i="0" sz="1333" u="none" cap="none" strike="noStrike">
              <a:solidFill>
                <a:schemeClr val="dk1"/>
              </a:solidFill>
              <a:latin typeface="Arial"/>
              <a:ea typeface="Arial"/>
              <a:cs typeface="Arial"/>
              <a:sym typeface="Arial"/>
            </a:endParaRPr>
          </a:p>
        </p:txBody>
      </p:sp>
      <p:sp>
        <p:nvSpPr>
          <p:cNvPr id="514" name="Google Shape;514;p11"/>
          <p:cNvSpPr/>
          <p:nvPr/>
        </p:nvSpPr>
        <p:spPr>
          <a:xfrm>
            <a:off x="7559040" y="2621280"/>
            <a:ext cx="377952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33"/>
              <a:buFont typeface="Arial"/>
              <a:buNone/>
            </a:pPr>
            <a:r>
              <a:rPr b="1" i="0" lang="en-US" sz="1733" u="none" cap="none" strike="noStrike">
                <a:solidFill>
                  <a:srgbClr val="202124"/>
                </a:solidFill>
                <a:latin typeface="Arial"/>
                <a:ea typeface="Arial"/>
                <a:cs typeface="Arial"/>
                <a:sym typeface="Arial"/>
              </a:rPr>
              <a:t>Where else this solution can be applied</a:t>
            </a:r>
            <a:endParaRPr b="0" i="0" sz="1733" u="none" cap="none" strike="noStrike">
              <a:solidFill>
                <a:schemeClr val="dk1"/>
              </a:solidFill>
              <a:latin typeface="Arial"/>
              <a:ea typeface="Arial"/>
              <a:cs typeface="Arial"/>
              <a:sym typeface="Arial"/>
            </a:endParaRPr>
          </a:p>
        </p:txBody>
      </p:sp>
      <p:sp>
        <p:nvSpPr>
          <p:cNvPr id="515" name="Google Shape;515;p11"/>
          <p:cNvSpPr/>
          <p:nvPr/>
        </p:nvSpPr>
        <p:spPr>
          <a:xfrm>
            <a:off x="7559040" y="3108960"/>
            <a:ext cx="3779520" cy="3108960"/>
          </a:xfrm>
          <a:prstGeom prst="rect">
            <a:avLst/>
          </a:prstGeom>
          <a:noFill/>
          <a:ln>
            <a:noFill/>
          </a:ln>
        </p:spPr>
        <p:txBody>
          <a:bodyPr anchorCtr="0" anchor="ctr" bIns="45700" lIns="91425" spcFirstLastPara="1" rIns="91425" wrap="square" tIns="45700">
            <a:noAutofit/>
          </a:bodyPr>
          <a:lstStyle/>
          <a:p>
            <a:pPr indent="-457189" lvl="0" marL="457189" marR="0" rtl="0" algn="l">
              <a:lnSpc>
                <a:spcPct val="100000"/>
              </a:lnSpc>
              <a:spcBef>
                <a:spcPts val="0"/>
              </a:spcBef>
              <a:spcAft>
                <a:spcPts val="0"/>
              </a:spcAft>
              <a:buClr>
                <a:srgbClr val="3C4043"/>
              </a:buClr>
              <a:buSzPts val="1600"/>
              <a:buFont typeface="Calibri"/>
              <a:buChar char="•"/>
            </a:pPr>
            <a:r>
              <a:rPr b="0" i="0" lang="en-US" sz="1600" u="none" cap="none" strike="noStrike">
                <a:solidFill>
                  <a:srgbClr val="3C4043"/>
                </a:solidFill>
                <a:latin typeface="Calibri"/>
                <a:ea typeface="Calibri"/>
                <a:cs typeface="Calibri"/>
                <a:sym typeface="Calibri"/>
              </a:rPr>
              <a:t>BFSI: loan/chatbot policy assistants</a:t>
            </a:r>
            <a:endParaRPr b="0" i="0" sz="1600" u="none" cap="none" strike="noStrike">
              <a:solidFill>
                <a:schemeClr val="dk1"/>
              </a:solidFill>
              <a:latin typeface="Arial"/>
              <a:ea typeface="Arial"/>
              <a:cs typeface="Arial"/>
              <a:sym typeface="Arial"/>
            </a:endParaRPr>
          </a:p>
          <a:p>
            <a:pPr indent="-457189" lvl="0" marL="457189" marR="0" rtl="0" algn="l">
              <a:lnSpc>
                <a:spcPct val="100000"/>
              </a:lnSpc>
              <a:spcBef>
                <a:spcPts val="667"/>
              </a:spcBef>
              <a:spcAft>
                <a:spcPts val="0"/>
              </a:spcAft>
              <a:buClr>
                <a:srgbClr val="3C4043"/>
              </a:buClr>
              <a:buSzPts val="1600"/>
              <a:buFont typeface="Calibri"/>
              <a:buChar char="•"/>
            </a:pPr>
            <a:r>
              <a:rPr b="0" i="0" lang="en-US" sz="1600" u="none" cap="none" strike="noStrike">
                <a:solidFill>
                  <a:srgbClr val="3C4043"/>
                </a:solidFill>
                <a:latin typeface="Calibri"/>
                <a:ea typeface="Calibri"/>
                <a:cs typeface="Calibri"/>
                <a:sym typeface="Calibri"/>
              </a:rPr>
              <a:t>Healthcare: </a:t>
            </a:r>
            <a:r>
              <a:rPr lang="en-US" sz="1600">
                <a:solidFill>
                  <a:srgbClr val="3C4043"/>
                </a:solidFill>
                <a:latin typeface="Calibri"/>
                <a:ea typeface="Calibri"/>
                <a:cs typeface="Calibri"/>
                <a:sym typeface="Calibri"/>
              </a:rPr>
              <a:t>patient</a:t>
            </a:r>
            <a:r>
              <a:rPr b="0" i="0" lang="en-US" sz="1600" u="none" cap="none" strike="noStrike">
                <a:solidFill>
                  <a:srgbClr val="3C4043"/>
                </a:solidFill>
                <a:latin typeface="Calibri"/>
                <a:ea typeface="Calibri"/>
                <a:cs typeface="Calibri"/>
                <a:sym typeface="Calibri"/>
              </a:rPr>
              <a:t>-facing knowledge bots</a:t>
            </a:r>
            <a:endParaRPr b="0" i="0" sz="1600" u="none" cap="none" strike="noStrike">
              <a:solidFill>
                <a:schemeClr val="dk1"/>
              </a:solidFill>
              <a:latin typeface="Arial"/>
              <a:ea typeface="Arial"/>
              <a:cs typeface="Arial"/>
              <a:sym typeface="Arial"/>
            </a:endParaRPr>
          </a:p>
          <a:p>
            <a:pPr indent="-457189" lvl="0" marL="457189" marR="0" rtl="0" algn="l">
              <a:lnSpc>
                <a:spcPct val="100000"/>
              </a:lnSpc>
              <a:spcBef>
                <a:spcPts val="667"/>
              </a:spcBef>
              <a:spcAft>
                <a:spcPts val="0"/>
              </a:spcAft>
              <a:buClr>
                <a:srgbClr val="3C4043"/>
              </a:buClr>
              <a:buSzPts val="1600"/>
              <a:buFont typeface="Calibri"/>
              <a:buChar char="•"/>
            </a:pPr>
            <a:r>
              <a:rPr b="0" i="0" lang="en-US" sz="1600" u="none" cap="none" strike="noStrike">
                <a:solidFill>
                  <a:srgbClr val="3C4043"/>
                </a:solidFill>
                <a:latin typeface="Calibri"/>
                <a:ea typeface="Calibri"/>
                <a:cs typeface="Calibri"/>
                <a:sym typeface="Calibri"/>
              </a:rPr>
              <a:t>HR: internal copilots and policy Q&amp;A</a:t>
            </a:r>
            <a:endParaRPr b="0" i="0" sz="1600" u="none" cap="none" strike="noStrike">
              <a:solidFill>
                <a:schemeClr val="dk1"/>
              </a:solidFill>
              <a:latin typeface="Arial"/>
              <a:ea typeface="Arial"/>
              <a:cs typeface="Arial"/>
              <a:sym typeface="Arial"/>
            </a:endParaRPr>
          </a:p>
          <a:p>
            <a:pPr indent="-457189" lvl="0" marL="457189" marR="0" rtl="0" algn="l">
              <a:lnSpc>
                <a:spcPct val="100000"/>
              </a:lnSpc>
              <a:spcBef>
                <a:spcPts val="667"/>
              </a:spcBef>
              <a:spcAft>
                <a:spcPts val="0"/>
              </a:spcAft>
              <a:buClr>
                <a:srgbClr val="3C4043"/>
              </a:buClr>
              <a:buSzPts val="1600"/>
              <a:buFont typeface="Calibri"/>
              <a:buChar char="•"/>
            </a:pPr>
            <a:r>
              <a:rPr b="0" i="0" lang="en-US" sz="1600" u="none" cap="none" strike="noStrike">
                <a:solidFill>
                  <a:srgbClr val="3C4043"/>
                </a:solidFill>
                <a:latin typeface="Calibri"/>
                <a:ea typeface="Calibri"/>
                <a:cs typeface="Calibri"/>
                <a:sym typeface="Calibri"/>
              </a:rPr>
              <a:t>Legal &amp; compliance: regulated RAG workflows</a:t>
            </a:r>
            <a:endParaRPr b="0" i="0" sz="1600" u="none" cap="none" strike="noStrike">
              <a:solidFill>
                <a:srgbClr val="3C4043"/>
              </a:solidFill>
              <a:latin typeface="Calibri"/>
              <a:ea typeface="Calibri"/>
              <a:cs typeface="Calibri"/>
              <a:sym typeface="Calibri"/>
            </a:endParaRPr>
          </a:p>
          <a:p>
            <a:pPr indent="0" lvl="0" marL="0" marR="0" rtl="0" algn="l">
              <a:lnSpc>
                <a:spcPct val="100000"/>
              </a:lnSpc>
              <a:spcBef>
                <a:spcPts val="667"/>
              </a:spcBef>
              <a:spcAft>
                <a:spcPts val="0"/>
              </a:spcAft>
              <a:buNone/>
            </a:pPr>
            <a:r>
              <a:t/>
            </a:r>
            <a:endParaRPr sz="1600">
              <a:solidFill>
                <a:srgbClr val="3C4043"/>
              </a:solidFill>
              <a:latin typeface="Calibri"/>
              <a:ea typeface="Calibri"/>
              <a:cs typeface="Calibri"/>
              <a:sym typeface="Calibri"/>
            </a:endParaRPr>
          </a:p>
          <a:p>
            <a:pPr indent="0" lvl="0" marL="0" rtl="0" algn="l">
              <a:spcBef>
                <a:spcPts val="0"/>
              </a:spcBef>
              <a:spcAft>
                <a:spcPts val="0"/>
              </a:spcAft>
              <a:buNone/>
            </a:pPr>
            <a:r>
              <a:rPr b="1" lang="en-US" sz="1200">
                <a:solidFill>
                  <a:srgbClr val="0B1F3A"/>
                </a:solidFill>
              </a:rPr>
              <a:t>Expansion path: Cloud Build · GitHub Actions · BigQuery audit trail · Cloud Scheduler · Vertex AI Pipelines</a:t>
            </a:r>
            <a:endParaRPr b="0" i="0" sz="1600" u="none" cap="none" strike="noStrike">
              <a:solidFill>
                <a:srgbClr val="3C4043"/>
              </a:solidFill>
              <a:latin typeface="Calibri"/>
              <a:ea typeface="Calibri"/>
              <a:cs typeface="Calibri"/>
              <a:sym typeface="Calibri"/>
            </a:endParaRPr>
          </a:p>
        </p:txBody>
      </p:sp>
      <p:cxnSp>
        <p:nvCxnSpPr>
          <p:cNvPr id="516" name="Google Shape;516;p11"/>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517" name="Google Shape;517;p11"/>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518" name="Google Shape;518;p11"/>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1</a:t>
            </a:r>
            <a:r>
              <a:rPr lang="en-US" sz="1200">
                <a:solidFill>
                  <a:srgbClr val="5F6368"/>
                </a:solidFill>
                <a:latin typeface="Calibri"/>
                <a:ea typeface="Calibri"/>
                <a:cs typeface="Calibri"/>
                <a:sym typeface="Calibri"/>
              </a:rPr>
              <a:t>2</a:t>
            </a:r>
            <a:r>
              <a:rPr b="0" i="0" lang="en-US" sz="1200" u="none" cap="none" strike="noStrike">
                <a:solidFill>
                  <a:srgbClr val="5F6368"/>
                </a:solidFill>
                <a:latin typeface="Calibri"/>
                <a:ea typeface="Calibri"/>
                <a:cs typeface="Calibri"/>
                <a:sym typeface="Calibri"/>
              </a:rPr>
              <a:t>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12"/>
          <p:cNvSpPr/>
          <p:nvPr/>
        </p:nvSpPr>
        <p:spPr>
          <a:xfrm>
            <a:off x="609600" y="390144"/>
            <a:ext cx="195072" cy="195072"/>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5" name="Google Shape;525;p12"/>
          <p:cNvSpPr/>
          <p:nvPr/>
        </p:nvSpPr>
        <p:spPr>
          <a:xfrm>
            <a:off x="877824" y="390144"/>
            <a:ext cx="195072" cy="195072"/>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6" name="Google Shape;526;p12"/>
          <p:cNvSpPr/>
          <p:nvPr/>
        </p:nvSpPr>
        <p:spPr>
          <a:xfrm>
            <a:off x="1146048" y="390144"/>
            <a:ext cx="195072" cy="195072"/>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7" name="Google Shape;527;p12"/>
          <p:cNvSpPr/>
          <p:nvPr/>
        </p:nvSpPr>
        <p:spPr>
          <a:xfrm>
            <a:off x="1414272" y="390144"/>
            <a:ext cx="195072" cy="195072"/>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8" name="Google Shape;528;p12"/>
          <p:cNvSpPr/>
          <p:nvPr/>
        </p:nvSpPr>
        <p:spPr>
          <a:xfrm>
            <a:off x="1865376" y="365760"/>
            <a:ext cx="975360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1</a:t>
            </a:r>
            <a:r>
              <a:rPr b="1" lang="en-US" sz="1333">
                <a:solidFill>
                  <a:srgbClr val="5F6368"/>
                </a:solidFill>
              </a:rPr>
              <a:t>1</a:t>
            </a:r>
            <a:r>
              <a:rPr b="1" i="0" lang="en-US" sz="1333" u="none" cap="none" strike="noStrike">
                <a:solidFill>
                  <a:srgbClr val="5F6368"/>
                </a:solidFill>
                <a:latin typeface="Arial"/>
                <a:ea typeface="Arial"/>
                <a:cs typeface="Arial"/>
                <a:sym typeface="Arial"/>
              </a:rPr>
              <a:t>  ·  BUSINESS IMPACT</a:t>
            </a:r>
            <a:endParaRPr b="0" i="0" sz="1333" u="none" cap="none" strike="noStrike">
              <a:solidFill>
                <a:schemeClr val="dk1"/>
              </a:solidFill>
              <a:latin typeface="Arial"/>
              <a:ea typeface="Arial"/>
              <a:cs typeface="Arial"/>
              <a:sym typeface="Arial"/>
            </a:endParaRPr>
          </a:p>
        </p:txBody>
      </p:sp>
      <p:sp>
        <p:nvSpPr>
          <p:cNvPr id="529" name="Google Shape;529;p12"/>
          <p:cNvSpPr/>
          <p:nvPr/>
        </p:nvSpPr>
        <p:spPr>
          <a:xfrm>
            <a:off x="609600" y="792480"/>
            <a:ext cx="109728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466"/>
              <a:buFont typeface="Arial"/>
              <a:buNone/>
            </a:pPr>
            <a:r>
              <a:rPr b="1" i="0" lang="en-US" sz="3467" u="none" cap="none" strike="noStrike">
                <a:solidFill>
                  <a:srgbClr val="202124"/>
                </a:solidFill>
                <a:latin typeface="Arial"/>
                <a:ea typeface="Arial"/>
                <a:cs typeface="Arial"/>
                <a:sym typeface="Arial"/>
              </a:rPr>
              <a:t>Measurable value for the enterprise</a:t>
            </a:r>
            <a:endParaRPr b="0" i="0" sz="3467" u="none" cap="none" strike="noStrike">
              <a:solidFill>
                <a:schemeClr val="dk1"/>
              </a:solidFill>
              <a:latin typeface="Arial"/>
              <a:ea typeface="Arial"/>
              <a:cs typeface="Arial"/>
              <a:sym typeface="Arial"/>
            </a:endParaRPr>
          </a:p>
        </p:txBody>
      </p:sp>
      <p:sp>
        <p:nvSpPr>
          <p:cNvPr id="530" name="Google Shape;530;p12"/>
          <p:cNvSpPr/>
          <p:nvPr/>
        </p:nvSpPr>
        <p:spPr>
          <a:xfrm>
            <a:off x="609600" y="1584960"/>
            <a:ext cx="609600" cy="6096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1" name="Google Shape;531;p12"/>
          <p:cNvSpPr/>
          <p:nvPr/>
        </p:nvSpPr>
        <p:spPr>
          <a:xfrm>
            <a:off x="1219200" y="1584960"/>
            <a:ext cx="609600" cy="6096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2" name="Google Shape;532;p12"/>
          <p:cNvSpPr/>
          <p:nvPr/>
        </p:nvSpPr>
        <p:spPr>
          <a:xfrm>
            <a:off x="1828800" y="1584960"/>
            <a:ext cx="609600" cy="6096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3" name="Google Shape;533;p12"/>
          <p:cNvSpPr/>
          <p:nvPr/>
        </p:nvSpPr>
        <p:spPr>
          <a:xfrm>
            <a:off x="2438400" y="1584960"/>
            <a:ext cx="609600" cy="6096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4" name="Google Shape;534;p12"/>
          <p:cNvSpPr/>
          <p:nvPr/>
        </p:nvSpPr>
        <p:spPr>
          <a:xfrm>
            <a:off x="609600" y="2072640"/>
            <a:ext cx="2645664" cy="207264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5" name="Google Shape;535;p12"/>
          <p:cNvSpPr/>
          <p:nvPr/>
        </p:nvSpPr>
        <p:spPr>
          <a:xfrm>
            <a:off x="609600" y="2072640"/>
            <a:ext cx="2645664" cy="97536"/>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6" name="Google Shape;536;p12"/>
          <p:cNvSpPr/>
          <p:nvPr/>
        </p:nvSpPr>
        <p:spPr>
          <a:xfrm>
            <a:off x="609600" y="2377440"/>
            <a:ext cx="2645664" cy="853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267"/>
              <a:buFont typeface="Arial"/>
              <a:buNone/>
            </a:pPr>
            <a:r>
              <a:rPr b="1" i="0" lang="en-US" sz="4267" u="none" cap="none" strike="noStrike">
                <a:solidFill>
                  <a:srgbClr val="4285F4"/>
                </a:solidFill>
                <a:latin typeface="Arial"/>
                <a:ea typeface="Arial"/>
                <a:cs typeface="Arial"/>
                <a:sym typeface="Arial"/>
              </a:rPr>
              <a:t>8→0</a:t>
            </a:r>
            <a:endParaRPr b="0" i="0" sz="4267" u="none" cap="none" strike="noStrike">
              <a:solidFill>
                <a:schemeClr val="dk1"/>
              </a:solidFill>
              <a:latin typeface="Arial"/>
              <a:ea typeface="Arial"/>
              <a:cs typeface="Arial"/>
              <a:sym typeface="Arial"/>
            </a:endParaRPr>
          </a:p>
        </p:txBody>
      </p:sp>
      <p:sp>
        <p:nvSpPr>
          <p:cNvPr id="537" name="Google Shape;537;p12"/>
          <p:cNvSpPr/>
          <p:nvPr/>
        </p:nvSpPr>
        <p:spPr>
          <a:xfrm>
            <a:off x="792480" y="3230880"/>
            <a:ext cx="2279904" cy="8534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467" u="none" cap="none" strike="noStrike">
                <a:solidFill>
                  <a:srgbClr val="3C4043"/>
                </a:solidFill>
                <a:latin typeface="Calibri"/>
                <a:ea typeface="Calibri"/>
                <a:cs typeface="Calibri"/>
                <a:sym typeface="Calibri"/>
              </a:rPr>
              <a:t>active failures cleared in documented PoC run</a:t>
            </a:r>
            <a:endParaRPr b="0" i="0" sz="1467" u="none" cap="none" strike="noStrike">
              <a:solidFill>
                <a:srgbClr val="3C4043"/>
              </a:solidFill>
              <a:latin typeface="Calibri"/>
              <a:ea typeface="Calibri"/>
              <a:cs typeface="Calibri"/>
              <a:sym typeface="Calibri"/>
            </a:endParaRPr>
          </a:p>
        </p:txBody>
      </p:sp>
      <p:sp>
        <p:nvSpPr>
          <p:cNvPr id="538" name="Google Shape;538;p12"/>
          <p:cNvSpPr/>
          <p:nvPr/>
        </p:nvSpPr>
        <p:spPr>
          <a:xfrm>
            <a:off x="3389376" y="2072640"/>
            <a:ext cx="2645664" cy="207264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9" name="Google Shape;539;p12"/>
          <p:cNvSpPr/>
          <p:nvPr/>
        </p:nvSpPr>
        <p:spPr>
          <a:xfrm>
            <a:off x="3389376" y="2072640"/>
            <a:ext cx="2645664" cy="97536"/>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40" name="Google Shape;540;p12"/>
          <p:cNvSpPr/>
          <p:nvPr/>
        </p:nvSpPr>
        <p:spPr>
          <a:xfrm>
            <a:off x="3389376" y="2377440"/>
            <a:ext cx="2645664" cy="853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267"/>
              <a:buFont typeface="Arial"/>
              <a:buNone/>
            </a:pPr>
            <a:r>
              <a:rPr b="1" i="0" lang="en-US" sz="4267" u="none" cap="none" strike="noStrike">
                <a:solidFill>
                  <a:srgbClr val="EA4335"/>
                </a:solidFill>
                <a:latin typeface="Arial"/>
                <a:ea typeface="Arial"/>
                <a:cs typeface="Arial"/>
                <a:sym typeface="Arial"/>
              </a:rPr>
              <a:t>₹4.5Cr+</a:t>
            </a:r>
            <a:endParaRPr b="0" i="0" sz="4267" u="none" cap="none" strike="noStrike">
              <a:solidFill>
                <a:schemeClr val="dk1"/>
              </a:solidFill>
              <a:latin typeface="Arial"/>
              <a:ea typeface="Arial"/>
              <a:cs typeface="Arial"/>
              <a:sym typeface="Arial"/>
            </a:endParaRPr>
          </a:p>
        </p:txBody>
      </p:sp>
      <p:sp>
        <p:nvSpPr>
          <p:cNvPr id="541" name="Google Shape;541;p12"/>
          <p:cNvSpPr/>
          <p:nvPr/>
        </p:nvSpPr>
        <p:spPr>
          <a:xfrm>
            <a:off x="3572256" y="3230880"/>
            <a:ext cx="2279904" cy="8534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average GenAI breach cost avoided per incident</a:t>
            </a:r>
            <a:endParaRPr b="0" i="0" sz="1467" u="none" cap="none" strike="noStrike">
              <a:solidFill>
                <a:schemeClr val="dk1"/>
              </a:solidFill>
              <a:latin typeface="Arial"/>
              <a:ea typeface="Arial"/>
              <a:cs typeface="Arial"/>
              <a:sym typeface="Arial"/>
            </a:endParaRPr>
          </a:p>
        </p:txBody>
      </p:sp>
      <p:sp>
        <p:nvSpPr>
          <p:cNvPr id="542" name="Google Shape;542;p12"/>
          <p:cNvSpPr/>
          <p:nvPr/>
        </p:nvSpPr>
        <p:spPr>
          <a:xfrm>
            <a:off x="6169152" y="2072640"/>
            <a:ext cx="2645664" cy="207264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43" name="Google Shape;543;p12"/>
          <p:cNvSpPr/>
          <p:nvPr/>
        </p:nvSpPr>
        <p:spPr>
          <a:xfrm>
            <a:off x="6169152" y="2072640"/>
            <a:ext cx="2645664" cy="97536"/>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44" name="Google Shape;544;p12"/>
          <p:cNvSpPr/>
          <p:nvPr/>
        </p:nvSpPr>
        <p:spPr>
          <a:xfrm>
            <a:off x="6169152" y="2377440"/>
            <a:ext cx="2645664" cy="853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267"/>
              <a:buFont typeface="Arial"/>
              <a:buNone/>
            </a:pPr>
            <a:r>
              <a:rPr b="1" i="0" lang="en-US" sz="4267" u="none" cap="none" strike="noStrike">
                <a:solidFill>
                  <a:srgbClr val="FBBC04"/>
                </a:solidFill>
                <a:latin typeface="Arial"/>
                <a:ea typeface="Arial"/>
                <a:cs typeface="Arial"/>
                <a:sym typeface="Arial"/>
              </a:rPr>
              <a:t>+0.102</a:t>
            </a:r>
            <a:endParaRPr b="0" i="0" sz="4267" u="none" cap="none" strike="noStrike">
              <a:solidFill>
                <a:schemeClr val="dk1"/>
              </a:solidFill>
              <a:latin typeface="Arial"/>
              <a:ea typeface="Arial"/>
              <a:cs typeface="Arial"/>
              <a:sym typeface="Arial"/>
            </a:endParaRPr>
          </a:p>
        </p:txBody>
      </p:sp>
      <p:sp>
        <p:nvSpPr>
          <p:cNvPr id="545" name="Google Shape;545;p12"/>
          <p:cNvSpPr/>
          <p:nvPr/>
        </p:nvSpPr>
        <p:spPr>
          <a:xfrm>
            <a:off x="6352032" y="3230880"/>
            <a:ext cx="2279904" cy="8534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groundedness gain after hardening (0.840 → 0.942)</a:t>
            </a:r>
            <a:endParaRPr b="0" i="0" sz="1467" u="none" cap="none" strike="noStrike">
              <a:solidFill>
                <a:schemeClr val="dk1"/>
              </a:solidFill>
              <a:latin typeface="Arial"/>
              <a:ea typeface="Arial"/>
              <a:cs typeface="Arial"/>
              <a:sym typeface="Arial"/>
            </a:endParaRPr>
          </a:p>
        </p:txBody>
      </p:sp>
      <p:sp>
        <p:nvSpPr>
          <p:cNvPr id="546" name="Google Shape;546;p12"/>
          <p:cNvSpPr/>
          <p:nvPr/>
        </p:nvSpPr>
        <p:spPr>
          <a:xfrm>
            <a:off x="8948928" y="2072640"/>
            <a:ext cx="2645664" cy="207264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47" name="Google Shape;547;p12"/>
          <p:cNvSpPr/>
          <p:nvPr/>
        </p:nvSpPr>
        <p:spPr>
          <a:xfrm>
            <a:off x="8948928" y="2072640"/>
            <a:ext cx="2645664" cy="97536"/>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48" name="Google Shape;548;p12"/>
          <p:cNvSpPr/>
          <p:nvPr/>
        </p:nvSpPr>
        <p:spPr>
          <a:xfrm>
            <a:off x="8948928" y="2377440"/>
            <a:ext cx="2645664" cy="853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267"/>
              <a:buFont typeface="Arial"/>
              <a:buNone/>
            </a:pPr>
            <a:r>
              <a:rPr b="1" i="0" lang="en-US" sz="4267" u="none" cap="none" strike="noStrike">
                <a:solidFill>
                  <a:srgbClr val="34A853"/>
                </a:solidFill>
                <a:latin typeface="Arial"/>
                <a:ea typeface="Arial"/>
                <a:cs typeface="Arial"/>
                <a:sym typeface="Arial"/>
              </a:rPr>
              <a:t>0</a:t>
            </a:r>
            <a:endParaRPr b="0" i="0" sz="4267" u="none" cap="none" strike="noStrike">
              <a:solidFill>
                <a:schemeClr val="dk1"/>
              </a:solidFill>
              <a:latin typeface="Arial"/>
              <a:ea typeface="Arial"/>
              <a:cs typeface="Arial"/>
              <a:sym typeface="Arial"/>
            </a:endParaRPr>
          </a:p>
        </p:txBody>
      </p:sp>
      <p:sp>
        <p:nvSpPr>
          <p:cNvPr id="549" name="Google Shape;549;p12"/>
          <p:cNvSpPr/>
          <p:nvPr/>
        </p:nvSpPr>
        <p:spPr>
          <a:xfrm>
            <a:off x="9131808" y="3230880"/>
            <a:ext cx="2279904" cy="8534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67"/>
              <a:buFont typeface="Arial"/>
              <a:buNone/>
            </a:pPr>
            <a:r>
              <a:rPr b="0" i="0" lang="en-US" sz="1467" u="none" cap="none" strike="noStrike">
                <a:solidFill>
                  <a:srgbClr val="3C4043"/>
                </a:solidFill>
                <a:latin typeface="Calibri"/>
                <a:ea typeface="Calibri"/>
                <a:cs typeface="Calibri"/>
                <a:sym typeface="Calibri"/>
              </a:rPr>
              <a:t>PII leaks in final run (protection 0.992)</a:t>
            </a:r>
            <a:endParaRPr b="0" i="0" sz="1467" u="none" cap="none" strike="noStrike">
              <a:solidFill>
                <a:schemeClr val="dk1"/>
              </a:solidFill>
              <a:latin typeface="Arial"/>
              <a:ea typeface="Arial"/>
              <a:cs typeface="Arial"/>
              <a:sym typeface="Arial"/>
            </a:endParaRPr>
          </a:p>
        </p:txBody>
      </p:sp>
      <p:sp>
        <p:nvSpPr>
          <p:cNvPr id="550" name="Google Shape;550;p12"/>
          <p:cNvSpPr/>
          <p:nvPr/>
        </p:nvSpPr>
        <p:spPr>
          <a:xfrm>
            <a:off x="609600" y="4328160"/>
            <a:ext cx="10972800" cy="18288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51" name="Google Shape;551;p12"/>
          <p:cNvSpPr/>
          <p:nvPr/>
        </p:nvSpPr>
        <p:spPr>
          <a:xfrm>
            <a:off x="609600" y="4328160"/>
            <a:ext cx="10972800" cy="97536"/>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52" name="Google Shape;552;p12"/>
          <p:cNvSpPr/>
          <p:nvPr/>
        </p:nvSpPr>
        <p:spPr>
          <a:xfrm>
            <a:off x="914400" y="4535424"/>
            <a:ext cx="103632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QUALITATIVE IMPACT</a:t>
            </a:r>
            <a:endParaRPr b="0" i="0" sz="1333" u="none" cap="none" strike="noStrike">
              <a:solidFill>
                <a:schemeClr val="dk1"/>
              </a:solidFill>
              <a:latin typeface="Arial"/>
              <a:ea typeface="Arial"/>
              <a:cs typeface="Arial"/>
              <a:sym typeface="Arial"/>
            </a:endParaRPr>
          </a:p>
        </p:txBody>
      </p:sp>
      <p:sp>
        <p:nvSpPr>
          <p:cNvPr id="553" name="Google Shape;553;p12"/>
          <p:cNvSpPr/>
          <p:nvPr/>
        </p:nvSpPr>
        <p:spPr>
          <a:xfrm>
            <a:off x="914400" y="4876800"/>
            <a:ext cx="10363200" cy="121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02124"/>
                </a:solidFill>
                <a:latin typeface="Calibri"/>
                <a:ea typeface="Calibri"/>
                <a:cs typeface="Calibri"/>
                <a:sym typeface="Calibri"/>
              </a:rPr>
              <a:t>Employee experience: </a:t>
            </a:r>
            <a:r>
              <a:rPr b="0" i="0" lang="en-US" sz="1600" u="none" cap="none" strike="noStrike">
                <a:solidFill>
                  <a:srgbClr val="3C4043"/>
                </a:solidFill>
                <a:latin typeface="Calibri"/>
                <a:ea typeface="Calibri"/>
                <a:cs typeface="Calibri"/>
                <a:sym typeface="Calibri"/>
              </a:rPr>
              <a:t>Less manual red-team toil; faster remediation decisions.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600"/>
              <a:buFont typeface="Arial"/>
              <a:buNone/>
            </a:pPr>
            <a:r>
              <a:rPr b="1" i="0" lang="en-US" sz="1600" u="none" cap="none" strike="noStrike">
                <a:solidFill>
                  <a:srgbClr val="202124"/>
                </a:solidFill>
                <a:latin typeface="Calibri"/>
                <a:ea typeface="Calibri"/>
                <a:cs typeface="Calibri"/>
                <a:sym typeface="Calibri"/>
              </a:rPr>
              <a:t>Customer experience: </a:t>
            </a:r>
            <a:r>
              <a:rPr b="0" i="0" lang="en-US" sz="1600" u="none" cap="none" strike="noStrike">
                <a:solidFill>
                  <a:srgbClr val="3C4043"/>
                </a:solidFill>
                <a:latin typeface="Calibri"/>
                <a:ea typeface="Calibri"/>
                <a:cs typeface="Calibri"/>
                <a:sym typeface="Calibri"/>
              </a:rPr>
              <a:t>Safer, more accurate, source-grounded AI responses.</a:t>
            </a:r>
            <a:endParaRPr b="0" i="0" sz="1600" u="none" cap="none" strike="noStrike">
              <a:solidFill>
                <a:srgbClr val="3C4043"/>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600"/>
              <a:buFont typeface="Arial"/>
              <a:buNone/>
            </a:pPr>
            <a:r>
              <a:rPr b="1" i="0" lang="en-US" sz="1600" u="none" cap="none" strike="noStrike">
                <a:solidFill>
                  <a:srgbClr val="202124"/>
                </a:solidFill>
                <a:latin typeface="Calibri"/>
                <a:ea typeface="Calibri"/>
                <a:cs typeface="Calibri"/>
                <a:sym typeface="Calibri"/>
              </a:rPr>
              <a:t>Risk posture: </a:t>
            </a:r>
            <a:r>
              <a:rPr b="0" i="0" lang="en-US" sz="1600" u="none" cap="none" strike="noStrike">
                <a:solidFill>
                  <a:srgbClr val="3C4043"/>
                </a:solidFill>
                <a:latin typeface="Calibri"/>
                <a:ea typeface="Calibri"/>
                <a:cs typeface="Calibri"/>
                <a:sym typeface="Calibri"/>
              </a:rPr>
              <a:t>Repeatable deploy/block governance with audit evidence.</a:t>
            </a:r>
            <a:endParaRPr b="0" i="0" sz="1600" u="none" cap="none" strike="noStrike">
              <a:solidFill>
                <a:srgbClr val="3C4043"/>
              </a:solidFill>
              <a:latin typeface="Calibri"/>
              <a:ea typeface="Calibri"/>
              <a:cs typeface="Calibri"/>
              <a:sym typeface="Calibri"/>
            </a:endParaRPr>
          </a:p>
        </p:txBody>
      </p:sp>
      <p:cxnSp>
        <p:nvCxnSpPr>
          <p:cNvPr id="554" name="Google Shape;554;p12"/>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555" name="Google Shape;555;p12"/>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556" name="Google Shape;556;p12"/>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1</a:t>
            </a:r>
            <a:r>
              <a:rPr lang="en-US" sz="1200">
                <a:solidFill>
                  <a:srgbClr val="5F6368"/>
                </a:solidFill>
                <a:latin typeface="Calibri"/>
                <a:ea typeface="Calibri"/>
                <a:cs typeface="Calibri"/>
                <a:sym typeface="Calibri"/>
              </a:rPr>
              <a:t>3</a:t>
            </a:r>
            <a:r>
              <a:rPr b="0" i="0" lang="en-US" sz="1200" u="none" cap="none" strike="noStrike">
                <a:solidFill>
                  <a:srgbClr val="5F6368"/>
                </a:solidFill>
                <a:latin typeface="Calibri"/>
                <a:ea typeface="Calibri"/>
                <a:cs typeface="Calibri"/>
                <a:sym typeface="Calibri"/>
              </a:rPr>
              <a:t>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sp>
        <p:nvSpPr>
          <p:cNvPr id="557" name="Google Shape;557;p12"/>
          <p:cNvSpPr/>
          <p:nvPr/>
        </p:nvSpPr>
        <p:spPr>
          <a:xfrm>
            <a:off x="586800" y="6126474"/>
            <a:ext cx="11018400" cy="304800"/>
          </a:xfrm>
          <a:prstGeom prst="roundRect">
            <a:avLst>
              <a:gd fmla="val 16667" name="adj"/>
            </a:avLst>
          </a:prstGeom>
          <a:solidFill>
            <a:srgbClr val="EFF6FF"/>
          </a:solidFill>
          <a:ln cap="flat" cmpd="sng" w="13950">
            <a:solidFill>
              <a:srgbClr val="4285F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558" name="Google Shape;558;p12"/>
          <p:cNvSpPr txBox="1"/>
          <p:nvPr/>
        </p:nvSpPr>
        <p:spPr>
          <a:xfrm>
            <a:off x="838210" y="6144926"/>
            <a:ext cx="10515600" cy="267900"/>
          </a:xfrm>
          <a:prstGeom prst="rect">
            <a:avLst/>
          </a:prstGeom>
          <a:noFill/>
          <a:ln>
            <a:noFill/>
          </a:ln>
        </p:spPr>
        <p:txBody>
          <a:bodyPr anchorCtr="0" anchor="t" bIns="18275" lIns="45700" spcFirstLastPara="1" rIns="45700" wrap="square" tIns="18275">
            <a:spAutoFit/>
          </a:bodyPr>
          <a:lstStyle/>
          <a:p>
            <a:pPr indent="0" lvl="0" marL="0" marR="0" rtl="0" algn="ctr">
              <a:spcBef>
                <a:spcPts val="0"/>
              </a:spcBef>
              <a:spcAft>
                <a:spcPts val="0"/>
              </a:spcAft>
              <a:buNone/>
            </a:pPr>
            <a:r>
              <a:rPr b="1" i="0" lang="en-US" sz="1500">
                <a:solidFill>
                  <a:srgbClr val="174EA6"/>
                </a:solidFill>
                <a:latin typeface="Arial"/>
                <a:ea typeface="Arial"/>
                <a:cs typeface="Arial"/>
                <a:sym typeface="Arial"/>
              </a:rPr>
              <a:t>In enterprise AI, trust is not a feature. Trust is the product.</a:t>
            </a:r>
            <a:endParaRPr sz="13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9870c59a7_0_59"/>
          <p:cNvSpPr/>
          <p:nvPr/>
        </p:nvSpPr>
        <p:spPr>
          <a:xfrm>
            <a:off x="609600" y="390144"/>
            <a:ext cx="195000" cy="195000"/>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64" name="Google Shape;564;g3d9870c59a7_0_59"/>
          <p:cNvSpPr/>
          <p:nvPr/>
        </p:nvSpPr>
        <p:spPr>
          <a:xfrm>
            <a:off x="877824" y="390144"/>
            <a:ext cx="195000" cy="195000"/>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65" name="Google Shape;565;g3d9870c59a7_0_59"/>
          <p:cNvSpPr/>
          <p:nvPr/>
        </p:nvSpPr>
        <p:spPr>
          <a:xfrm>
            <a:off x="1146048" y="390144"/>
            <a:ext cx="195000" cy="195000"/>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66" name="Google Shape;566;g3d9870c59a7_0_59"/>
          <p:cNvSpPr/>
          <p:nvPr/>
        </p:nvSpPr>
        <p:spPr>
          <a:xfrm>
            <a:off x="1414272" y="390144"/>
            <a:ext cx="195000" cy="195000"/>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67" name="Google Shape;567;g3d9870c59a7_0_59"/>
          <p:cNvSpPr/>
          <p:nvPr/>
        </p:nvSpPr>
        <p:spPr>
          <a:xfrm>
            <a:off x="1865376" y="365760"/>
            <a:ext cx="9753600" cy="26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33"/>
              <a:buFont typeface="Arial"/>
              <a:buNone/>
            </a:pPr>
            <a:r>
              <a:rPr b="1" i="0" lang="en-US" sz="1333" u="none" cap="none" strike="noStrike">
                <a:solidFill>
                  <a:srgbClr val="5F6368"/>
                </a:solidFill>
                <a:latin typeface="Arial"/>
                <a:ea typeface="Arial"/>
                <a:cs typeface="Arial"/>
                <a:sym typeface="Arial"/>
              </a:rPr>
              <a:t>1</a:t>
            </a:r>
            <a:r>
              <a:rPr b="1" lang="en-US" sz="1333">
                <a:solidFill>
                  <a:srgbClr val="5F6368"/>
                </a:solidFill>
              </a:rPr>
              <a:t>2</a:t>
            </a:r>
            <a:r>
              <a:rPr b="1" i="0" lang="en-US" sz="1333" u="none" cap="none" strike="noStrike">
                <a:solidFill>
                  <a:srgbClr val="5F6368"/>
                </a:solidFill>
                <a:latin typeface="Arial"/>
                <a:ea typeface="Arial"/>
                <a:cs typeface="Arial"/>
                <a:sym typeface="Arial"/>
              </a:rPr>
              <a:t>  ·  WHAT'S NEXT  ·  ROADMAP + ASK</a:t>
            </a:r>
            <a:endParaRPr b="1" i="0" sz="1333" u="none" cap="none" strike="noStrike">
              <a:solidFill>
                <a:srgbClr val="5F6368"/>
              </a:solidFill>
              <a:latin typeface="Arial"/>
              <a:ea typeface="Arial"/>
              <a:cs typeface="Arial"/>
              <a:sym typeface="Arial"/>
            </a:endParaRPr>
          </a:p>
        </p:txBody>
      </p:sp>
      <p:sp>
        <p:nvSpPr>
          <p:cNvPr id="568" name="Google Shape;568;g3d9870c59a7_0_59"/>
          <p:cNvSpPr/>
          <p:nvPr/>
        </p:nvSpPr>
        <p:spPr>
          <a:xfrm>
            <a:off x="609600" y="792475"/>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Arial"/>
                <a:ea typeface="Arial"/>
                <a:cs typeface="Arial"/>
                <a:sym typeface="Arial"/>
              </a:rPr>
              <a:t>How we move from PoC to reusable AI Safety-as-a-</a:t>
            </a:r>
            <a:r>
              <a:rPr b="1" i="0" lang="en-US" sz="3467" u="none" cap="none" strike="noStrike">
                <a:solidFill>
                  <a:srgbClr val="202124"/>
                </a:solidFill>
                <a:latin typeface="Arial"/>
                <a:ea typeface="Arial"/>
                <a:cs typeface="Arial"/>
                <a:sym typeface="Arial"/>
              </a:rPr>
              <a:t>Service</a:t>
            </a:r>
            <a:endParaRPr b="0" i="0" sz="3467" u="none" cap="none" strike="noStrike">
              <a:solidFill>
                <a:schemeClr val="dk1"/>
              </a:solidFill>
              <a:latin typeface="Arial"/>
              <a:ea typeface="Arial"/>
              <a:cs typeface="Arial"/>
              <a:sym typeface="Arial"/>
            </a:endParaRPr>
          </a:p>
        </p:txBody>
      </p:sp>
      <p:sp>
        <p:nvSpPr>
          <p:cNvPr id="569" name="Google Shape;569;g3d9870c59a7_0_59"/>
          <p:cNvSpPr/>
          <p:nvPr/>
        </p:nvSpPr>
        <p:spPr>
          <a:xfrm>
            <a:off x="609600" y="1584960"/>
            <a:ext cx="609600" cy="6090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70" name="Google Shape;570;g3d9870c59a7_0_59"/>
          <p:cNvSpPr/>
          <p:nvPr/>
        </p:nvSpPr>
        <p:spPr>
          <a:xfrm>
            <a:off x="1219200" y="1584960"/>
            <a:ext cx="609600" cy="6090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71" name="Google Shape;571;g3d9870c59a7_0_59"/>
          <p:cNvSpPr/>
          <p:nvPr/>
        </p:nvSpPr>
        <p:spPr>
          <a:xfrm>
            <a:off x="1828800" y="1584960"/>
            <a:ext cx="609600" cy="6090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72" name="Google Shape;572;g3d9870c59a7_0_59"/>
          <p:cNvSpPr/>
          <p:nvPr/>
        </p:nvSpPr>
        <p:spPr>
          <a:xfrm>
            <a:off x="2438400" y="1584960"/>
            <a:ext cx="609600" cy="6090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73" name="Google Shape;573;g3d9870c59a7_0_59"/>
          <p:cNvSpPr/>
          <p:nvPr/>
        </p:nvSpPr>
        <p:spPr>
          <a:xfrm>
            <a:off x="609600" y="2072640"/>
            <a:ext cx="6461700" cy="12801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74" name="Google Shape;574;g3d9870c59a7_0_59"/>
          <p:cNvSpPr/>
          <p:nvPr/>
        </p:nvSpPr>
        <p:spPr>
          <a:xfrm>
            <a:off x="609600" y="2072640"/>
            <a:ext cx="6461700" cy="97500"/>
          </a:xfrm>
          <a:prstGeom prst="rect">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75" name="Google Shape;575;g3d9870c59a7_0_59"/>
          <p:cNvSpPr/>
          <p:nvPr/>
        </p:nvSpPr>
        <p:spPr>
          <a:xfrm>
            <a:off x="914400" y="2255520"/>
            <a:ext cx="60960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0–2 weeks: PoC hardening</a:t>
            </a:r>
            <a:endParaRPr b="0" i="0" sz="1867" u="none" cap="none" strike="noStrike">
              <a:solidFill>
                <a:schemeClr val="dk1"/>
              </a:solidFill>
              <a:latin typeface="Arial"/>
              <a:ea typeface="Arial"/>
              <a:cs typeface="Arial"/>
              <a:sym typeface="Arial"/>
            </a:endParaRPr>
          </a:p>
        </p:txBody>
      </p:sp>
      <p:sp>
        <p:nvSpPr>
          <p:cNvPr id="576" name="Google Shape;576;g3d9870c59a7_0_59"/>
          <p:cNvSpPr/>
          <p:nvPr/>
        </p:nvSpPr>
        <p:spPr>
          <a:xfrm>
            <a:off x="914400" y="2657856"/>
            <a:ext cx="603510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Freeze thresholds, add prompt-injection gate, package repeatable run configuration.</a:t>
            </a:r>
            <a:endParaRPr b="0" i="0" sz="1467" u="none" cap="none" strike="noStrike">
              <a:solidFill>
                <a:schemeClr val="dk1"/>
              </a:solidFill>
              <a:latin typeface="Arial"/>
              <a:ea typeface="Arial"/>
              <a:cs typeface="Arial"/>
              <a:sym typeface="Arial"/>
            </a:endParaRPr>
          </a:p>
        </p:txBody>
      </p:sp>
      <p:sp>
        <p:nvSpPr>
          <p:cNvPr id="577" name="Google Shape;577;g3d9870c59a7_0_59"/>
          <p:cNvSpPr/>
          <p:nvPr/>
        </p:nvSpPr>
        <p:spPr>
          <a:xfrm>
            <a:off x="609600" y="3474720"/>
            <a:ext cx="6461700" cy="12801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78" name="Google Shape;578;g3d9870c59a7_0_59"/>
          <p:cNvSpPr/>
          <p:nvPr/>
        </p:nvSpPr>
        <p:spPr>
          <a:xfrm>
            <a:off x="609600" y="3474720"/>
            <a:ext cx="6461700" cy="97500"/>
          </a:xfrm>
          <a:prstGeom prst="rect">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79" name="Google Shape;579;g3d9870c59a7_0_59"/>
          <p:cNvSpPr/>
          <p:nvPr/>
        </p:nvSpPr>
        <p:spPr>
          <a:xfrm>
            <a:off x="914400" y="3657600"/>
            <a:ext cx="60960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4–6 weeks: CI/CD integration</a:t>
            </a:r>
            <a:endParaRPr b="0" i="0" sz="1867" u="none" cap="none" strike="noStrike">
              <a:solidFill>
                <a:schemeClr val="dk1"/>
              </a:solidFill>
              <a:latin typeface="Arial"/>
              <a:ea typeface="Arial"/>
              <a:cs typeface="Arial"/>
              <a:sym typeface="Arial"/>
            </a:endParaRPr>
          </a:p>
        </p:txBody>
      </p:sp>
      <p:sp>
        <p:nvSpPr>
          <p:cNvPr id="580" name="Google Shape;580;g3d9870c59a7_0_59"/>
          <p:cNvSpPr/>
          <p:nvPr/>
        </p:nvSpPr>
        <p:spPr>
          <a:xfrm>
            <a:off x="914400" y="4059936"/>
            <a:ext cx="603510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Trigger guardrail runs from Cloud Build/GitHub actions; store audit evidence in BigQuery.</a:t>
            </a:r>
            <a:endParaRPr b="0" i="0" sz="1467" u="none" cap="none" strike="noStrike">
              <a:solidFill>
                <a:schemeClr val="dk1"/>
              </a:solidFill>
              <a:latin typeface="Arial"/>
              <a:ea typeface="Arial"/>
              <a:cs typeface="Arial"/>
              <a:sym typeface="Arial"/>
            </a:endParaRPr>
          </a:p>
        </p:txBody>
      </p:sp>
      <p:sp>
        <p:nvSpPr>
          <p:cNvPr id="581" name="Google Shape;581;g3d9870c59a7_0_59"/>
          <p:cNvSpPr/>
          <p:nvPr/>
        </p:nvSpPr>
        <p:spPr>
          <a:xfrm>
            <a:off x="609600" y="4876800"/>
            <a:ext cx="6461700" cy="12801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82" name="Google Shape;582;g3d9870c59a7_0_59"/>
          <p:cNvSpPr/>
          <p:nvPr/>
        </p:nvSpPr>
        <p:spPr>
          <a:xfrm>
            <a:off x="609600" y="4876800"/>
            <a:ext cx="6461700" cy="97500"/>
          </a:xfrm>
          <a:prstGeom prst="rect">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83" name="Google Shape;583;g3d9870c59a7_0_59"/>
          <p:cNvSpPr/>
          <p:nvPr/>
        </p:nvSpPr>
        <p:spPr>
          <a:xfrm>
            <a:off x="914400" y="5059680"/>
            <a:ext cx="60960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8–12 weeks: platform scale</a:t>
            </a:r>
            <a:endParaRPr b="0" i="0" sz="1867" u="none" cap="none" strike="noStrike">
              <a:solidFill>
                <a:schemeClr val="dk1"/>
              </a:solidFill>
              <a:latin typeface="Arial"/>
              <a:ea typeface="Arial"/>
              <a:cs typeface="Arial"/>
              <a:sym typeface="Arial"/>
            </a:endParaRPr>
          </a:p>
        </p:txBody>
      </p:sp>
      <p:sp>
        <p:nvSpPr>
          <p:cNvPr id="584" name="Google Shape;584;g3d9870c59a7_0_59"/>
          <p:cNvSpPr/>
          <p:nvPr/>
        </p:nvSpPr>
        <p:spPr>
          <a:xfrm>
            <a:off x="914400" y="5462016"/>
            <a:ext cx="603510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Multi-model evaluation, scheduled regression checks, centralized dashboard, reusable gate packs.</a:t>
            </a:r>
            <a:endParaRPr b="0" i="0" sz="1467" u="none" cap="none" strike="noStrike">
              <a:solidFill>
                <a:schemeClr val="dk1"/>
              </a:solidFill>
              <a:latin typeface="Arial"/>
              <a:ea typeface="Arial"/>
              <a:cs typeface="Arial"/>
              <a:sym typeface="Arial"/>
            </a:endParaRPr>
          </a:p>
        </p:txBody>
      </p:sp>
      <p:sp>
        <p:nvSpPr>
          <p:cNvPr id="585" name="Google Shape;585;g3d9870c59a7_0_59"/>
          <p:cNvSpPr/>
          <p:nvPr/>
        </p:nvSpPr>
        <p:spPr>
          <a:xfrm>
            <a:off x="7315200" y="2072640"/>
            <a:ext cx="4267200" cy="4267200"/>
          </a:xfrm>
          <a:prstGeom prst="rect">
            <a:avLst/>
          </a:prstGeom>
          <a:solidFill>
            <a:srgbClr val="FFFFFF"/>
          </a:solidFill>
          <a:ln cap="flat" cmpd="sng" w="9525">
            <a:solidFill>
              <a:srgbClr val="DADCE0"/>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86" name="Google Shape;586;g3d9870c59a7_0_59"/>
          <p:cNvSpPr/>
          <p:nvPr/>
        </p:nvSpPr>
        <p:spPr>
          <a:xfrm>
            <a:off x="7315200" y="2072640"/>
            <a:ext cx="4267200" cy="97500"/>
          </a:xfrm>
          <a:prstGeom prst="rect">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87" name="Google Shape;587;g3d9870c59a7_0_59"/>
          <p:cNvSpPr/>
          <p:nvPr/>
        </p:nvSpPr>
        <p:spPr>
          <a:xfrm>
            <a:off x="7559040" y="2292096"/>
            <a:ext cx="37794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Arial"/>
                <a:ea typeface="Arial"/>
                <a:cs typeface="Arial"/>
                <a:sym typeface="Arial"/>
              </a:rPr>
              <a:t>OUR ASK FROM GOOGLE</a:t>
            </a:r>
            <a:endParaRPr b="0" i="0" sz="1333" u="none" cap="none" strike="noStrike">
              <a:solidFill>
                <a:schemeClr val="dk1"/>
              </a:solidFill>
              <a:latin typeface="Arial"/>
              <a:ea typeface="Arial"/>
              <a:cs typeface="Arial"/>
              <a:sym typeface="Arial"/>
            </a:endParaRPr>
          </a:p>
        </p:txBody>
      </p:sp>
      <p:sp>
        <p:nvSpPr>
          <p:cNvPr id="588" name="Google Shape;588;g3d9870c59a7_0_59"/>
          <p:cNvSpPr/>
          <p:nvPr/>
        </p:nvSpPr>
        <p:spPr>
          <a:xfrm>
            <a:off x="7559040" y="2621280"/>
            <a:ext cx="3779400" cy="426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Where Google support accelerates scale</a:t>
            </a:r>
            <a:endParaRPr b="0" i="0" sz="1733" u="none" cap="none" strike="noStrike">
              <a:solidFill>
                <a:schemeClr val="dk1"/>
              </a:solidFill>
              <a:latin typeface="Arial"/>
              <a:ea typeface="Arial"/>
              <a:cs typeface="Arial"/>
              <a:sym typeface="Arial"/>
            </a:endParaRPr>
          </a:p>
        </p:txBody>
      </p:sp>
      <p:sp>
        <p:nvSpPr>
          <p:cNvPr id="589" name="Google Shape;589;g3d9870c59a7_0_59"/>
          <p:cNvSpPr/>
          <p:nvPr/>
        </p:nvSpPr>
        <p:spPr>
          <a:xfrm>
            <a:off x="7559040" y="3108960"/>
            <a:ext cx="3779400" cy="310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 Review ADK + Vertex evaluation architecture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667"/>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 Guidance on Responsible AI evaluation patterns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 Co-sell / Marketplace path for enterprise governance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 Feedback on extending gates to Gemini Enterprise apps</a:t>
            </a:r>
            <a:endParaRPr b="0" i="0" sz="1400" u="none" cap="none" strike="noStrike">
              <a:solidFill>
                <a:srgbClr val="000000"/>
              </a:solidFill>
              <a:latin typeface="Arial"/>
              <a:ea typeface="Arial"/>
              <a:cs typeface="Arial"/>
              <a:sym typeface="Arial"/>
            </a:endParaRPr>
          </a:p>
        </p:txBody>
      </p:sp>
      <p:cxnSp>
        <p:nvCxnSpPr>
          <p:cNvPr id="590" name="Google Shape;590;g3d9870c59a7_0_59"/>
          <p:cNvCxnSpPr/>
          <p:nvPr/>
        </p:nvCxnSpPr>
        <p:spPr>
          <a:xfrm>
            <a:off x="609600" y="6400800"/>
            <a:ext cx="10972800" cy="0"/>
          </a:xfrm>
          <a:prstGeom prst="straightConnector1">
            <a:avLst/>
          </a:prstGeom>
          <a:noFill/>
          <a:ln cap="flat" cmpd="sng" w="9525">
            <a:solidFill>
              <a:srgbClr val="DADCE0"/>
            </a:solidFill>
            <a:prstDash val="solid"/>
            <a:round/>
            <a:headEnd len="sm" w="sm" type="none"/>
            <a:tailEnd len="sm" w="sm" type="none"/>
          </a:ln>
        </p:spPr>
      </p:cxnSp>
      <p:sp>
        <p:nvSpPr>
          <p:cNvPr id="591" name="Google Shape;591;g3d9870c59a7_0_59"/>
          <p:cNvSpPr/>
          <p:nvPr/>
        </p:nvSpPr>
        <p:spPr>
          <a:xfrm>
            <a:off x="609600" y="6461760"/>
            <a:ext cx="6096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a:t>
            </a:r>
            <a:endParaRPr b="0" i="0" sz="1200" u="none" cap="none" strike="noStrike">
              <a:solidFill>
                <a:schemeClr val="dk1"/>
              </a:solidFill>
              <a:latin typeface="Arial"/>
              <a:ea typeface="Arial"/>
              <a:cs typeface="Arial"/>
              <a:sym typeface="Arial"/>
            </a:endParaRPr>
          </a:p>
        </p:txBody>
      </p:sp>
      <p:sp>
        <p:nvSpPr>
          <p:cNvPr id="592" name="Google Shape;592;g3d9870c59a7_0_59"/>
          <p:cNvSpPr/>
          <p:nvPr/>
        </p:nvSpPr>
        <p:spPr>
          <a:xfrm>
            <a:off x="6705600" y="6461760"/>
            <a:ext cx="4876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1</a:t>
            </a:r>
            <a:r>
              <a:rPr lang="en-US" sz="1200">
                <a:solidFill>
                  <a:srgbClr val="5F6368"/>
                </a:solidFill>
                <a:latin typeface="Calibri"/>
                <a:ea typeface="Calibri"/>
                <a:cs typeface="Calibri"/>
                <a:sym typeface="Calibri"/>
              </a:rPr>
              <a:t>4</a:t>
            </a:r>
            <a:r>
              <a:rPr b="0" i="0" lang="en-US" sz="1200" u="none" cap="none" strike="noStrike">
                <a:solidFill>
                  <a:schemeClr val="dk1"/>
                </a:solidFill>
                <a:latin typeface="Arial"/>
                <a:ea typeface="Arial"/>
                <a:cs typeface="Arial"/>
                <a:sym typeface="Arial"/>
              </a:rPr>
              <a:t> </a:t>
            </a:r>
            <a:r>
              <a:rPr b="0" i="0" lang="en-US" sz="1200" u="none" cap="none" strike="noStrike">
                <a:solidFill>
                  <a:srgbClr val="5F6368"/>
                </a:solidFill>
                <a:latin typeface="Calibri"/>
                <a:ea typeface="Calibri"/>
                <a:cs typeface="Calibri"/>
                <a:sym typeface="Calibri"/>
              </a:rPr>
              <a:t>/</a:t>
            </a:r>
            <a:r>
              <a:rPr b="0" i="0" lang="en-US" sz="1200" u="none" cap="none" strike="noStrike">
                <a:solidFill>
                  <a:schemeClr val="dk1"/>
                </a:solidFill>
                <a:latin typeface="Arial"/>
                <a:ea typeface="Arial"/>
                <a:cs typeface="Arial"/>
                <a:sym typeface="Arial"/>
              </a:rPr>
              <a:t> </a:t>
            </a:r>
            <a:r>
              <a:rPr b="0" i="0" lang="en-US" sz="1200" u="none" cap="none" strike="noStrike">
                <a:solidFill>
                  <a:srgbClr val="5F6368"/>
                </a:solidFill>
                <a:latin typeface="Calibri"/>
                <a:ea typeface="Calibri"/>
                <a:cs typeface="Calibri"/>
                <a:sym typeface="Calibri"/>
              </a:rPr>
              <a:t>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sp>
        <p:nvSpPr>
          <p:cNvPr id="593" name="Google Shape;593;g3d9870c59a7_0_59"/>
          <p:cNvSpPr/>
          <p:nvPr/>
        </p:nvSpPr>
        <p:spPr>
          <a:xfrm>
            <a:off x="609600" y="6035050"/>
            <a:ext cx="10972800" cy="365700"/>
          </a:xfrm>
          <a:prstGeom prst="roundRect">
            <a:avLst>
              <a:gd fmla="val 16667" name="adj"/>
            </a:avLst>
          </a:prstGeom>
          <a:solidFill>
            <a:srgbClr val="E8F5E9"/>
          </a:solidFill>
          <a:ln cap="flat" cmpd="sng" w="13950">
            <a:solidFill>
              <a:srgbClr val="34A85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594" name="Google Shape;594;g3d9870c59a7_0_59"/>
          <p:cNvSpPr txBox="1"/>
          <p:nvPr/>
        </p:nvSpPr>
        <p:spPr>
          <a:xfrm>
            <a:off x="929700" y="6102273"/>
            <a:ext cx="10332600" cy="267900"/>
          </a:xfrm>
          <a:prstGeom prst="rect">
            <a:avLst/>
          </a:prstGeom>
          <a:noFill/>
          <a:ln>
            <a:noFill/>
          </a:ln>
        </p:spPr>
        <p:txBody>
          <a:bodyPr anchorCtr="0" anchor="t" bIns="18275" lIns="45700" spcFirstLastPara="1" rIns="45700" wrap="square" tIns="18275">
            <a:spAutoFit/>
          </a:bodyPr>
          <a:lstStyle/>
          <a:p>
            <a:pPr indent="0" lvl="0" marL="0" marR="0" rtl="0" algn="ctr">
              <a:spcBef>
                <a:spcPts val="0"/>
              </a:spcBef>
              <a:spcAft>
                <a:spcPts val="0"/>
              </a:spcAft>
              <a:buNone/>
            </a:pPr>
            <a:r>
              <a:rPr b="1" i="0" lang="en-US" sz="1500">
                <a:solidFill>
                  <a:srgbClr val="188038"/>
                </a:solidFill>
                <a:latin typeface="Arial"/>
                <a:ea typeface="Arial"/>
                <a:cs typeface="Arial"/>
                <a:sym typeface="Arial"/>
              </a:rPr>
              <a:t>Goal: make Guardrail Factory the pre-production safety gate for regulated GenAI releases.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3"/>
          <p:cNvSpPr/>
          <p:nvPr/>
        </p:nvSpPr>
        <p:spPr>
          <a:xfrm>
            <a:off x="731520" y="731520"/>
            <a:ext cx="268224" cy="268224"/>
          </a:xfrm>
          <a:prstGeom prst="ellipse">
            <a:avLst/>
          </a:prstGeom>
          <a:solidFill>
            <a:srgbClr val="4285F4"/>
          </a:solidFill>
          <a:ln cap="flat" cmpd="sng" w="12700">
            <a:solidFill>
              <a:srgbClr val="428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01" name="Google Shape;601;p13"/>
          <p:cNvSpPr/>
          <p:nvPr/>
        </p:nvSpPr>
        <p:spPr>
          <a:xfrm>
            <a:off x="1097280" y="731520"/>
            <a:ext cx="268224" cy="268224"/>
          </a:xfrm>
          <a:prstGeom prst="ellipse">
            <a:avLst/>
          </a:prstGeom>
          <a:solidFill>
            <a:srgbClr val="EA4335"/>
          </a:solidFill>
          <a:ln cap="flat" cmpd="sng" w="12700">
            <a:solidFill>
              <a:srgbClr val="EA43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02" name="Google Shape;602;p13"/>
          <p:cNvSpPr/>
          <p:nvPr/>
        </p:nvSpPr>
        <p:spPr>
          <a:xfrm>
            <a:off x="1463040" y="731520"/>
            <a:ext cx="268224" cy="268224"/>
          </a:xfrm>
          <a:prstGeom prst="ellipse">
            <a:avLst/>
          </a:prstGeom>
          <a:solidFill>
            <a:srgbClr val="FBBC04"/>
          </a:solidFill>
          <a:ln cap="flat" cmpd="sng" w="12700">
            <a:solidFill>
              <a:srgbClr val="FBBC0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03" name="Google Shape;603;p13"/>
          <p:cNvSpPr/>
          <p:nvPr/>
        </p:nvSpPr>
        <p:spPr>
          <a:xfrm>
            <a:off x="1828800" y="731520"/>
            <a:ext cx="268224" cy="268224"/>
          </a:xfrm>
          <a:prstGeom prst="ellipse">
            <a:avLst/>
          </a:prstGeom>
          <a:solidFill>
            <a:srgbClr val="34A853"/>
          </a:solidFill>
          <a:ln cap="flat" cmpd="sng" w="12700">
            <a:solidFill>
              <a:srgbClr val="34A85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04" name="Google Shape;604;p13"/>
          <p:cNvSpPr/>
          <p:nvPr/>
        </p:nvSpPr>
        <p:spPr>
          <a:xfrm>
            <a:off x="731520" y="1828800"/>
            <a:ext cx="10972800" cy="1584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600"/>
              <a:buFont typeface="Arial"/>
              <a:buNone/>
            </a:pPr>
            <a:r>
              <a:rPr b="1" i="0" lang="en-US" sz="9600" u="none" cap="none" strike="noStrike">
                <a:solidFill>
                  <a:srgbClr val="FFFFFF"/>
                </a:solidFill>
                <a:latin typeface="Arial"/>
                <a:ea typeface="Arial"/>
                <a:cs typeface="Arial"/>
                <a:sym typeface="Arial"/>
              </a:rPr>
              <a:t>Thank you.</a:t>
            </a:r>
            <a:endParaRPr b="0" i="0" sz="9600" u="none" cap="none" strike="noStrike">
              <a:solidFill>
                <a:schemeClr val="dk1"/>
              </a:solidFill>
              <a:latin typeface="Arial"/>
              <a:ea typeface="Arial"/>
              <a:cs typeface="Arial"/>
              <a:sym typeface="Arial"/>
            </a:endParaRPr>
          </a:p>
        </p:txBody>
      </p:sp>
      <p:sp>
        <p:nvSpPr>
          <p:cNvPr id="605" name="Google Shape;605;p13"/>
          <p:cNvSpPr/>
          <p:nvPr/>
        </p:nvSpPr>
        <p:spPr>
          <a:xfrm>
            <a:off x="731520" y="3352800"/>
            <a:ext cx="109728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67"/>
              <a:buFont typeface="Arial"/>
              <a:buNone/>
            </a:pPr>
            <a:r>
              <a:rPr b="0" i="1" lang="en-US" sz="2667" u="none" cap="none" strike="noStrike">
                <a:solidFill>
                  <a:srgbClr val="757575"/>
                </a:solidFill>
                <a:latin typeface="Calibri"/>
                <a:ea typeface="Calibri"/>
                <a:cs typeface="Calibri"/>
                <a:sym typeface="Calibri"/>
              </a:rPr>
              <a:t>Questions &amp; discussion</a:t>
            </a:r>
            <a:endParaRPr b="0" i="0" sz="2667" u="none" cap="none" strike="noStrike">
              <a:solidFill>
                <a:srgbClr val="757575"/>
              </a:solidFill>
              <a:latin typeface="Arial"/>
              <a:ea typeface="Arial"/>
              <a:cs typeface="Arial"/>
              <a:sym typeface="Arial"/>
            </a:endParaRPr>
          </a:p>
        </p:txBody>
      </p:sp>
      <p:cxnSp>
        <p:nvCxnSpPr>
          <p:cNvPr id="606" name="Google Shape;606;p13"/>
          <p:cNvCxnSpPr/>
          <p:nvPr/>
        </p:nvCxnSpPr>
        <p:spPr>
          <a:xfrm>
            <a:off x="731520" y="4511040"/>
            <a:ext cx="10972800" cy="0"/>
          </a:xfrm>
          <a:prstGeom prst="straightConnector1">
            <a:avLst/>
          </a:prstGeom>
          <a:noFill/>
          <a:ln cap="flat" cmpd="sng" w="9525">
            <a:solidFill>
              <a:srgbClr val="5F6368"/>
            </a:solidFill>
            <a:prstDash val="solid"/>
            <a:round/>
            <a:headEnd len="sm" w="sm" type="none"/>
            <a:tailEnd len="sm" w="sm" type="none"/>
          </a:ln>
        </p:spPr>
      </p:cxnSp>
      <p:sp>
        <p:nvSpPr>
          <p:cNvPr id="607" name="Google Shape;607;p13"/>
          <p:cNvSpPr/>
          <p:nvPr/>
        </p:nvSpPr>
        <p:spPr>
          <a:xfrm>
            <a:off x="731520" y="4693920"/>
            <a:ext cx="10972800" cy="1402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733"/>
              <a:buFont typeface="Arial"/>
              <a:buNone/>
            </a:pPr>
            <a:r>
              <a:rPr b="1" i="0" lang="en-US" sz="1733" u="none" cap="none" strike="noStrike">
                <a:solidFill>
                  <a:srgbClr val="999999"/>
                </a:solidFill>
                <a:latin typeface="Calibri"/>
                <a:ea typeface="Calibri"/>
                <a:cs typeface="Calibri"/>
                <a:sym typeface="Calibri"/>
              </a:rPr>
              <a:t>Team: </a:t>
            </a:r>
            <a:r>
              <a:rPr b="0" i="0" lang="en-US" sz="1733" u="none" cap="none" strike="noStrike">
                <a:solidFill>
                  <a:srgbClr val="999999"/>
                </a:solidFill>
                <a:latin typeface="Calibri"/>
                <a:ea typeface="Calibri"/>
                <a:cs typeface="Calibri"/>
                <a:sym typeface="Calibri"/>
              </a:rPr>
              <a:t>GenAI Guardrail Factory</a:t>
            </a:r>
            <a:endParaRPr b="0" i="0" sz="1733" u="none" cap="none" strike="noStrike">
              <a:solidFill>
                <a:srgbClr val="999999"/>
              </a:solidFill>
              <a:latin typeface="Arial"/>
              <a:ea typeface="Arial"/>
              <a:cs typeface="Arial"/>
              <a:sym typeface="Arial"/>
            </a:endParaRPr>
          </a:p>
          <a:p>
            <a:pPr indent="0" lvl="0" marL="0" marR="0" rtl="0" algn="l">
              <a:lnSpc>
                <a:spcPct val="100000"/>
              </a:lnSpc>
              <a:spcBef>
                <a:spcPts val="267"/>
              </a:spcBef>
              <a:spcAft>
                <a:spcPts val="0"/>
              </a:spcAft>
              <a:buClr>
                <a:srgbClr val="000000"/>
              </a:buClr>
              <a:buSzPts val="1733"/>
              <a:buFont typeface="Arial"/>
              <a:buNone/>
            </a:pPr>
            <a:r>
              <a:rPr b="1" i="0" lang="en-US" sz="1733" u="none" cap="none" strike="noStrike">
                <a:solidFill>
                  <a:srgbClr val="999999"/>
                </a:solidFill>
                <a:latin typeface="Calibri"/>
                <a:ea typeface="Calibri"/>
                <a:cs typeface="Calibri"/>
                <a:sym typeface="Calibri"/>
              </a:rPr>
              <a:t>Contact: </a:t>
            </a:r>
            <a:r>
              <a:rPr b="0" i="0" lang="en-US" sz="1733" u="none" cap="none" strike="noStrike">
                <a:solidFill>
                  <a:srgbClr val="999999"/>
                </a:solidFill>
                <a:latin typeface="Calibri"/>
                <a:ea typeface="Calibri"/>
                <a:cs typeface="Calibri"/>
                <a:sym typeface="Calibri"/>
              </a:rPr>
              <a:t>Sana Iqbal (sana.iqbal2@tcs.com)</a:t>
            </a:r>
            <a:endParaRPr b="0" i="0" sz="1733" u="none" cap="none" strike="noStrike">
              <a:solidFill>
                <a:srgbClr val="999999"/>
              </a:solidFill>
              <a:latin typeface="Arial"/>
              <a:ea typeface="Arial"/>
              <a:cs typeface="Arial"/>
              <a:sym typeface="Arial"/>
            </a:endParaRPr>
          </a:p>
          <a:p>
            <a:pPr indent="0" lvl="0" marL="0" marR="0" rtl="0" algn="l">
              <a:lnSpc>
                <a:spcPct val="100000"/>
              </a:lnSpc>
              <a:spcBef>
                <a:spcPts val="267"/>
              </a:spcBef>
              <a:spcAft>
                <a:spcPts val="0"/>
              </a:spcAft>
              <a:buClr>
                <a:srgbClr val="000000"/>
              </a:buClr>
              <a:buSzPts val="1733"/>
              <a:buFont typeface="Arial"/>
              <a:buNone/>
            </a:pPr>
            <a:r>
              <a:rPr b="1" i="0" lang="en-US" sz="1733" u="none" cap="none" strike="noStrike">
                <a:solidFill>
                  <a:srgbClr val="999999"/>
                </a:solidFill>
                <a:latin typeface="Calibri"/>
                <a:ea typeface="Calibri"/>
                <a:cs typeface="Calibri"/>
                <a:sym typeface="Calibri"/>
              </a:rPr>
              <a:t>Track: </a:t>
            </a:r>
            <a:r>
              <a:rPr b="0" i="0" lang="en-US" sz="1733" u="none" cap="none" strike="noStrike">
                <a:solidFill>
                  <a:srgbClr val="999999"/>
                </a:solidFill>
                <a:latin typeface="Calibri"/>
                <a:ea typeface="Calibri"/>
                <a:cs typeface="Calibri"/>
                <a:sym typeface="Calibri"/>
              </a:rPr>
              <a:t>Build with Vertex AI (Google ADK)</a:t>
            </a:r>
            <a:endParaRPr b="0" i="0" sz="1733" u="none" cap="none" strike="noStrike">
              <a:solidFill>
                <a:srgbClr val="999999"/>
              </a:solidFill>
              <a:latin typeface="Arial"/>
              <a:ea typeface="Arial"/>
              <a:cs typeface="Arial"/>
              <a:sym typeface="Arial"/>
            </a:endParaRPr>
          </a:p>
        </p:txBody>
      </p:sp>
      <p:sp>
        <p:nvSpPr>
          <p:cNvPr id="608" name="Google Shape;608;p13"/>
          <p:cNvSpPr/>
          <p:nvPr/>
        </p:nvSpPr>
        <p:spPr>
          <a:xfrm>
            <a:off x="731520" y="6461760"/>
            <a:ext cx="10972800" cy="3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5F6368"/>
                </a:solidFill>
                <a:latin typeface="Calibri"/>
                <a:ea typeface="Calibri"/>
                <a:cs typeface="Calibri"/>
                <a:sym typeface="Calibri"/>
              </a:rPr>
              <a:t>tcs^AI  Google Hackathon 2026  ·  1</a:t>
            </a:r>
            <a:r>
              <a:rPr lang="en-US" sz="1200">
                <a:solidFill>
                  <a:srgbClr val="5F6368"/>
                </a:solidFill>
                <a:latin typeface="Calibri"/>
                <a:ea typeface="Calibri"/>
                <a:cs typeface="Calibri"/>
                <a:sym typeface="Calibri"/>
              </a:rPr>
              <a:t>5</a:t>
            </a:r>
            <a:r>
              <a:rPr b="0" i="0" lang="en-US" sz="1200" u="none" cap="none" strike="noStrike">
                <a:solidFill>
                  <a:srgbClr val="5F6368"/>
                </a:solidFill>
                <a:latin typeface="Calibri"/>
                <a:ea typeface="Calibri"/>
                <a:cs typeface="Calibri"/>
                <a:sym typeface="Calibri"/>
              </a:rPr>
              <a:t> / 1</a:t>
            </a:r>
            <a:r>
              <a:rPr lang="en-US" sz="1200">
                <a:solidFill>
                  <a:srgbClr val="5F6368"/>
                </a:solidFill>
                <a:latin typeface="Calibri"/>
                <a:ea typeface="Calibri"/>
                <a:cs typeface="Calibri"/>
                <a:sym typeface="Calibri"/>
              </a:rPr>
              <a:t>5</a:t>
            </a:r>
            <a:endParaRPr b="0" i="0" sz="1200" u="none" cap="none" strike="noStrike">
              <a:solidFill>
                <a:schemeClr val="dk1"/>
              </a:solidFill>
              <a:latin typeface="Arial"/>
              <a:ea typeface="Arial"/>
              <a:cs typeface="Arial"/>
              <a:sym typeface="Arial"/>
            </a:endParaRPr>
          </a:p>
        </p:txBody>
      </p:sp>
      <p:sp>
        <p:nvSpPr>
          <p:cNvPr id="609" name="Google Shape;609;p13"/>
          <p:cNvSpPr/>
          <p:nvPr/>
        </p:nvSpPr>
        <p:spPr>
          <a:xfrm>
            <a:off x="2781300" y="2034947"/>
            <a:ext cx="6629400" cy="769200"/>
          </a:xfrm>
          <a:prstGeom prst="roundRect">
            <a:avLst>
              <a:gd fmla="val 8696" name="adj"/>
            </a:avLst>
          </a:prstGeom>
          <a:solidFill>
            <a:srgbClr val="F8FAFF"/>
          </a:solidFill>
          <a:ln cap="flat" cmpd="sng" w="12700">
            <a:solidFill>
              <a:srgbClr val="D9E8FF"/>
            </a:solidFill>
            <a:prstDash val="solid"/>
            <a:round/>
            <a:headEnd len="sm" w="sm" type="none"/>
            <a:tailEnd len="sm" w="sm" type="none"/>
          </a:ln>
          <a:effectLst>
            <a:outerShdw blurRad="12700" rotWithShape="0" algn="bl" dir="2700000" dist="50800">
              <a:srgbClr val="000000">
                <a:alpha val="12160"/>
              </a:srgbClr>
            </a:outerShdw>
          </a:effectLst>
        </p:spPr>
        <p:txBody>
          <a:bodyPr anchorCtr="0" anchor="t" bIns="45700" lIns="91425" spcFirstLastPara="1" rIns="91425" wrap="square" tIns="45700">
            <a:noAutofit/>
          </a:bodyPr>
          <a:lstStyle/>
          <a:p>
            <a:pPr indent="0" lvl="0" marL="0" rtl="0" algn="ctr">
              <a:spcBef>
                <a:spcPts val="0"/>
              </a:spcBef>
              <a:spcAft>
                <a:spcPts val="0"/>
              </a:spcAft>
              <a:buSzPts val="1600"/>
              <a:buNone/>
            </a:pPr>
            <a:r>
              <a:rPr b="1" lang="en-US" sz="1600">
                <a:solidFill>
                  <a:srgbClr val="0B1F3A"/>
                </a:solidFill>
              </a:rPr>
              <a:t>Good GenAI demos show capability. Guardrail Factory proves deployability.</a:t>
            </a:r>
            <a:endParaRPr b="1" sz="1800">
              <a:solidFill>
                <a:srgbClr val="0B1F3A"/>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2026-04-22T13:02:16Z</dcterms:created>
  <dc:creator>Rajkumar Samuel Jebasingh</dc:creator>
</cp:coreProperties>
</file>